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1" r:id="rId1"/>
  </p:sldMasterIdLst>
  <p:notesMasterIdLst>
    <p:notesMasterId r:id="rId6"/>
  </p:notesMasterIdLst>
  <p:sldIdLst>
    <p:sldId id="11328" r:id="rId2"/>
    <p:sldId id="274" r:id="rId3"/>
    <p:sldId id="11332" r:id="rId4"/>
    <p:sldId id="11327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亭宇 陸" initials="亭宇" lastIdx="10" clrIdx="0">
    <p:extLst>
      <p:ext uri="{19B8F6BF-5375-455C-9EA6-DF929625EA0E}">
        <p15:presenceInfo xmlns:p15="http://schemas.microsoft.com/office/powerpoint/2012/main" userId="S::claire.lu@LBTWIF015.onmicrosoft.com::86caf62b-4868-47d2-8bf9-21e4fd8d4aab" providerId="AD"/>
      </p:ext>
    </p:extLst>
  </p:cmAuthor>
  <p:cmAuthor id="2" name="Harvey Tseng 曾皇瑜" initials="HT曾" lastIdx="2" clrIdx="1">
    <p:extLst>
      <p:ext uri="{19B8F6BF-5375-455C-9EA6-DF929625EA0E}">
        <p15:presenceInfo xmlns:p15="http://schemas.microsoft.com/office/powerpoint/2012/main" userId="S-1-5-21-1802929290-1933951649-3061855229-373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2F0D9"/>
    <a:srgbClr val="E6D7F7"/>
    <a:srgbClr val="9BC2E6"/>
    <a:srgbClr val="FCE4D6"/>
    <a:srgbClr val="0000FF"/>
    <a:srgbClr val="BDD7EE"/>
    <a:srgbClr val="D9D9D9"/>
    <a:srgbClr val="F2F2F2"/>
    <a:srgbClr val="F7FDFF"/>
    <a:srgbClr val="DDEBF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107" autoAdjust="0"/>
    <p:restoredTop sz="93784" autoAdjust="0"/>
  </p:normalViewPr>
  <p:slideViewPr>
    <p:cSldViewPr snapToGrid="0">
      <p:cViewPr varScale="1">
        <p:scale>
          <a:sx n="83" d="100"/>
          <a:sy n="83" d="100"/>
        </p:scale>
        <p:origin x="64" y="6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commentAuthors" Target="commentAuthor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D74756-6ED6-47AC-A52B-64707E905C94}" type="datetimeFigureOut">
              <a:rPr lang="zh-TW" altLang="en-US" smtClean="0"/>
              <a:t>2026/6/17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D0E9F1-0C41-4AD2-823E-493C58030C03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718482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D0E9F1-0C41-4AD2-823E-493C58030C03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1732763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0FED3A-5F0C-77C3-FA19-2E31CFB95D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99C4A54-085C-647E-2E4F-CCD7F0B1AF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976BC6D-4846-FC6A-A4D3-1EEAD6A36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DE835C-5E5B-4417-99E9-1564B9D684CC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7338C8B-80F2-7A1C-AA1D-ED6683276C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A24348B-82F6-CEE0-E9AF-77EB41B04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56138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42CFFDB-776E-E991-6CAA-82DD0F2C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7507" y="18255"/>
            <a:ext cx="10515600" cy="855049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4BF7A0-411F-576C-46C5-2C9098354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C85523-762A-8B84-3062-CAF645A2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44CC46-72AD-4D10-9E6D-0AAA2FC30EBD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567F8D-2E18-F176-4A7A-DD57DC9C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262C35-64B8-0AE3-1B25-84481D56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272FA54-1B24-C9E2-689C-AE2CD71B80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A713AAA7-FB99-C482-300B-6C7A7B761609}"/>
              </a:ext>
            </a:extLst>
          </p:cNvPr>
          <p:cNvSpPr/>
          <p:nvPr userDrawn="1"/>
        </p:nvSpPr>
        <p:spPr>
          <a:xfrm>
            <a:off x="165242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799510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A3E691DB-2D44-4F91-61ED-5BAA0CB68EFB}"/>
              </a:ext>
            </a:extLst>
          </p:cNvPr>
          <p:cNvSpPr/>
          <p:nvPr userDrawn="1"/>
        </p:nvSpPr>
        <p:spPr>
          <a:xfrm>
            <a:off x="-82193" y="177622"/>
            <a:ext cx="8147405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042CFFDB-776E-E991-6CAA-82DD0F2CB4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686" y="236973"/>
            <a:ext cx="7576334" cy="772855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04BF7A0-411F-576C-46C5-2C9098354D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C85523-762A-8B84-3062-CAF645A23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C50E66-0596-478A-8608-3B44246E59DB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D567F8D-2E18-F176-4A7A-DD57DC9C3B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262C35-64B8-0AE3-1B25-84481D56D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1272FA54-1B24-C9E2-689C-AE2CD71B806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679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154109-0407-C4EA-482D-4EADB1301F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3004C48-0DBA-AF06-F1C0-501F68EA00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E09A9A8-0A04-3BD2-A7DC-A4424FA74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01CFDE-8DEE-4AD9-AD01-6B26E349E41F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A2F6771-94DB-12DA-D10B-E5933B34A7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40C91B6-55B3-C91A-329C-67C0D2346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D9B0239D-6BEE-4305-5D2F-96250EE30A5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59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AA7899-99FA-FDE0-9DE4-237CD9691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982" y="-10274"/>
            <a:ext cx="10515600" cy="914401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FB5EE1-1444-89D8-CE6D-C7069DD1E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8173D-5515-C54B-F7BF-6BCD0A94B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5B416C-9E41-C7C3-39A2-9CD058FA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297189-0371-45B4-8B74-674B17DE2F80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B34C6E-BCFD-82FA-C3FB-DB8B593D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CE9E04-5FD8-37DC-619B-12752F1B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745DC17-B41A-FC11-EB50-A0EDD0B144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FD7562FF-5112-BCC5-AC53-B4ED5D027217}"/>
              </a:ext>
            </a:extLst>
          </p:cNvPr>
          <p:cNvSpPr/>
          <p:nvPr userDrawn="1"/>
        </p:nvSpPr>
        <p:spPr>
          <a:xfrm>
            <a:off x="165242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591725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DFB5EE1-1444-89D8-CE6D-C7069DD1E3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9B8173D-5515-C54B-F7BF-6BCD0A94B4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5B416C-9E41-C7C3-39A2-9CD058FA9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90D1F7-1207-4910-A59A-1FF7E5F14C96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EB34C6E-BCFD-82FA-C3FB-DB8B593DE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CCE9E04-5FD8-37DC-619B-12752F1B8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2745DC17-B41A-FC11-EB50-A0EDD0B144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17C9C50-8287-F6B2-93BF-6D9F0DD0A7D6}"/>
              </a:ext>
            </a:extLst>
          </p:cNvPr>
          <p:cNvSpPr/>
          <p:nvPr userDrawn="1"/>
        </p:nvSpPr>
        <p:spPr>
          <a:xfrm>
            <a:off x="-82193" y="177622"/>
            <a:ext cx="8147405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11" name="標題 1">
            <a:extLst>
              <a:ext uri="{FF2B5EF4-FFF2-40B4-BE49-F238E27FC236}">
                <a16:creationId xmlns:a16="http://schemas.microsoft.com/office/drawing/2014/main" id="{BA7F2815-30FF-A22B-1989-BB0F66113153}"/>
              </a:ext>
            </a:extLst>
          </p:cNvPr>
          <p:cNvSpPr txBox="1">
            <a:spLocks/>
          </p:cNvSpPr>
          <p:nvPr userDrawn="1"/>
        </p:nvSpPr>
        <p:spPr>
          <a:xfrm>
            <a:off x="406686" y="236973"/>
            <a:ext cx="7576334" cy="772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00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TW" altLang="en-US"/>
              <a:t>按一下以編輯母片標題樣式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9171519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9E26DA0-A58C-62B7-8C2E-06493B4D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1015" y="5555"/>
            <a:ext cx="10515600" cy="914401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A84BE4-0C2C-0E7C-445F-92B17C7E8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D1FAE-2B27-E09C-8963-3E6EAD4FB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EC5EDC6-37AE-FC97-6B4E-38AB82E3B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000F9FC-25E3-96FE-C926-BA6555DE5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1C14ED-FBC2-CB1D-03AC-89F6777D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857B4D-75AA-4ECD-AAE4-DDA754CCDD73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8D98A3C-1F1B-D581-CBB3-4BCFA92E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7BFA9C7-23AF-F79C-BBD4-00BF69CE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F80266D-F2BB-ABE2-0C04-795016ED9B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11" name="矩形 10">
            <a:extLst>
              <a:ext uri="{FF2B5EF4-FFF2-40B4-BE49-F238E27FC236}">
                <a16:creationId xmlns:a16="http://schemas.microsoft.com/office/drawing/2014/main" id="{01DA3804-FC2E-5EC5-4BCD-8B24FC91CEFC}"/>
              </a:ext>
            </a:extLst>
          </p:cNvPr>
          <p:cNvSpPr/>
          <p:nvPr userDrawn="1"/>
        </p:nvSpPr>
        <p:spPr>
          <a:xfrm>
            <a:off x="165242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002453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>
            <a:extLst>
              <a:ext uri="{FF2B5EF4-FFF2-40B4-BE49-F238E27FC236}">
                <a16:creationId xmlns:a16="http://schemas.microsoft.com/office/drawing/2014/main" id="{748A0A07-6C3A-003B-14D2-13E1535F0D97}"/>
              </a:ext>
            </a:extLst>
          </p:cNvPr>
          <p:cNvSpPr/>
          <p:nvPr userDrawn="1"/>
        </p:nvSpPr>
        <p:spPr>
          <a:xfrm>
            <a:off x="-82193" y="177622"/>
            <a:ext cx="8147405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9E26DA0-A58C-62B7-8C2E-06493B4D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4968" y="286673"/>
            <a:ext cx="7910244" cy="696297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8A84BE4-0C2C-0E7C-445F-92B17C7E82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CDD1FAE-2B27-E09C-8963-3E6EAD4FB57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EC5EDC6-37AE-FC97-6B4E-38AB82E3B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2000F9FC-25E3-96FE-C926-BA6555DE532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11C14ED-FBC2-CB1D-03AC-89F6777D88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2B7DDD-26E6-4AB1-90CF-3F2552378385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58D98A3C-1F1B-D581-CBB3-4BCFA92E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27BFA9C7-23AF-F79C-BBD4-00BF69CE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8F80266D-F2BB-ABE2-0C04-795016ED9B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7071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13F0DF-48CB-7EEE-6970-7E7AE336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27" y="0"/>
            <a:ext cx="7196191" cy="914401"/>
          </a:xfrm>
        </p:spPr>
        <p:txBody>
          <a:bodyPr>
            <a:normAutofit/>
          </a:bodyPr>
          <a:lstStyle>
            <a:lvl1pPr>
              <a:defRPr sz="4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A450379-D32A-3CB4-F72D-571700B0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60848E-C064-4D84-9EA6-507C53FA582B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0BE624E-8B3B-E9F4-EC80-55AF641E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52C28F9-BE20-C7A8-38C9-69748556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8F7DDD6-62E4-171E-33AE-42A20B396C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505A448D-F462-D7A1-F84A-AC76EFB6A6B4}"/>
              </a:ext>
            </a:extLst>
          </p:cNvPr>
          <p:cNvSpPr/>
          <p:nvPr userDrawn="1"/>
        </p:nvSpPr>
        <p:spPr>
          <a:xfrm>
            <a:off x="165242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11606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A450379-D32A-3CB4-F72D-571700B01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5E910-2457-46D4-BE28-21E7A6776ACC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0BE624E-8B3B-E9F4-EC80-55AF641E8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552C28F9-BE20-C7A8-38C9-697485565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F8F7DDD6-62E4-171E-33AE-42A20B396C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19E0BB0B-8108-4733-7EEC-2780E8175F93}"/>
              </a:ext>
            </a:extLst>
          </p:cNvPr>
          <p:cNvSpPr/>
          <p:nvPr userDrawn="1"/>
        </p:nvSpPr>
        <p:spPr>
          <a:xfrm>
            <a:off x="-82193" y="177622"/>
            <a:ext cx="8147405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A13F0DF-48CB-7EEE-6970-7E7AE336C3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122" y="177621"/>
            <a:ext cx="7196191" cy="914401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1937632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1B21109-76B3-5E60-6700-659D7306C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F94768-82E2-4161-8E92-2B1EB48F369F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0C26E10-9A9A-3245-8B1F-C0288248D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0036BFCA-7786-FED1-6228-17C50B4A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4580E088-9728-3A11-F349-EF11770A828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4846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0C309D-CD5F-D612-C78C-F9F7105454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B69E444-49EE-F9BB-3998-707114F985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309D744A-6D5B-49D3-97CC-0D3099792F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0BCDF37-0ED4-89C5-A761-02B5542E1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724435-C27C-43CF-9EC5-9A0B1937C2E1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763DD3C-E54F-99FD-B332-275BB9C41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AA210F-60A4-73E1-67C1-2857DFAC9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8765CB05-D2BE-933E-457E-84AEB371088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320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C65609-1E93-0AA5-B9BD-437274FC3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F735A7AF-200E-4B24-D9A4-E5D0213BC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B404753-46A4-88B7-2891-79EA64E1BA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349B8CA-A938-5D12-642B-CD9C75CCC8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7854C7-45DA-4A44-9E2F-D38FB6DD5DF7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D6F57B4-C19E-7D88-9E07-DF8DF3CE50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171190-16A9-976D-53C6-6D2DA33DC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D172526A-B6A6-EBFC-C098-CE732BCAC45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7266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8D7C97D-20F7-B6A5-68F7-F6616743D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287CA0-29F1-A594-EDAD-82CEC4D79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E17402-F9BA-C6ED-66E8-FFA46F24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7663F-51EB-43CB-BF4B-8411891668D3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FB1E21-9B45-5268-EB3A-135D9EB0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DF5EDB-0E7D-8C1B-E49B-B577AA76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6CD1123-EFC0-D3D8-EB72-DD49875D0B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9D5D5D2-8A60-CB7E-6B22-BF1221FD5258}"/>
              </a:ext>
            </a:extLst>
          </p:cNvPr>
          <p:cNvSpPr/>
          <p:nvPr userDrawn="1"/>
        </p:nvSpPr>
        <p:spPr>
          <a:xfrm>
            <a:off x="165242" y="-41096"/>
            <a:ext cx="163531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27188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B287CA0-29F1-A594-EDAD-82CEC4D79A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6E17402-F9BA-C6ED-66E8-FFA46F24C7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AD8383-A2B5-47C7-844D-97285A6E2C57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FB1E21-9B45-5268-EB3A-135D9EB0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6DF5EDB-0E7D-8C1B-E49B-B577AA763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26CD1123-EFC0-D3D8-EB72-DD49875D0B4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  <p:sp>
        <p:nvSpPr>
          <p:cNvPr id="9" name="矩形 8">
            <a:extLst>
              <a:ext uri="{FF2B5EF4-FFF2-40B4-BE49-F238E27FC236}">
                <a16:creationId xmlns:a16="http://schemas.microsoft.com/office/drawing/2014/main" id="{BD4208AA-7466-886D-7BD6-DA86D8D6B7F2}"/>
              </a:ext>
            </a:extLst>
          </p:cNvPr>
          <p:cNvSpPr/>
          <p:nvPr userDrawn="1"/>
        </p:nvSpPr>
        <p:spPr>
          <a:xfrm>
            <a:off x="-82193" y="177622"/>
            <a:ext cx="8147405" cy="914400"/>
          </a:xfrm>
          <a:prstGeom prst="rect">
            <a:avLst/>
          </a:prstGeom>
          <a:solidFill>
            <a:srgbClr val="13CF3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8D7C97D-20F7-B6A5-68F7-F6616743D6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3396" y="166205"/>
            <a:ext cx="7781816" cy="914400"/>
          </a:xfrm>
        </p:spPr>
        <p:txBody>
          <a:bodyPr>
            <a:normAutofit/>
          </a:bodyPr>
          <a:lstStyle>
            <a:lvl1pPr>
              <a:defRPr sz="4200">
                <a:solidFill>
                  <a:schemeClr val="bg1"/>
                </a:solidFill>
              </a:defRPr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287645967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AA927F5-C949-0595-0D4D-7C99A7CF2B0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C4FD6D4-B9FC-C252-149D-DC475140A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484639-AA8D-4383-8CAC-12306CD7B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FD256A-AD03-4646-BC1D-86588EBCC6ED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C33E8E5-F4B3-AE5B-139D-2F962063B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F000240-3C85-21D9-F350-54862806B6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81F52DC6-722A-076E-8D78-8DA62B9AE13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93982" y="136525"/>
            <a:ext cx="1543050" cy="383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85008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322151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訂版面配置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957DA6-5971-F0AD-C0B9-77F9CB1D2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2485980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2DE1308-32FC-E991-C996-CC8C1C50F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CEF532F-13D1-941A-7AEA-807E0BF52B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F1EDE6F-1CEB-0ED7-319B-33E0B8CBA75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A84ADA-8377-4ACC-B0AB-2A14099659BD}" type="datetime1">
              <a:rPr kumimoji="1" lang="zh-TW" altLang="en-US" smtClean="0"/>
              <a:t>2026/6/17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B45A72B-7C75-2AD8-0D90-EB2A0E159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8D660C4-E57D-4F7D-6F57-FB85C89D26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58003F-9CEB-BD47-9564-9D5EEFE2C17F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78575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1FEE742-084E-623E-6D5A-C067EE9845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08918"/>
            <a:ext cx="10515600" cy="1325563"/>
          </a:xfrm>
        </p:spPr>
        <p:txBody>
          <a:bodyPr/>
          <a:lstStyle/>
          <a:p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EDW</a:t>
            </a:r>
            <a:r>
              <a:rPr lang="zh-TW" altLang="en-US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升級暨一體機建置專案 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CD8F7B9-B8F3-4AB8-AC0F-914D1AEC9D4A}"/>
              </a:ext>
            </a:extLst>
          </p:cNvPr>
          <p:cNvSpPr/>
          <p:nvPr/>
        </p:nvSpPr>
        <p:spPr>
          <a:xfrm>
            <a:off x="931245" y="4008287"/>
            <a:ext cx="111612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1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2025.10.17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42DB55F-351B-4119-B9D6-5A883712AB7D}"/>
              </a:ext>
            </a:extLst>
          </p:cNvPr>
          <p:cNvSpPr/>
          <p:nvPr/>
        </p:nvSpPr>
        <p:spPr>
          <a:xfrm>
            <a:off x="10069351" y="248375"/>
            <a:ext cx="1837580" cy="307777"/>
          </a:xfrm>
          <a:prstGeom prst="rect">
            <a:avLst/>
          </a:prstGeom>
          <a:ln>
            <a:solidFill>
              <a:schemeClr val="bg1"/>
            </a:solidFill>
          </a:ln>
        </p:spPr>
        <p:txBody>
          <a:bodyPr wrap="square">
            <a:spAutoFit/>
          </a:bodyPr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CONFIDENTIAL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2BCF8CC3-3E9C-4015-8CCA-84B6742FA29A}"/>
              </a:ext>
            </a:extLst>
          </p:cNvPr>
          <p:cNvSpPr txBox="1"/>
          <p:nvPr/>
        </p:nvSpPr>
        <p:spPr>
          <a:xfrm>
            <a:off x="873493" y="2763384"/>
            <a:ext cx="609760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Project Status Report</a:t>
            </a:r>
          </a:p>
        </p:txBody>
      </p:sp>
    </p:spTree>
    <p:extLst>
      <p:ext uri="{BB962C8B-B14F-4D97-AF65-F5344CB8AC3E}">
        <p14:creationId xmlns:p14="http://schemas.microsoft.com/office/powerpoint/2010/main" val="1658904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" name="表格 19">
            <a:extLst>
              <a:ext uri="{FF2B5EF4-FFF2-40B4-BE49-F238E27FC236}">
                <a16:creationId xmlns:a16="http://schemas.microsoft.com/office/drawing/2014/main" id="{D9FC5D7F-8776-46A5-8B3E-C058DC70B8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8283341"/>
              </p:ext>
            </p:extLst>
          </p:nvPr>
        </p:nvGraphicFramePr>
        <p:xfrm>
          <a:off x="5864282" y="933181"/>
          <a:ext cx="6014549" cy="4402089"/>
        </p:xfrm>
        <a:graphic>
          <a:graphicData uri="http://schemas.openxmlformats.org/drawingml/2006/table">
            <a:tbl>
              <a:tblPr firstRow="1" bandRow="1"/>
              <a:tblGrid>
                <a:gridCol w="6014549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</a:tblGrid>
              <a:tr h="171190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r>
                        <a:rPr lang="en-US" altLang="zh-TW" sz="1000" dirty="0">
                          <a:solidFill>
                            <a:schemeClr val="bg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Status Summary</a:t>
                      </a: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4158249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1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kumimoji="1" lang="zh-TW" altLang="en-US" sz="1000" b="1" u="sng" kern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本週已完成項目</a:t>
                      </a:r>
                      <a:endParaRPr kumimoji="1" lang="en-US" altLang="zh-TW" sz="10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zh-TW" sz="10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zh-TW" sz="10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kumimoji="1" lang="en-US" altLang="zh-TW" sz="1000" b="1" u="sng" kern="0" dirty="0">
                        <a:solidFill>
                          <a:schemeClr val="tx1"/>
                        </a:solidFill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Arial" panose="020B0604020202020204" pitchFamily="34" charset="0"/>
                      </a:endParaRPr>
                    </a:p>
                    <a:p>
                      <a:pPr marL="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1" lang="zh-TW" altLang="en-US" sz="1000" b="1" u="sng" kern="0" dirty="0">
                          <a:solidFill>
                            <a:schemeClr val="tx1"/>
                          </a:solidFill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Arial" panose="020B0604020202020204" pitchFamily="34" charset="0"/>
                        </a:rPr>
                        <a:t>進行中項目</a:t>
                      </a:r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7313" marR="0" lvl="0" indent="-87313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廠商遴選</a:t>
                      </a:r>
                      <a:endParaRPr lang="en-US" altLang="zh-TW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  <a:p>
                      <a:pPr marL="8890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60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1. 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合約簽訂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(08/01-10/30)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：如期</a:t>
                      </a:r>
                      <a:r>
                        <a:rPr lang="zh-TW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進行中</a:t>
                      </a:r>
                    </a:p>
                    <a:p>
                      <a:pPr marL="87313" marR="0" lvl="0" indent="-87313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zh-TW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開發建置</a:t>
                      </a:r>
                    </a:p>
                    <a:p>
                      <a:pPr marL="87313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1.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備份機制設定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雲端儲存服務設定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/</a:t>
                      </a:r>
                      <a:r>
                        <a:rPr lang="zh-TW" altLang="en-US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調整 </a:t>
                      </a:r>
                      <a:r>
                        <a:rPr lang="en-US" altLang="zh-TW" sz="1000" b="0" i="0" u="none" strike="noStrike" kern="1200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(07/21-10/22)</a:t>
                      </a:r>
                    </a:p>
                    <a:p>
                      <a:pPr marL="88900" marR="0" lvl="0" indent="0" algn="l" defTabSz="1125444" rtl="0" eaLnBrk="1" fontAlgn="auto" latinLnBrk="0" hangingPunct="0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None/>
                        <a:tabLst/>
                        <a:defRPr/>
                      </a:pPr>
                      <a:endParaRPr lang="en-US" altLang="zh-TW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</a:tbl>
          </a:graphicData>
        </a:graphic>
      </p:graphicFrame>
      <p:graphicFrame>
        <p:nvGraphicFramePr>
          <p:cNvPr id="12" name="表格 11">
            <a:extLst>
              <a:ext uri="{FF2B5EF4-FFF2-40B4-BE49-F238E27FC236}">
                <a16:creationId xmlns:a16="http://schemas.microsoft.com/office/drawing/2014/main" id="{164D421C-A5C1-45E8-AE0C-BDDF0F4C72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76218301"/>
              </p:ext>
            </p:extLst>
          </p:nvPr>
        </p:nvGraphicFramePr>
        <p:xfrm>
          <a:off x="346945" y="933180"/>
          <a:ext cx="5483563" cy="1122000"/>
        </p:xfrm>
        <a:graphic>
          <a:graphicData uri="http://schemas.openxmlformats.org/drawingml/2006/table">
            <a:tbl>
              <a:tblPr firstRow="1" bandRow="1"/>
              <a:tblGrid>
                <a:gridCol w="1007222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  <a:gridCol w="1672358">
                  <a:extLst>
                    <a:ext uri="{9D8B030D-6E8A-4147-A177-3AD203B41FA5}">
                      <a16:colId xmlns:a16="http://schemas.microsoft.com/office/drawing/2014/main" val="3067411575"/>
                    </a:ext>
                  </a:extLst>
                </a:gridCol>
                <a:gridCol w="1007222">
                  <a:extLst>
                    <a:ext uri="{9D8B030D-6E8A-4147-A177-3AD203B41FA5}">
                      <a16:colId xmlns:a16="http://schemas.microsoft.com/office/drawing/2014/main" val="54969769"/>
                    </a:ext>
                  </a:extLst>
                </a:gridCol>
                <a:gridCol w="1796761">
                  <a:extLst>
                    <a:ext uri="{9D8B030D-6E8A-4147-A177-3AD203B41FA5}">
                      <a16:colId xmlns:a16="http://schemas.microsoft.com/office/drawing/2014/main" val="1748337497"/>
                    </a:ext>
                  </a:extLst>
                </a:gridCol>
              </a:tblGrid>
              <a:tr h="114392">
                <a:tc gridSpan="4">
                  <a:txBody>
                    <a:bodyPr/>
                    <a:lstStyle>
                      <a:lvl1pPr marL="0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b="1" kern="1200">
                          <a:solidFill>
                            <a:schemeClr val="bg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Information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103846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Business</a:t>
                      </a:r>
                      <a:r>
                        <a:rPr lang="en-US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Area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資料庫管理部</a:t>
                      </a:r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Division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資訊基礎服務處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  <a:tr h="103846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Business</a:t>
                      </a:r>
                      <a:r>
                        <a:rPr lang="en-US" altLang="zh-TW" sz="1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PM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Howard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 PM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Jun Chen</a:t>
                      </a:r>
                      <a:endParaRPr lang="zh-TW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7324238"/>
                  </a:ext>
                </a:extLst>
              </a:tr>
              <a:tr h="103846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Vendor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邁達特、</a:t>
                      </a:r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Oracle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PMO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0" hangingPunct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4001178"/>
                  </a:ext>
                </a:extLst>
              </a:tr>
              <a:tr h="171945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l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Description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9E7A7">
                        <a:lumMod val="20000"/>
                        <a:lumOff val="80000"/>
                      </a:srgb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indent="0" algn="l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EDW</a:t>
                      </a: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資料庫已結束產品生命週期，將使用一體機重建基礎架構並進行異機升級。</a:t>
                      </a:r>
                    </a:p>
                  </a:txBody>
                  <a:tcPr marL="36000" marR="36000" marT="36000" marB="36000">
                    <a:lnL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" lastClr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zh-TW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+mj-lt"/>
                        <a:ea typeface="微軟正黑體" panose="020B0604030504040204" pitchFamily="34" charset="-120"/>
                      </a:endParaRPr>
                    </a:p>
                  </a:txBody>
                  <a:tcPr marL="72000" marR="36000" marT="0" marB="0"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34551546"/>
                  </a:ext>
                </a:extLst>
              </a:tr>
            </a:tbl>
          </a:graphicData>
        </a:graphic>
      </p:graphicFrame>
      <p:sp>
        <p:nvSpPr>
          <p:cNvPr id="10" name="標題 1">
            <a:extLst>
              <a:ext uri="{FF2B5EF4-FFF2-40B4-BE49-F238E27FC236}">
                <a16:creationId xmlns:a16="http://schemas.microsoft.com/office/drawing/2014/main" id="{CAAEE278-8AEA-4344-99C4-2BC80724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71" y="1"/>
            <a:ext cx="10515600" cy="886690"/>
          </a:xfrm>
        </p:spPr>
        <p:txBody>
          <a:bodyPr>
            <a:normAutofit/>
          </a:bodyPr>
          <a:lstStyle/>
          <a:p>
            <a:r>
              <a:rPr lang="en-US" altLang="zh-TW" sz="28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EDW</a:t>
            </a:r>
            <a:r>
              <a:rPr lang="zh-TW" altLang="en-US" sz="28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升級暨一體機建置專案</a:t>
            </a:r>
            <a:r>
              <a:rPr lang="en-US" altLang="zh-TW" sz="28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 </a:t>
            </a: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7871CAF3-D045-400E-A346-7C5C3A7A51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9831234"/>
              </p:ext>
            </p:extLst>
          </p:nvPr>
        </p:nvGraphicFramePr>
        <p:xfrm>
          <a:off x="5864281" y="5069907"/>
          <a:ext cx="5980774" cy="422445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980774">
                  <a:extLst>
                    <a:ext uri="{9D8B030D-6E8A-4147-A177-3AD203B41FA5}">
                      <a16:colId xmlns:a16="http://schemas.microsoft.com/office/drawing/2014/main" val="1395784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altLang="zh-TW" sz="1000" dirty="0"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Risks and Issues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35885936"/>
                  </a:ext>
                </a:extLst>
              </a:tr>
              <a:tr h="178605">
                <a:tc>
                  <a:txBody>
                    <a:bodyPr/>
                    <a:lstStyle/>
                    <a:p>
                      <a:pPr marL="855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8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endParaRPr lang="en-US" altLang="zh-TW" sz="300" b="0" u="none" strike="noStrike" kern="1200" baseline="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840724"/>
                  </a:ext>
                </a:extLst>
              </a:tr>
            </a:tbl>
          </a:graphicData>
        </a:graphic>
      </p:graphicFrame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3D26F13-B6FF-4C5D-AE3D-E27CA7E3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0"/>
            <a:ext cx="121920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8003F-9CEB-BD47-9564-9D5EEFE2C17F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1E465BCA-5542-4EC3-AE8E-4A5D09353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8899595"/>
              </p:ext>
            </p:extLst>
          </p:nvPr>
        </p:nvGraphicFramePr>
        <p:xfrm>
          <a:off x="346945" y="2075778"/>
          <a:ext cx="5483563" cy="4280564"/>
        </p:xfrm>
        <a:graphic>
          <a:graphicData uri="http://schemas.openxmlformats.org/drawingml/2006/table">
            <a:tbl>
              <a:tblPr/>
              <a:tblGrid>
                <a:gridCol w="741804">
                  <a:extLst>
                    <a:ext uri="{9D8B030D-6E8A-4147-A177-3AD203B41FA5}">
                      <a16:colId xmlns:a16="http://schemas.microsoft.com/office/drawing/2014/main" val="912921440"/>
                    </a:ext>
                  </a:extLst>
                </a:gridCol>
                <a:gridCol w="2402031">
                  <a:extLst>
                    <a:ext uri="{9D8B030D-6E8A-4147-A177-3AD203B41FA5}">
                      <a16:colId xmlns:a16="http://schemas.microsoft.com/office/drawing/2014/main" val="3747933988"/>
                    </a:ext>
                  </a:extLst>
                </a:gridCol>
                <a:gridCol w="798962">
                  <a:extLst>
                    <a:ext uri="{9D8B030D-6E8A-4147-A177-3AD203B41FA5}">
                      <a16:colId xmlns:a16="http://schemas.microsoft.com/office/drawing/2014/main" val="4179209840"/>
                    </a:ext>
                  </a:extLst>
                </a:gridCol>
                <a:gridCol w="798962">
                  <a:extLst>
                    <a:ext uri="{9D8B030D-6E8A-4147-A177-3AD203B41FA5}">
                      <a16:colId xmlns:a16="http://schemas.microsoft.com/office/drawing/2014/main" val="2276310400"/>
                    </a:ext>
                  </a:extLst>
                </a:gridCol>
                <a:gridCol w="741804">
                  <a:extLst>
                    <a:ext uri="{9D8B030D-6E8A-4147-A177-3AD203B41FA5}">
                      <a16:colId xmlns:a16="http://schemas.microsoft.com/office/drawing/2014/main" val="443100098"/>
                    </a:ext>
                  </a:extLst>
                </a:gridCol>
              </a:tblGrid>
              <a:tr h="214226"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Schedule</a:t>
                      </a:r>
                      <a:endParaRPr lang="zh-TW" altLang="en-US" sz="10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zh-TW" altLang="en-US" sz="900" b="1" i="0" u="none" strike="noStrike" dirty="0">
                        <a:solidFill>
                          <a:srgbClr val="FFFFFF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4741917"/>
                  </a:ext>
                </a:extLst>
              </a:tr>
              <a:tr h="214226"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專案階段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工作項目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起日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迄日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FFFFFF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6040329"/>
                  </a:ext>
                </a:extLst>
              </a:tr>
              <a:tr h="24075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專案起案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0030255"/>
                  </a:ext>
                </a:extLst>
              </a:tr>
              <a:tr h="240757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廠商遴選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2025/06/05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42982604"/>
                  </a:ext>
                </a:extLst>
              </a:tr>
              <a:tr h="240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2025/07/18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5299593"/>
                  </a:ext>
                </a:extLst>
              </a:tr>
              <a:tr h="240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2025/08/05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1403820"/>
                  </a:ext>
                </a:extLst>
              </a:tr>
              <a:tr h="240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2025/07/21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2025/08/04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6406358"/>
                  </a:ext>
                </a:extLst>
              </a:tr>
              <a:tr h="240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2392307"/>
                  </a:ext>
                </a:extLst>
              </a:tr>
              <a:tr h="240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 Progress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7028822"/>
                  </a:ext>
                </a:extLst>
              </a:tr>
              <a:tr h="240757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需求確認</a:t>
                      </a:r>
                      <a:b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及分析設計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2025/03/10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2025/05/29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7973491"/>
                  </a:ext>
                </a:extLst>
              </a:tr>
              <a:tr h="240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2025/06/05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92301"/>
                  </a:ext>
                </a:extLst>
              </a:tr>
              <a:tr h="240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76670646"/>
                  </a:ext>
                </a:extLst>
              </a:tr>
              <a:tr h="240757">
                <a:tc rowSpan="3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開發建置</a:t>
                      </a:r>
                    </a:p>
                    <a:p>
                      <a:pPr algn="ctr" fontAlgn="ctr"/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561238"/>
                  </a:ext>
                </a:extLst>
              </a:tr>
              <a:tr h="240757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測試驗證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2025/10/02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1pPr>
                      <a:lvl2pPr marL="56272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2pPr>
                      <a:lvl3pPr marL="112544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3pPr>
                      <a:lvl4pPr marL="1688165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4pPr>
                      <a:lvl5pPr marL="2250887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5pPr>
                      <a:lvl6pPr marL="2813609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6pPr>
                      <a:lvl7pPr marL="3376331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7pPr>
                      <a:lvl8pPr marL="3939052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8pPr>
                      <a:lvl9pPr marL="4501774" algn="l" defTabSz="1125444" rtl="0" eaLnBrk="1" latinLnBrk="1" hangingPunct="1">
                        <a:defRPr sz="2215" kern="1200">
                          <a:solidFill>
                            <a:schemeClr val="tx1"/>
                          </a:solidFill>
                          <a:latin typeface="Arial"/>
                          <a:ea typeface="Microsoft JhengHei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87202261"/>
                  </a:ext>
                </a:extLst>
              </a:tr>
              <a:tr h="24075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TW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2025/07/21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2025/10/22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In Progress</a:t>
                      </a:r>
                    </a:p>
                  </a:txBody>
                  <a:tcPr marL="3931" marR="3931" marT="3931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72915600"/>
                  </a:ext>
                </a:extLst>
              </a:tr>
              <a:tr h="240757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測試驗證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設定測試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2025/10/03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In Progress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012461"/>
                  </a:ext>
                </a:extLst>
              </a:tr>
              <a:tr h="24075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上線準備</a:t>
                      </a:r>
                      <a:b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及開放服務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上雲備份政策設定與驗證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7866239"/>
                  </a:ext>
                </a:extLst>
              </a:tr>
              <a:tr h="240757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上線準備</a:t>
                      </a:r>
                      <a:b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及開放服務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70AD47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系統上線 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2025/10/31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2025/10/31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125444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  <a:endParaRPr kumimoji="0" lang="en-US" altLang="zh-TW" sz="1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2248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2497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826C83E4-05EA-4157-906A-8CA9D3ED26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440937"/>
              </p:ext>
            </p:extLst>
          </p:nvPr>
        </p:nvGraphicFramePr>
        <p:xfrm>
          <a:off x="343918" y="866725"/>
          <a:ext cx="11415227" cy="5458587"/>
        </p:xfrm>
        <a:graphic>
          <a:graphicData uri="http://schemas.openxmlformats.org/drawingml/2006/table">
            <a:tbl>
              <a:tblPr/>
              <a:tblGrid>
                <a:gridCol w="900000">
                  <a:extLst>
                    <a:ext uri="{9D8B030D-6E8A-4147-A177-3AD203B41FA5}">
                      <a16:colId xmlns:a16="http://schemas.microsoft.com/office/drawing/2014/main" val="2544021126"/>
                    </a:ext>
                  </a:extLst>
                </a:gridCol>
                <a:gridCol w="3348000">
                  <a:extLst>
                    <a:ext uri="{9D8B030D-6E8A-4147-A177-3AD203B41FA5}">
                      <a16:colId xmlns:a16="http://schemas.microsoft.com/office/drawing/2014/main" val="1920637835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3505643253"/>
                    </a:ext>
                  </a:extLst>
                </a:gridCol>
                <a:gridCol w="377539">
                  <a:extLst>
                    <a:ext uri="{9D8B030D-6E8A-4147-A177-3AD203B41FA5}">
                      <a16:colId xmlns:a16="http://schemas.microsoft.com/office/drawing/2014/main" val="2683073231"/>
                    </a:ext>
                  </a:extLst>
                </a:gridCol>
                <a:gridCol w="773959">
                  <a:extLst>
                    <a:ext uri="{9D8B030D-6E8A-4147-A177-3AD203B41FA5}">
                      <a16:colId xmlns:a16="http://schemas.microsoft.com/office/drawing/2014/main" val="254477405"/>
                    </a:ext>
                  </a:extLst>
                </a:gridCol>
                <a:gridCol w="800994">
                  <a:extLst>
                    <a:ext uri="{9D8B030D-6E8A-4147-A177-3AD203B41FA5}">
                      <a16:colId xmlns:a16="http://schemas.microsoft.com/office/drawing/2014/main" val="605658259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1316064118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2630954780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3291318158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3055237600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3626573252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4016385144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2017863400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1963367930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431323842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3894398608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1349986418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1591551505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2076192905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720729960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385034889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3260614850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423913672"/>
                    </a:ext>
                  </a:extLst>
                </a:gridCol>
                <a:gridCol w="211455">
                  <a:extLst>
                    <a:ext uri="{9D8B030D-6E8A-4147-A177-3AD203B41FA5}">
                      <a16:colId xmlns:a16="http://schemas.microsoft.com/office/drawing/2014/main" val="609693986"/>
                    </a:ext>
                  </a:extLst>
                </a:gridCol>
              </a:tblGrid>
              <a:tr h="144000"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專案階段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工作項目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PIC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工作日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起日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(</a:t>
                      </a:r>
                      <a:r>
                        <a:rPr lang="zh-TW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預</a:t>
                      </a:r>
                      <a:r>
                        <a:rPr lang="en-US" altLang="zh-TW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)</a:t>
                      </a:r>
                      <a:r>
                        <a:rPr lang="zh-TW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迄日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chemeClr val="bg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狀態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2C973E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Jul.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/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9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Aug.</a:t>
                      </a:r>
                      <a:endParaRPr lang="zh-TW" altLang="en-US" sz="900" dirty="0"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gridSpan="5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Sep.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fontAlgn="ctr"/>
                      <a:r>
                        <a:rPr lang="en-US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Oct.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8771208"/>
                  </a:ext>
                </a:extLst>
              </a:tr>
              <a:tr h="144000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1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3058381"/>
                  </a:ext>
                </a:extLst>
              </a:tr>
              <a:tr h="8928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專案起案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取得專案起案核准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IT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PM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8843335"/>
                  </a:ext>
                </a:extLst>
              </a:tr>
              <a:tr h="99682">
                <a:tc rowSpan="6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廠商遴選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IT</a:t>
                      </a:r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2025/06/05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1996931"/>
                  </a:ext>
                </a:extLst>
              </a:tr>
              <a:tr h="9968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IT</a:t>
                      </a:r>
                      <a:r>
                        <a:rPr kumimoji="0" lang="zh-TW" altLang="en-US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2025/07/18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3349387"/>
                  </a:ext>
                </a:extLst>
              </a:tr>
              <a:tr h="99682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IT</a:t>
                      </a:r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2025/08/05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1926792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>
                        <a:lumMod val="20000"/>
                        <a:lumOff val="8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IT</a:t>
                      </a:r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2025/07/21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2025/08/04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7904208"/>
                  </a:ext>
                </a:extLst>
              </a:tr>
              <a:tr h="14138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IT</a:t>
                      </a:r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 </a:t>
                      </a: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PM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5654918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 Progress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7705406"/>
                  </a:ext>
                </a:extLst>
              </a:tr>
              <a:tr h="89289"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需求確認</a:t>
                      </a:r>
                      <a:b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及分析設計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2025/03/10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2025/05/29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7469488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2025/06/05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42155905"/>
                  </a:ext>
                </a:extLst>
              </a:tr>
              <a:tr h="8382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876670"/>
                  </a:ext>
                </a:extLst>
              </a:tr>
              <a:tr h="89289">
                <a:tc rowSpan="2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開發建置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024458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lvl="0" indent="0" algn="l" defTabSz="914400" rtl="0" eaLnBrk="1" fontAlgn="ctr" latinLnBrk="0" hangingPunct="1"/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2025/08/05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6667440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lvl="0" indent="0" algn="l" defTabSz="914400" rtl="0" eaLnBrk="1" fontAlgn="ctr" latinLnBrk="0" hangingPunct="1"/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2025/08/06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381844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lvl="0" indent="0" algn="l" defTabSz="914400" rtl="0" eaLnBrk="1" fontAlgn="ctr" latinLnBrk="0" hangingPunct="1"/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2025/09/08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2025/09/11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68725780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2025/10/02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05760677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0" algn="l" defTabSz="914400" rtl="0" eaLnBrk="1" fontAlgn="ctr" latinLnBrk="0" hangingPunct="1"/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2025/07/25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8084495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marL="87313" indent="0" algn="l" defTabSz="914400" rtl="0" eaLnBrk="1" fontAlgn="ctr" latinLnBrk="0" hangingPunct="1"/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2025/07/28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2025/07/31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2838793"/>
                  </a:ext>
                </a:extLst>
              </a:tr>
              <a:tr h="15146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0" algn="l" defTabSz="914400" rtl="0" eaLnBrk="1" fontAlgn="ctr" latinLnBrk="0" hangingPunct="1"/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2025/09/09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3082568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0" algn="l" defTabSz="914400" rtl="0" eaLnBrk="1" fontAlgn="ctr" latinLnBrk="0" hangingPunct="1"/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2025/09/16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2025/09/26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6343513"/>
                  </a:ext>
                </a:extLst>
              </a:tr>
              <a:tr h="136347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87313" indent="0" algn="l" defTabSz="914400" rtl="0" eaLnBrk="1" fontAlgn="ctr" latinLnBrk="0" hangingPunct="1"/>
                      <a:endParaRPr lang="zh-TW" altLang="en-US" sz="900" b="0" i="0" u="none" strike="noStrike" kern="1200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kumimoji="0" lang="zh-TW" altLang="en-US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網路</a:t>
                      </a:r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2025/09/30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2025/10/02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33967624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 Progress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98087696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2025/07/21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950610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L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6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2433311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2138957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920043"/>
                  </a:ext>
                </a:extLst>
              </a:tr>
              <a:tr h="1596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1362351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55298233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33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2025/08/12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34030381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0104641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  <a:endParaRPr kumimoji="0" lang="en-US" altLang="zh-TW" sz="9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微軟正黑體" panose="020B0604030504040204" pitchFamily="34" charset="-120"/>
                        <a:ea typeface="微軟正黑體" panose="020B0604030504040204" pitchFamily="34" charset="-120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2025/09/30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BC2E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1682401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 Progress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5923625"/>
                  </a:ext>
                </a:extLst>
              </a:tr>
              <a:tr h="89289">
                <a:tc vMerge="1">
                  <a:txBody>
                    <a:bodyPr/>
                    <a:lstStyle/>
                    <a:p>
                      <a:pPr algn="ctr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chemeClr val="tx1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13335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 Progress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6D7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50961122"/>
                  </a:ext>
                </a:extLst>
              </a:tr>
              <a:tr h="8928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測試驗證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設定測試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PM/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網路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In Progress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BDD7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122530"/>
                  </a:ext>
                </a:extLst>
              </a:tr>
              <a:tr h="159689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上線準備</a:t>
                      </a:r>
                      <a:b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及對外開放服務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 上雲備份政策設定與驗證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9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微軟正黑體" panose="020B0604030504040204" pitchFamily="34" charset="-120"/>
                          <a:ea typeface="微軟正黑體" panose="020B0604030504040204" pitchFamily="34" charset="-120"/>
                          <a:cs typeface="+mn-cs"/>
                        </a:rPr>
                        <a:t>Biz PM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chemeClr val="tx1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2F0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19992336"/>
                  </a:ext>
                </a:extLst>
              </a:tr>
              <a:tr h="159689">
                <a:tc vMerge="1"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上線準備</a:t>
                      </a:r>
                      <a:b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</a:b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及對外開放服務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系統上線 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Biz PM/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網路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2025/10/31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2025/10/31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微軟正黑體" panose="020B0604030504040204" pitchFamily="34" charset="-120"/>
                          <a:ea typeface="微軟正黑體" panose="020B0604030504040204" pitchFamily="34" charset="-120"/>
                        </a:rPr>
                        <a:t>To Do</a:t>
                      </a:r>
                    </a:p>
                  </a:txBody>
                  <a:tcPr marL="36000" marR="36000" marT="7200" marB="720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tx1"/>
                          </a:solidFill>
                          <a:latin typeface="Arial"/>
                          <a:ea typeface="맑은 고딕"/>
                        </a:defRPr>
                      </a:lvl9pPr>
                    </a:lstStyle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zh-TW" alt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微軟正黑體" panose="020B0604030504040204" pitchFamily="34" charset="-120"/>
                        <a:ea typeface="微軟正黑體" panose="020B0604030504040204" pitchFamily="34" charset="-120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1942551"/>
                  </a:ext>
                </a:extLst>
              </a:tr>
            </a:tbl>
          </a:graphicData>
        </a:graphic>
      </p:graphicFrame>
      <p:sp>
        <p:nvSpPr>
          <p:cNvPr id="10" name="標題 1">
            <a:extLst>
              <a:ext uri="{FF2B5EF4-FFF2-40B4-BE49-F238E27FC236}">
                <a16:creationId xmlns:a16="http://schemas.microsoft.com/office/drawing/2014/main" id="{CAAEE278-8AEA-4344-99C4-2BC80724E3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271" y="1"/>
            <a:ext cx="10515600" cy="886690"/>
          </a:xfrm>
        </p:spPr>
        <p:txBody>
          <a:bodyPr>
            <a:normAutofit/>
          </a:bodyPr>
          <a:lstStyle/>
          <a:p>
            <a:r>
              <a:rPr lang="zh-TW" altLang="en-US" sz="2800" b="1" dirty="0">
                <a:solidFill>
                  <a:srgbClr val="2C973E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專案時程</a:t>
            </a:r>
          </a:p>
        </p:txBody>
      </p:sp>
      <p:sp>
        <p:nvSpPr>
          <p:cNvPr id="2" name="投影片編號版面配置區 1">
            <a:extLst>
              <a:ext uri="{FF2B5EF4-FFF2-40B4-BE49-F238E27FC236}">
                <a16:creationId xmlns:a16="http://schemas.microsoft.com/office/drawing/2014/main" id="{83D26F13-B6FF-4C5D-AE3D-E27CA7E30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0" y="6356350"/>
            <a:ext cx="121920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C58003F-9CEB-BD47-9564-9D5EEFE2C17F}" type="slidenum">
              <a:rPr kumimoji="1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 panose="020F0502020204030204"/>
                <a:ea typeface="新細明體" panose="02020500000000000000" pitchFamily="18" charset="-12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1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 panose="020F0502020204030204"/>
              <a:ea typeface="新細明體" panose="02020500000000000000" pitchFamily="18" charset="-120"/>
              <a:cs typeface="+mn-cs"/>
            </a:endParaRPr>
          </a:p>
        </p:txBody>
      </p:sp>
      <p:cxnSp>
        <p:nvCxnSpPr>
          <p:cNvPr id="5" name="直線接點 4">
            <a:extLst>
              <a:ext uri="{FF2B5EF4-FFF2-40B4-BE49-F238E27FC236}">
                <a16:creationId xmlns:a16="http://schemas.microsoft.com/office/drawing/2014/main" id="{7A7B4A94-65F2-467C-A166-65847CC7EF46}"/>
              </a:ext>
            </a:extLst>
          </p:cNvPr>
          <p:cNvCxnSpPr>
            <a:cxnSpLocks/>
          </p:cNvCxnSpPr>
          <p:nvPr/>
        </p:nvCxnSpPr>
        <p:spPr>
          <a:xfrm>
            <a:off x="11339888" y="1170472"/>
            <a:ext cx="0" cy="5292000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13489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1">
            <a:extLst>
              <a:ext uri="{FF2B5EF4-FFF2-40B4-BE49-F238E27FC236}">
                <a16:creationId xmlns:a16="http://schemas.microsoft.com/office/drawing/2014/main" id="{30C355A8-9A3C-4456-BCC0-1C7A71BEE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altLang="zh-TW" b="1" dirty="0">
                <a:solidFill>
                  <a:schemeClr val="bg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Thank you</a:t>
            </a:r>
            <a:endParaRPr lang="zh-TW" altLang="en-US" b="1" dirty="0">
              <a:solidFill>
                <a:schemeClr val="bg1"/>
              </a:solidFill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9812696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32948</TotalTime>
  <Words>564</Words>
  <Application>Microsoft Office PowerPoint</Application>
  <PresentationFormat>寬螢幕</PresentationFormat>
  <Paragraphs>367</Paragraphs>
  <Slides>4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9" baseType="lpstr">
      <vt:lpstr>微軟正黑體</vt:lpstr>
      <vt:lpstr>Arial</vt:lpstr>
      <vt:lpstr>Calibri</vt:lpstr>
      <vt:lpstr>Calibri Light</vt:lpstr>
      <vt:lpstr>Office 佈景主題</vt:lpstr>
      <vt:lpstr>EDW升級暨一體機建置專案 </vt:lpstr>
      <vt:lpstr>EDW升級暨一體機建置專案 </vt:lpstr>
      <vt:lpstr>專案時程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亭宇 陸</dc:creator>
  <cp:lastModifiedBy>Jun Chen 陳峻祥</cp:lastModifiedBy>
  <cp:revision>1303</cp:revision>
  <dcterms:created xsi:type="dcterms:W3CDTF">2024-07-04T06:52:48Z</dcterms:created>
  <dcterms:modified xsi:type="dcterms:W3CDTF">2026-06-17T12:41:39Z</dcterms:modified>
</cp:coreProperties>
</file>