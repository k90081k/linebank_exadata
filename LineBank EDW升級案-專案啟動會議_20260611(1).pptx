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37"/>
  </p:notesMasterIdLst>
  <p:handoutMasterIdLst>
    <p:handoutMasterId r:id="rId38"/>
  </p:handoutMasterIdLst>
  <p:sldIdLst>
    <p:sldId id="257" r:id="rId5"/>
    <p:sldId id="260" r:id="rId6"/>
    <p:sldId id="364" r:id="rId7"/>
    <p:sldId id="355" r:id="rId8"/>
    <p:sldId id="366" r:id="rId9"/>
    <p:sldId id="2147483642" r:id="rId10"/>
    <p:sldId id="359" r:id="rId11"/>
    <p:sldId id="367" r:id="rId12"/>
    <p:sldId id="274" r:id="rId13"/>
    <p:sldId id="11333" r:id="rId14"/>
    <p:sldId id="358" r:id="rId15"/>
    <p:sldId id="2147483644" r:id="rId16"/>
    <p:sldId id="2147483640" r:id="rId17"/>
    <p:sldId id="2147483641" r:id="rId18"/>
    <p:sldId id="2147483639" r:id="rId19"/>
    <p:sldId id="2147483643" r:id="rId20"/>
    <p:sldId id="2147483625" r:id="rId21"/>
    <p:sldId id="365" r:id="rId22"/>
    <p:sldId id="2147483645" r:id="rId23"/>
    <p:sldId id="2147483646" r:id="rId24"/>
    <p:sldId id="368" r:id="rId25"/>
    <p:sldId id="369" r:id="rId26"/>
    <p:sldId id="370" r:id="rId27"/>
    <p:sldId id="378" r:id="rId28"/>
    <p:sldId id="373" r:id="rId29"/>
    <p:sldId id="374" r:id="rId30"/>
    <p:sldId id="375" r:id="rId31"/>
    <p:sldId id="376" r:id="rId32"/>
    <p:sldId id="377" r:id="rId33"/>
    <p:sldId id="261" r:id="rId34"/>
    <p:sldId id="262" r:id="rId35"/>
    <p:sldId id="263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BA34E6F-2415-4546-B2F0-E04355695787}">
          <p14:sldIdLst>
            <p14:sldId id="257"/>
            <p14:sldId id="260"/>
            <p14:sldId id="364"/>
            <p14:sldId id="355"/>
            <p14:sldId id="366"/>
            <p14:sldId id="2147483642"/>
            <p14:sldId id="359"/>
            <p14:sldId id="367"/>
            <p14:sldId id="274"/>
            <p14:sldId id="11333"/>
          </p14:sldIdLst>
        </p14:section>
        <p14:section name="現況分析" id="{C362631C-A2FD-3F40-AFE3-7E58154A0B9A}">
          <p14:sldIdLst>
            <p14:sldId id="358"/>
            <p14:sldId id="2147483644"/>
            <p14:sldId id="2147483640"/>
            <p14:sldId id="2147483641"/>
            <p14:sldId id="2147483639"/>
            <p14:sldId id="2147483643"/>
            <p14:sldId id="2147483625"/>
            <p14:sldId id="365"/>
            <p14:sldId id="2147483645"/>
            <p14:sldId id="2147483646"/>
            <p14:sldId id="368"/>
            <p14:sldId id="369"/>
            <p14:sldId id="370"/>
            <p14:sldId id="378"/>
            <p14:sldId id="373"/>
            <p14:sldId id="374"/>
            <p14:sldId id="375"/>
            <p14:sldId id="376"/>
            <p14:sldId id="377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49C"/>
    <a:srgbClr val="FE8E54"/>
    <a:srgbClr val="FF2F92"/>
    <a:srgbClr val="8EFA00"/>
    <a:srgbClr val="FFD579"/>
    <a:srgbClr val="F4403A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82747-E891-4DDE-9E7D-9493D2FCACE8}" v="42" dt="2026-06-11T00:56:30.186"/>
    <p1510:client id="{D8631FDD-25B9-4EE0-A886-F6BC00A9B8BB}" v="21" dt="2026-06-10T09:48:37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1" autoAdjust="0"/>
    <p:restoredTop sz="94684" autoAdjust="0"/>
  </p:normalViewPr>
  <p:slideViewPr>
    <p:cSldViewPr snapToGrid="0" snapToObjects="1">
      <p:cViewPr varScale="1">
        <p:scale>
          <a:sx n="141" d="100"/>
          <a:sy n="141" d="100"/>
        </p:scale>
        <p:origin x="30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39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4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6A4EB9-068D-9245-B307-C286983211A2}" type="doc">
      <dgm:prSet loTypeId="urn:microsoft.com/office/officeart/2008/layout/VerticalCurvedList" loCatId="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EE3B60BE-FEB3-B94A-9F6A-228A19EC4CA4}">
      <dgm:prSet phldrT="[文字]"/>
      <dgm:spPr/>
      <dgm:t>
        <a:bodyPr/>
        <a:lstStyle/>
        <a:p>
          <a:r>
            <a:rPr lang="zh-TW" altLang="en-US" b="1" dirty="0"/>
            <a:t>專案效益</a:t>
          </a:r>
        </a:p>
      </dgm:t>
    </dgm:pt>
    <dgm:pt modelId="{9A4CCCC9-E7E3-2947-B9EB-1FA618115A71}" type="parTrans" cxnId="{9EE0C9DA-88A6-E94F-B7ED-49905CE6ADA2}">
      <dgm:prSet/>
      <dgm:spPr/>
      <dgm:t>
        <a:bodyPr/>
        <a:lstStyle/>
        <a:p>
          <a:endParaRPr lang="zh-TW" altLang="en-US"/>
        </a:p>
      </dgm:t>
    </dgm:pt>
    <dgm:pt modelId="{9E6924CB-7D61-254E-A6A9-D142EBDD3EC1}" type="sibTrans" cxnId="{9EE0C9DA-88A6-E94F-B7ED-49905CE6ADA2}">
      <dgm:prSet/>
      <dgm:spPr/>
      <dgm:t>
        <a:bodyPr/>
        <a:lstStyle/>
        <a:p>
          <a:endParaRPr lang="zh-TW" altLang="en-US"/>
        </a:p>
      </dgm:t>
    </dgm:pt>
    <dgm:pt modelId="{DBA20C9A-07BC-1F40-A5C2-504AF68B6979}">
      <dgm:prSet phldrT="[文字]"/>
      <dgm:spPr/>
      <dgm:t>
        <a:bodyPr/>
        <a:lstStyle/>
        <a:p>
          <a:r>
            <a:rPr lang="zh-TW" altLang="en-US" b="1" dirty="0">
              <a:latin typeface="+mn-ea"/>
              <a:ea typeface="+mn-ea"/>
            </a:rPr>
            <a:t>專案時程</a:t>
          </a:r>
        </a:p>
      </dgm:t>
    </dgm:pt>
    <dgm:pt modelId="{0B1C9EC7-2F66-174A-8F91-52549F13A162}" type="parTrans" cxnId="{15FC393B-9A8C-BB40-B176-556CC3502DBC}">
      <dgm:prSet/>
      <dgm:spPr/>
      <dgm:t>
        <a:bodyPr/>
        <a:lstStyle/>
        <a:p>
          <a:endParaRPr lang="zh-TW" altLang="en-US"/>
        </a:p>
      </dgm:t>
    </dgm:pt>
    <dgm:pt modelId="{C9A871E3-13EB-DD4F-8975-559D5343A8E1}" type="sibTrans" cxnId="{15FC393B-9A8C-BB40-B176-556CC3502DBC}">
      <dgm:prSet/>
      <dgm:spPr/>
      <dgm:t>
        <a:bodyPr/>
        <a:lstStyle/>
        <a:p>
          <a:endParaRPr lang="zh-TW" altLang="en-US"/>
        </a:p>
      </dgm:t>
    </dgm:pt>
    <dgm:pt modelId="{1C7ED8A1-D5A0-7D41-89ED-D9DAAA0FDB7C}" type="pres">
      <dgm:prSet presAssocID="{5C6A4EB9-068D-9245-B307-C286983211A2}" presName="Name0" presStyleCnt="0">
        <dgm:presLayoutVars>
          <dgm:chMax val="7"/>
          <dgm:chPref val="7"/>
          <dgm:dir/>
        </dgm:presLayoutVars>
      </dgm:prSet>
      <dgm:spPr/>
    </dgm:pt>
    <dgm:pt modelId="{3134A87D-7AFB-CF4F-93F6-77D554CB1DC4}" type="pres">
      <dgm:prSet presAssocID="{5C6A4EB9-068D-9245-B307-C286983211A2}" presName="Name1" presStyleCnt="0"/>
      <dgm:spPr/>
    </dgm:pt>
    <dgm:pt modelId="{40D477F7-2188-E946-8674-28248CDB6C43}" type="pres">
      <dgm:prSet presAssocID="{5C6A4EB9-068D-9245-B307-C286983211A2}" presName="cycle" presStyleCnt="0"/>
      <dgm:spPr/>
    </dgm:pt>
    <dgm:pt modelId="{E870CE43-8D3C-BB47-A8AB-1456A96097EF}" type="pres">
      <dgm:prSet presAssocID="{5C6A4EB9-068D-9245-B307-C286983211A2}" presName="srcNode" presStyleLbl="node1" presStyleIdx="0" presStyleCnt="2"/>
      <dgm:spPr/>
    </dgm:pt>
    <dgm:pt modelId="{1501CDCD-09CF-C845-9C3D-408CBA341539}" type="pres">
      <dgm:prSet presAssocID="{5C6A4EB9-068D-9245-B307-C286983211A2}" presName="conn" presStyleLbl="parChTrans1D2" presStyleIdx="0" presStyleCnt="1"/>
      <dgm:spPr/>
    </dgm:pt>
    <dgm:pt modelId="{F82EFCB5-6EC7-4548-BC7C-FB10A9509035}" type="pres">
      <dgm:prSet presAssocID="{5C6A4EB9-068D-9245-B307-C286983211A2}" presName="extraNode" presStyleLbl="node1" presStyleIdx="0" presStyleCnt="2"/>
      <dgm:spPr/>
    </dgm:pt>
    <dgm:pt modelId="{A0A82DE7-BE81-2F4B-A126-EA7CC116A986}" type="pres">
      <dgm:prSet presAssocID="{5C6A4EB9-068D-9245-B307-C286983211A2}" presName="dstNode" presStyleLbl="node1" presStyleIdx="0" presStyleCnt="2"/>
      <dgm:spPr/>
    </dgm:pt>
    <dgm:pt modelId="{CF354AE2-F83B-804A-AE94-708134191F75}" type="pres">
      <dgm:prSet presAssocID="{EE3B60BE-FEB3-B94A-9F6A-228A19EC4CA4}" presName="text_1" presStyleLbl="node1" presStyleIdx="0" presStyleCnt="2">
        <dgm:presLayoutVars>
          <dgm:bulletEnabled val="1"/>
        </dgm:presLayoutVars>
      </dgm:prSet>
      <dgm:spPr/>
    </dgm:pt>
    <dgm:pt modelId="{C8362182-22A2-DD4F-84DB-FFE3EB883629}" type="pres">
      <dgm:prSet presAssocID="{EE3B60BE-FEB3-B94A-9F6A-228A19EC4CA4}" presName="accent_1" presStyleCnt="0"/>
      <dgm:spPr/>
    </dgm:pt>
    <dgm:pt modelId="{7AF510C3-C9EF-5844-B339-24D73DC7FA56}" type="pres">
      <dgm:prSet presAssocID="{EE3B60BE-FEB3-B94A-9F6A-228A19EC4CA4}" presName="accentRepeatNode" presStyleLbl="solidFgAcc1" presStyleIdx="0" presStyleCnt="2" custScaleX="76727" custScaleY="75550"/>
      <dgm:spPr/>
    </dgm:pt>
    <dgm:pt modelId="{D0DBF0AC-7707-124C-A454-EEA92F235C19}" type="pres">
      <dgm:prSet presAssocID="{DBA20C9A-07BC-1F40-A5C2-504AF68B6979}" presName="text_2" presStyleLbl="node1" presStyleIdx="1" presStyleCnt="2">
        <dgm:presLayoutVars>
          <dgm:bulletEnabled val="1"/>
        </dgm:presLayoutVars>
      </dgm:prSet>
      <dgm:spPr/>
    </dgm:pt>
    <dgm:pt modelId="{CCE492D4-30D4-1942-AD8A-9AE3248BCEC2}" type="pres">
      <dgm:prSet presAssocID="{DBA20C9A-07BC-1F40-A5C2-504AF68B6979}" presName="accent_2" presStyleCnt="0"/>
      <dgm:spPr/>
    </dgm:pt>
    <dgm:pt modelId="{51C2DA75-287F-7345-8601-8389F2A60519}" type="pres">
      <dgm:prSet presAssocID="{DBA20C9A-07BC-1F40-A5C2-504AF68B6979}" presName="accentRepeatNode" presStyleLbl="solidFgAcc1" presStyleIdx="1" presStyleCnt="2" custScaleX="72360" custScaleY="79012"/>
      <dgm:spPr/>
    </dgm:pt>
  </dgm:ptLst>
  <dgm:cxnLst>
    <dgm:cxn modelId="{E5E58A17-B1FA-DA4C-9BFC-9BA1EB3A38C7}" type="presOf" srcId="{9E6924CB-7D61-254E-A6A9-D142EBDD3EC1}" destId="{1501CDCD-09CF-C845-9C3D-408CBA341539}" srcOrd="0" destOrd="0" presId="urn:microsoft.com/office/officeart/2008/layout/VerticalCurvedList"/>
    <dgm:cxn modelId="{15FC393B-9A8C-BB40-B176-556CC3502DBC}" srcId="{5C6A4EB9-068D-9245-B307-C286983211A2}" destId="{DBA20C9A-07BC-1F40-A5C2-504AF68B6979}" srcOrd="1" destOrd="0" parTransId="{0B1C9EC7-2F66-174A-8F91-52549F13A162}" sibTransId="{C9A871E3-13EB-DD4F-8975-559D5343A8E1}"/>
    <dgm:cxn modelId="{2E258C3B-1702-7540-821D-F5A9A707E5E2}" type="presOf" srcId="{5C6A4EB9-068D-9245-B307-C286983211A2}" destId="{1C7ED8A1-D5A0-7D41-89ED-D9DAAA0FDB7C}" srcOrd="0" destOrd="0" presId="urn:microsoft.com/office/officeart/2008/layout/VerticalCurvedList"/>
    <dgm:cxn modelId="{4C9B6F54-DB92-4345-BDB6-4E39D576C480}" type="presOf" srcId="{DBA20C9A-07BC-1F40-A5C2-504AF68B6979}" destId="{D0DBF0AC-7707-124C-A454-EEA92F235C19}" srcOrd="0" destOrd="0" presId="urn:microsoft.com/office/officeart/2008/layout/VerticalCurvedList"/>
    <dgm:cxn modelId="{FE2172C3-B55D-7344-9E29-15F53C973F14}" type="presOf" srcId="{EE3B60BE-FEB3-B94A-9F6A-228A19EC4CA4}" destId="{CF354AE2-F83B-804A-AE94-708134191F75}" srcOrd="0" destOrd="0" presId="urn:microsoft.com/office/officeart/2008/layout/VerticalCurvedList"/>
    <dgm:cxn modelId="{9EE0C9DA-88A6-E94F-B7ED-49905CE6ADA2}" srcId="{5C6A4EB9-068D-9245-B307-C286983211A2}" destId="{EE3B60BE-FEB3-B94A-9F6A-228A19EC4CA4}" srcOrd="0" destOrd="0" parTransId="{9A4CCCC9-E7E3-2947-B9EB-1FA618115A71}" sibTransId="{9E6924CB-7D61-254E-A6A9-D142EBDD3EC1}"/>
    <dgm:cxn modelId="{4AA3025F-E6FA-7B41-89A5-F13BEFA02410}" type="presParOf" srcId="{1C7ED8A1-D5A0-7D41-89ED-D9DAAA0FDB7C}" destId="{3134A87D-7AFB-CF4F-93F6-77D554CB1DC4}" srcOrd="0" destOrd="0" presId="urn:microsoft.com/office/officeart/2008/layout/VerticalCurvedList"/>
    <dgm:cxn modelId="{AC9A5B76-293D-F743-8F9D-5CBDACCE29BC}" type="presParOf" srcId="{3134A87D-7AFB-CF4F-93F6-77D554CB1DC4}" destId="{40D477F7-2188-E946-8674-28248CDB6C43}" srcOrd="0" destOrd="0" presId="urn:microsoft.com/office/officeart/2008/layout/VerticalCurvedList"/>
    <dgm:cxn modelId="{77D40555-2718-4A44-8ECB-C282E3E423D2}" type="presParOf" srcId="{40D477F7-2188-E946-8674-28248CDB6C43}" destId="{E870CE43-8D3C-BB47-A8AB-1456A96097EF}" srcOrd="0" destOrd="0" presId="urn:microsoft.com/office/officeart/2008/layout/VerticalCurvedList"/>
    <dgm:cxn modelId="{240E3D9D-9240-C64B-9868-02677EDAC33D}" type="presParOf" srcId="{40D477F7-2188-E946-8674-28248CDB6C43}" destId="{1501CDCD-09CF-C845-9C3D-408CBA341539}" srcOrd="1" destOrd="0" presId="urn:microsoft.com/office/officeart/2008/layout/VerticalCurvedList"/>
    <dgm:cxn modelId="{1A9F3656-3742-7C4D-ABFB-638DB1FCBDDF}" type="presParOf" srcId="{40D477F7-2188-E946-8674-28248CDB6C43}" destId="{F82EFCB5-6EC7-4548-BC7C-FB10A9509035}" srcOrd="2" destOrd="0" presId="urn:microsoft.com/office/officeart/2008/layout/VerticalCurvedList"/>
    <dgm:cxn modelId="{D3FD6DC6-92BA-D146-886A-1682317BA600}" type="presParOf" srcId="{40D477F7-2188-E946-8674-28248CDB6C43}" destId="{A0A82DE7-BE81-2F4B-A126-EA7CC116A986}" srcOrd="3" destOrd="0" presId="urn:microsoft.com/office/officeart/2008/layout/VerticalCurvedList"/>
    <dgm:cxn modelId="{FF16720B-EB6C-5447-9A25-DC039C8E67C3}" type="presParOf" srcId="{3134A87D-7AFB-CF4F-93F6-77D554CB1DC4}" destId="{CF354AE2-F83B-804A-AE94-708134191F75}" srcOrd="1" destOrd="0" presId="urn:microsoft.com/office/officeart/2008/layout/VerticalCurvedList"/>
    <dgm:cxn modelId="{900773B3-7417-4644-BDF9-EC6D3DDC5EBA}" type="presParOf" srcId="{3134A87D-7AFB-CF4F-93F6-77D554CB1DC4}" destId="{C8362182-22A2-DD4F-84DB-FFE3EB883629}" srcOrd="2" destOrd="0" presId="urn:microsoft.com/office/officeart/2008/layout/VerticalCurvedList"/>
    <dgm:cxn modelId="{DA7D6EE5-1B47-5F4B-AB87-05713E61E126}" type="presParOf" srcId="{C8362182-22A2-DD4F-84DB-FFE3EB883629}" destId="{7AF510C3-C9EF-5844-B339-24D73DC7FA56}" srcOrd="0" destOrd="0" presId="urn:microsoft.com/office/officeart/2008/layout/VerticalCurvedList"/>
    <dgm:cxn modelId="{FFF304E6-8714-B040-9E2C-686E3C6A9898}" type="presParOf" srcId="{3134A87D-7AFB-CF4F-93F6-77D554CB1DC4}" destId="{D0DBF0AC-7707-124C-A454-EEA92F235C19}" srcOrd="3" destOrd="0" presId="urn:microsoft.com/office/officeart/2008/layout/VerticalCurvedList"/>
    <dgm:cxn modelId="{48F70A97-5903-3F40-A0F3-500ADFE0256F}" type="presParOf" srcId="{3134A87D-7AFB-CF4F-93F6-77D554CB1DC4}" destId="{CCE492D4-30D4-1942-AD8A-9AE3248BCEC2}" srcOrd="4" destOrd="0" presId="urn:microsoft.com/office/officeart/2008/layout/VerticalCurvedList"/>
    <dgm:cxn modelId="{DEA9A7D8-35D8-C54B-8C59-86209E283179}" type="presParOf" srcId="{CCE492D4-30D4-1942-AD8A-9AE3248BCEC2}" destId="{51C2DA75-287F-7345-8601-8389F2A6051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5CC96C-9B9A-2841-8833-245240DE81A8}" type="doc">
      <dgm:prSet loTypeId="urn:microsoft.com/office/officeart/2005/8/layout/list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071493EA-39D3-6D48-BE63-340DAFDA4319}">
      <dgm:prSet phldrT="[文字]" custT="1"/>
      <dgm:spPr/>
      <dgm:t>
        <a:bodyPr/>
        <a:lstStyle/>
        <a:p>
          <a:r>
            <a:rPr lang="zh-TW" altLang="en-US" sz="2400" b="1" dirty="0"/>
            <a:t>系統營運風險</a:t>
          </a:r>
        </a:p>
      </dgm:t>
    </dgm:pt>
    <dgm:pt modelId="{67430F4E-4B78-FA4E-B2F9-865C341B5E25}" type="parTrans" cxnId="{2E08929B-C5BE-EE46-8575-F80F2715C25C}">
      <dgm:prSet/>
      <dgm:spPr/>
      <dgm:t>
        <a:bodyPr/>
        <a:lstStyle/>
        <a:p>
          <a:endParaRPr lang="zh-TW" altLang="en-US"/>
        </a:p>
      </dgm:t>
    </dgm:pt>
    <dgm:pt modelId="{36DD0353-F0BB-0442-A5ED-6632F7AF16C5}" type="sibTrans" cxnId="{2E08929B-C5BE-EE46-8575-F80F2715C25C}">
      <dgm:prSet/>
      <dgm:spPr/>
      <dgm:t>
        <a:bodyPr/>
        <a:lstStyle/>
        <a:p>
          <a:endParaRPr lang="zh-TW" altLang="en-US"/>
        </a:p>
      </dgm:t>
    </dgm:pt>
    <dgm:pt modelId="{F4953825-317E-654A-B9DD-8EEBA10CC2C5}">
      <dgm:prSet phldrT="[文字]" custT="1"/>
      <dgm:spPr/>
      <dgm:t>
        <a:bodyPr/>
        <a:lstStyle/>
        <a:p>
          <a:r>
            <a:rPr lang="zh-TW" altLang="en-US" sz="2400" b="1" dirty="0"/>
            <a:t>運營成本高</a:t>
          </a:r>
        </a:p>
      </dgm:t>
    </dgm:pt>
    <dgm:pt modelId="{787D0F6C-19AF-884C-8191-1DA2A4BD65D7}" type="parTrans" cxnId="{D5D1FD83-4D46-FB46-9504-792BD9E2C2DC}">
      <dgm:prSet/>
      <dgm:spPr/>
      <dgm:t>
        <a:bodyPr/>
        <a:lstStyle/>
        <a:p>
          <a:endParaRPr lang="zh-TW" altLang="en-US"/>
        </a:p>
      </dgm:t>
    </dgm:pt>
    <dgm:pt modelId="{BB0A7E53-9F63-424B-AB16-ED547F3834D8}" type="sibTrans" cxnId="{D5D1FD83-4D46-FB46-9504-792BD9E2C2DC}">
      <dgm:prSet/>
      <dgm:spPr/>
      <dgm:t>
        <a:bodyPr/>
        <a:lstStyle/>
        <a:p>
          <a:endParaRPr lang="zh-TW" altLang="en-US"/>
        </a:p>
      </dgm:t>
    </dgm:pt>
    <dgm:pt modelId="{D3751C40-1966-D448-B7F8-129BEB43CD04}">
      <dgm:prSet phldrT="[文字]" custT="1"/>
      <dgm:spPr/>
      <dgm:t>
        <a:bodyPr/>
        <a:lstStyle/>
        <a:p>
          <a:r>
            <a:rPr lang="en-US" altLang="zh-TW" sz="1600" dirty="0"/>
            <a:t>EDW</a:t>
          </a:r>
          <a:r>
            <a:rPr lang="zh-TW" altLang="en-US" sz="1600" dirty="0"/>
            <a:t>所使用資料庫為</a:t>
          </a:r>
          <a:r>
            <a:rPr lang="en-US" altLang="zh-TW" sz="1600" dirty="0"/>
            <a:t>18c</a:t>
          </a:r>
          <a:r>
            <a:rPr lang="zh-TW" altLang="en-US" sz="1600" dirty="0"/>
            <a:t>，</a:t>
          </a:r>
          <a:r>
            <a:rPr lang="en-US" altLang="zh-TW" sz="1600" dirty="0"/>
            <a:t>Oracle</a:t>
          </a:r>
          <a:r>
            <a:rPr lang="zh-TW" altLang="en-US" sz="1600" dirty="0"/>
            <a:t>原廠已不再支援版本更新，未來若有安全疑慮亦不會再有補丁提供。</a:t>
          </a:r>
        </a:p>
      </dgm:t>
    </dgm:pt>
    <dgm:pt modelId="{98F5EF09-E282-4E42-909F-0C5324E4ED48}" type="parTrans" cxnId="{2865F026-AE84-BD42-BF06-8E3C905957E8}">
      <dgm:prSet/>
      <dgm:spPr/>
      <dgm:t>
        <a:bodyPr/>
        <a:lstStyle/>
        <a:p>
          <a:endParaRPr lang="zh-TW" altLang="en-US"/>
        </a:p>
      </dgm:t>
    </dgm:pt>
    <dgm:pt modelId="{9AF18FC7-42FD-BD45-95DF-C3DB8691160B}" type="sibTrans" cxnId="{2865F026-AE84-BD42-BF06-8E3C905957E8}">
      <dgm:prSet/>
      <dgm:spPr/>
      <dgm:t>
        <a:bodyPr/>
        <a:lstStyle/>
        <a:p>
          <a:endParaRPr lang="zh-TW" altLang="en-US"/>
        </a:p>
      </dgm:t>
    </dgm:pt>
    <dgm:pt modelId="{E312BD2F-B302-C647-92B0-B123D2407A38}">
      <dgm:prSet phldrT="[文字]" custT="1"/>
      <dgm:spPr/>
      <dgm:t>
        <a:bodyPr/>
        <a:lstStyle/>
        <a:p>
          <a:r>
            <a:rPr lang="zh-TW" altLang="en-US" sz="1600" b="0" dirty="0"/>
            <a:t>硬體設備使用年限已近</a:t>
          </a:r>
          <a:r>
            <a:rPr lang="en-US" altLang="zh-TW" sz="1600" b="0" dirty="0"/>
            <a:t>7</a:t>
          </a:r>
          <a:r>
            <a:rPr lang="zh-TW" altLang="en-US" sz="1600" b="0" dirty="0"/>
            <a:t>年，無法滿足未來業務需求，系統運行風險提高。</a:t>
          </a:r>
        </a:p>
      </dgm:t>
    </dgm:pt>
    <dgm:pt modelId="{B29AA25C-104A-2C4B-991D-37D3CCD745C9}" type="sibTrans" cxnId="{A3C9BE46-274D-9F40-98B1-9D5033115D21}">
      <dgm:prSet/>
      <dgm:spPr/>
      <dgm:t>
        <a:bodyPr/>
        <a:lstStyle/>
        <a:p>
          <a:endParaRPr lang="zh-TW" altLang="en-US"/>
        </a:p>
      </dgm:t>
    </dgm:pt>
    <dgm:pt modelId="{687AD770-24E1-5649-9B7A-151AC40DBC14}" type="parTrans" cxnId="{A3C9BE46-274D-9F40-98B1-9D5033115D21}">
      <dgm:prSet/>
      <dgm:spPr/>
      <dgm:t>
        <a:bodyPr/>
        <a:lstStyle/>
        <a:p>
          <a:endParaRPr lang="zh-TW" altLang="en-US"/>
        </a:p>
      </dgm:t>
    </dgm:pt>
    <dgm:pt modelId="{6BA002CD-CCFE-5545-AAD0-1D6AEA3C8614}">
      <dgm:prSet phldrT="[文字]" custT="1"/>
      <dgm:spPr/>
      <dgm:t>
        <a:bodyPr/>
        <a:lstStyle/>
        <a:p>
          <a:r>
            <a:rPr lang="zh-TW" altLang="en-US" sz="1600" dirty="0"/>
            <a:t>硬體設備老舊，維護成本逐年上升。</a:t>
          </a:r>
        </a:p>
      </dgm:t>
    </dgm:pt>
    <dgm:pt modelId="{0E996081-3393-7B48-9333-2F09FD9A942F}" type="parTrans" cxnId="{AC815CBC-4CEB-1443-B755-8AE7FF7CFE97}">
      <dgm:prSet/>
      <dgm:spPr/>
      <dgm:t>
        <a:bodyPr/>
        <a:lstStyle/>
        <a:p>
          <a:endParaRPr lang="zh-TW" altLang="en-US"/>
        </a:p>
      </dgm:t>
    </dgm:pt>
    <dgm:pt modelId="{F4077183-BF59-1144-BAE9-C9DA2D6B819D}" type="sibTrans" cxnId="{AC815CBC-4CEB-1443-B755-8AE7FF7CFE97}">
      <dgm:prSet/>
      <dgm:spPr/>
      <dgm:t>
        <a:bodyPr/>
        <a:lstStyle/>
        <a:p>
          <a:endParaRPr lang="zh-TW" altLang="en-US"/>
        </a:p>
      </dgm:t>
    </dgm:pt>
    <dgm:pt modelId="{908C99F2-B192-7149-8DAB-2BB368075893}">
      <dgm:prSet phldrT="[文字]" custT="1"/>
      <dgm:spPr/>
      <dgm:t>
        <a:bodyPr/>
        <a:lstStyle/>
        <a:p>
          <a:r>
            <a:rPr lang="zh-TW" altLang="en-US" sz="1600" dirty="0"/>
            <a:t>系統各自獨立分散運行，需負擔更多的人力維護與資料庫授權維護成本。</a:t>
          </a:r>
        </a:p>
      </dgm:t>
    </dgm:pt>
    <dgm:pt modelId="{79B53395-F19E-3347-ACFB-ED97A1C7CD09}" type="parTrans" cxnId="{399D23F6-7BAB-014D-8009-589C33F430F6}">
      <dgm:prSet/>
      <dgm:spPr/>
      <dgm:t>
        <a:bodyPr/>
        <a:lstStyle/>
        <a:p>
          <a:endParaRPr lang="zh-TW" altLang="en-US"/>
        </a:p>
      </dgm:t>
    </dgm:pt>
    <dgm:pt modelId="{C1507A7E-2C7D-8F41-9D11-9B0C654F822B}" type="sibTrans" cxnId="{399D23F6-7BAB-014D-8009-589C33F430F6}">
      <dgm:prSet/>
      <dgm:spPr/>
      <dgm:t>
        <a:bodyPr/>
        <a:lstStyle/>
        <a:p>
          <a:endParaRPr lang="zh-TW" altLang="en-US"/>
        </a:p>
      </dgm:t>
    </dgm:pt>
    <dgm:pt modelId="{ACFCC78B-2341-424F-AC1D-411E55CC1666}" type="pres">
      <dgm:prSet presAssocID="{475CC96C-9B9A-2841-8833-245240DE81A8}" presName="linear" presStyleCnt="0">
        <dgm:presLayoutVars>
          <dgm:dir/>
          <dgm:animLvl val="lvl"/>
          <dgm:resizeHandles val="exact"/>
        </dgm:presLayoutVars>
      </dgm:prSet>
      <dgm:spPr/>
    </dgm:pt>
    <dgm:pt modelId="{EE75FFC9-01E5-F646-92D2-50C330334F5E}" type="pres">
      <dgm:prSet presAssocID="{071493EA-39D3-6D48-BE63-340DAFDA4319}" presName="parentLin" presStyleCnt="0"/>
      <dgm:spPr/>
    </dgm:pt>
    <dgm:pt modelId="{B65A5D76-3DAB-E34F-A53B-007EDD17FF41}" type="pres">
      <dgm:prSet presAssocID="{071493EA-39D3-6D48-BE63-340DAFDA4319}" presName="parentLeftMargin" presStyleLbl="node1" presStyleIdx="0" presStyleCnt="2"/>
      <dgm:spPr/>
    </dgm:pt>
    <dgm:pt modelId="{F0B73482-C10A-3C40-AC5E-69BEC50F121E}" type="pres">
      <dgm:prSet presAssocID="{071493EA-39D3-6D48-BE63-340DAFDA43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776E7F9-0D92-8B43-9873-04635E31B1F2}" type="pres">
      <dgm:prSet presAssocID="{071493EA-39D3-6D48-BE63-340DAFDA4319}" presName="negativeSpace" presStyleCnt="0"/>
      <dgm:spPr/>
    </dgm:pt>
    <dgm:pt modelId="{0D5D5319-F15B-E440-87A8-66B310CA4ECF}" type="pres">
      <dgm:prSet presAssocID="{071493EA-39D3-6D48-BE63-340DAFDA4319}" presName="childText" presStyleLbl="conFgAcc1" presStyleIdx="0" presStyleCnt="2" custLinFactNeighborX="-3709" custLinFactNeighborY="-6149">
        <dgm:presLayoutVars>
          <dgm:bulletEnabled val="1"/>
        </dgm:presLayoutVars>
      </dgm:prSet>
      <dgm:spPr/>
    </dgm:pt>
    <dgm:pt modelId="{70813D1B-E2B4-634E-A664-264A120A84EC}" type="pres">
      <dgm:prSet presAssocID="{36DD0353-F0BB-0442-A5ED-6632F7AF16C5}" presName="spaceBetweenRectangles" presStyleCnt="0"/>
      <dgm:spPr/>
    </dgm:pt>
    <dgm:pt modelId="{18CFCCB3-7AB9-8941-BEDD-5AF56612FDC9}" type="pres">
      <dgm:prSet presAssocID="{F4953825-317E-654A-B9DD-8EEBA10CC2C5}" presName="parentLin" presStyleCnt="0"/>
      <dgm:spPr/>
    </dgm:pt>
    <dgm:pt modelId="{11E9C987-8894-C947-8651-3FCF6DD273CF}" type="pres">
      <dgm:prSet presAssocID="{F4953825-317E-654A-B9DD-8EEBA10CC2C5}" presName="parentLeftMargin" presStyleLbl="node1" presStyleIdx="0" presStyleCnt="2"/>
      <dgm:spPr/>
    </dgm:pt>
    <dgm:pt modelId="{88ADC498-28DD-594E-8722-63C29AF75576}" type="pres">
      <dgm:prSet presAssocID="{F4953825-317E-654A-B9DD-8EEBA10CC2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B2DF714-8423-B448-B1A0-364DB433069F}" type="pres">
      <dgm:prSet presAssocID="{F4953825-317E-654A-B9DD-8EEBA10CC2C5}" presName="negativeSpace" presStyleCnt="0"/>
      <dgm:spPr/>
    </dgm:pt>
    <dgm:pt modelId="{691C7630-D609-9942-8B77-FD75B2BEACC3}" type="pres">
      <dgm:prSet presAssocID="{F4953825-317E-654A-B9DD-8EEBA10CC2C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E25CD05-9BB6-E04C-8B67-F1DED7BAAAE4}" type="presOf" srcId="{F4953825-317E-654A-B9DD-8EEBA10CC2C5}" destId="{88ADC498-28DD-594E-8722-63C29AF75576}" srcOrd="1" destOrd="0" presId="urn:microsoft.com/office/officeart/2005/8/layout/list1"/>
    <dgm:cxn modelId="{CEFAAA13-D85C-9E4B-91B4-D28E11B5A02D}" type="presOf" srcId="{D3751C40-1966-D448-B7F8-129BEB43CD04}" destId="{0D5D5319-F15B-E440-87A8-66B310CA4ECF}" srcOrd="0" destOrd="0" presId="urn:microsoft.com/office/officeart/2005/8/layout/list1"/>
    <dgm:cxn modelId="{0DCFA119-7F36-1B40-A2C9-121A63832069}" type="presOf" srcId="{071493EA-39D3-6D48-BE63-340DAFDA4319}" destId="{F0B73482-C10A-3C40-AC5E-69BEC50F121E}" srcOrd="1" destOrd="0" presId="urn:microsoft.com/office/officeart/2005/8/layout/list1"/>
    <dgm:cxn modelId="{2865F026-AE84-BD42-BF06-8E3C905957E8}" srcId="{071493EA-39D3-6D48-BE63-340DAFDA4319}" destId="{D3751C40-1966-D448-B7F8-129BEB43CD04}" srcOrd="0" destOrd="0" parTransId="{98F5EF09-E282-4E42-909F-0C5324E4ED48}" sibTransId="{9AF18FC7-42FD-BD45-95DF-C3DB8691160B}"/>
    <dgm:cxn modelId="{905C0F41-7FB2-2D4F-ACE5-101B30782AAF}" type="presOf" srcId="{071493EA-39D3-6D48-BE63-340DAFDA4319}" destId="{B65A5D76-3DAB-E34F-A53B-007EDD17FF41}" srcOrd="0" destOrd="0" presId="urn:microsoft.com/office/officeart/2005/8/layout/list1"/>
    <dgm:cxn modelId="{A3C9BE46-274D-9F40-98B1-9D5033115D21}" srcId="{071493EA-39D3-6D48-BE63-340DAFDA4319}" destId="{E312BD2F-B302-C647-92B0-B123D2407A38}" srcOrd="1" destOrd="0" parTransId="{687AD770-24E1-5649-9B7A-151AC40DBC14}" sibTransId="{B29AA25C-104A-2C4B-991D-37D3CCD745C9}"/>
    <dgm:cxn modelId="{74ED164C-B6E4-834D-B987-4BB236864A1C}" type="presOf" srcId="{475CC96C-9B9A-2841-8833-245240DE81A8}" destId="{ACFCC78B-2341-424F-AC1D-411E55CC1666}" srcOrd="0" destOrd="0" presId="urn:microsoft.com/office/officeart/2005/8/layout/list1"/>
    <dgm:cxn modelId="{9BDBBF4E-0DFA-8E4C-A902-BAE035D0E8B3}" type="presOf" srcId="{E312BD2F-B302-C647-92B0-B123D2407A38}" destId="{0D5D5319-F15B-E440-87A8-66B310CA4ECF}" srcOrd="0" destOrd="1" presId="urn:microsoft.com/office/officeart/2005/8/layout/list1"/>
    <dgm:cxn modelId="{54219083-FAB4-3746-A822-B6CFEED9A486}" type="presOf" srcId="{6BA002CD-CCFE-5545-AAD0-1D6AEA3C8614}" destId="{691C7630-D609-9942-8B77-FD75B2BEACC3}" srcOrd="0" destOrd="0" presId="urn:microsoft.com/office/officeart/2005/8/layout/list1"/>
    <dgm:cxn modelId="{D5D1FD83-4D46-FB46-9504-792BD9E2C2DC}" srcId="{475CC96C-9B9A-2841-8833-245240DE81A8}" destId="{F4953825-317E-654A-B9DD-8EEBA10CC2C5}" srcOrd="1" destOrd="0" parTransId="{787D0F6C-19AF-884C-8191-1DA2A4BD65D7}" sibTransId="{BB0A7E53-9F63-424B-AB16-ED547F3834D8}"/>
    <dgm:cxn modelId="{11414C86-D586-2F44-BA1D-D966D54C77C9}" type="presOf" srcId="{908C99F2-B192-7149-8DAB-2BB368075893}" destId="{691C7630-D609-9942-8B77-FD75B2BEACC3}" srcOrd="0" destOrd="1" presId="urn:microsoft.com/office/officeart/2005/8/layout/list1"/>
    <dgm:cxn modelId="{2E08929B-C5BE-EE46-8575-F80F2715C25C}" srcId="{475CC96C-9B9A-2841-8833-245240DE81A8}" destId="{071493EA-39D3-6D48-BE63-340DAFDA4319}" srcOrd="0" destOrd="0" parTransId="{67430F4E-4B78-FA4E-B2F9-865C341B5E25}" sibTransId="{36DD0353-F0BB-0442-A5ED-6632F7AF16C5}"/>
    <dgm:cxn modelId="{B2A961AB-B779-3344-AFA8-E1A3DEC60A01}" type="presOf" srcId="{F4953825-317E-654A-B9DD-8EEBA10CC2C5}" destId="{11E9C987-8894-C947-8651-3FCF6DD273CF}" srcOrd="0" destOrd="0" presId="urn:microsoft.com/office/officeart/2005/8/layout/list1"/>
    <dgm:cxn modelId="{AC815CBC-4CEB-1443-B755-8AE7FF7CFE97}" srcId="{F4953825-317E-654A-B9DD-8EEBA10CC2C5}" destId="{6BA002CD-CCFE-5545-AAD0-1D6AEA3C8614}" srcOrd="0" destOrd="0" parTransId="{0E996081-3393-7B48-9333-2F09FD9A942F}" sibTransId="{F4077183-BF59-1144-BAE9-C9DA2D6B819D}"/>
    <dgm:cxn modelId="{399D23F6-7BAB-014D-8009-589C33F430F6}" srcId="{F4953825-317E-654A-B9DD-8EEBA10CC2C5}" destId="{908C99F2-B192-7149-8DAB-2BB368075893}" srcOrd="1" destOrd="0" parTransId="{79B53395-F19E-3347-ACFB-ED97A1C7CD09}" sibTransId="{C1507A7E-2C7D-8F41-9D11-9B0C654F822B}"/>
    <dgm:cxn modelId="{F08ABEC4-69E3-8249-B98F-49CEC0BBB4C4}" type="presParOf" srcId="{ACFCC78B-2341-424F-AC1D-411E55CC1666}" destId="{EE75FFC9-01E5-F646-92D2-50C330334F5E}" srcOrd="0" destOrd="0" presId="urn:microsoft.com/office/officeart/2005/8/layout/list1"/>
    <dgm:cxn modelId="{68313FCF-C663-CC42-84BF-E7569B65429B}" type="presParOf" srcId="{EE75FFC9-01E5-F646-92D2-50C330334F5E}" destId="{B65A5D76-3DAB-E34F-A53B-007EDD17FF41}" srcOrd="0" destOrd="0" presId="urn:microsoft.com/office/officeart/2005/8/layout/list1"/>
    <dgm:cxn modelId="{733D4356-10D2-3645-8FD1-4BD8DEF15837}" type="presParOf" srcId="{EE75FFC9-01E5-F646-92D2-50C330334F5E}" destId="{F0B73482-C10A-3C40-AC5E-69BEC50F121E}" srcOrd="1" destOrd="0" presId="urn:microsoft.com/office/officeart/2005/8/layout/list1"/>
    <dgm:cxn modelId="{26FF019E-AEB7-8F44-8A32-E5F24A23ACB4}" type="presParOf" srcId="{ACFCC78B-2341-424F-AC1D-411E55CC1666}" destId="{2776E7F9-0D92-8B43-9873-04635E31B1F2}" srcOrd="1" destOrd="0" presId="urn:microsoft.com/office/officeart/2005/8/layout/list1"/>
    <dgm:cxn modelId="{5E2CC5F5-82B5-7A45-A233-72EB6B6D93B0}" type="presParOf" srcId="{ACFCC78B-2341-424F-AC1D-411E55CC1666}" destId="{0D5D5319-F15B-E440-87A8-66B310CA4ECF}" srcOrd="2" destOrd="0" presId="urn:microsoft.com/office/officeart/2005/8/layout/list1"/>
    <dgm:cxn modelId="{B9B0767C-9184-014B-B8BC-EC44F86B0712}" type="presParOf" srcId="{ACFCC78B-2341-424F-AC1D-411E55CC1666}" destId="{70813D1B-E2B4-634E-A664-264A120A84EC}" srcOrd="3" destOrd="0" presId="urn:microsoft.com/office/officeart/2005/8/layout/list1"/>
    <dgm:cxn modelId="{4008F53A-0ECB-1040-BCC9-49DBB1579FFA}" type="presParOf" srcId="{ACFCC78B-2341-424F-AC1D-411E55CC1666}" destId="{18CFCCB3-7AB9-8941-BEDD-5AF56612FDC9}" srcOrd="4" destOrd="0" presId="urn:microsoft.com/office/officeart/2005/8/layout/list1"/>
    <dgm:cxn modelId="{A8047CC8-A22B-744F-AC7D-E0C1C4C0AD92}" type="presParOf" srcId="{18CFCCB3-7AB9-8941-BEDD-5AF56612FDC9}" destId="{11E9C987-8894-C947-8651-3FCF6DD273CF}" srcOrd="0" destOrd="0" presId="urn:microsoft.com/office/officeart/2005/8/layout/list1"/>
    <dgm:cxn modelId="{E6AB1C07-565B-7D47-99C0-75F6D74EDC21}" type="presParOf" srcId="{18CFCCB3-7AB9-8941-BEDD-5AF56612FDC9}" destId="{88ADC498-28DD-594E-8722-63C29AF75576}" srcOrd="1" destOrd="0" presId="urn:microsoft.com/office/officeart/2005/8/layout/list1"/>
    <dgm:cxn modelId="{2B59BA16-652F-DE4C-AAB0-B068B9501A00}" type="presParOf" srcId="{ACFCC78B-2341-424F-AC1D-411E55CC1666}" destId="{9B2DF714-8423-B448-B1A0-364DB433069F}" srcOrd="5" destOrd="0" presId="urn:microsoft.com/office/officeart/2005/8/layout/list1"/>
    <dgm:cxn modelId="{1A978D0C-A213-854C-915A-4703090F360B}" type="presParOf" srcId="{ACFCC78B-2341-424F-AC1D-411E55CC1666}" destId="{691C7630-D609-9942-8B77-FD75B2BEAC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BE30CA-2FC8-604E-AF62-2FBCD068DA05}" type="doc">
      <dgm:prSet loTypeId="urn:microsoft.com/office/officeart/2008/layout/Lin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zh-TW" altLang="en-US"/>
        </a:p>
      </dgm:t>
    </dgm:pt>
    <dgm:pt modelId="{00F4E0A5-2EC6-F24A-AF33-5B319B2B793F}">
      <dgm:prSet phldrT="[文字]" custT="1"/>
      <dgm:spPr/>
      <dgm:t>
        <a:bodyPr/>
        <a:lstStyle/>
        <a:p>
          <a:r>
            <a:rPr lang="zh-TW" altLang="en-US" sz="1800" dirty="0"/>
            <a:t>更新資料庫版本，提升資料庫安全性。</a:t>
          </a:r>
        </a:p>
      </dgm:t>
    </dgm:pt>
    <dgm:pt modelId="{CE377392-103E-C94E-BEB4-0A58A27BA2E7}" type="parTrans" cxnId="{60B8729A-DA08-B44C-85AF-77BACC922DC8}">
      <dgm:prSet/>
      <dgm:spPr/>
      <dgm:t>
        <a:bodyPr/>
        <a:lstStyle/>
        <a:p>
          <a:endParaRPr lang="zh-TW" altLang="en-US" sz="2000"/>
        </a:p>
      </dgm:t>
    </dgm:pt>
    <dgm:pt modelId="{38C93C28-5D7A-7C4D-8018-0315F69528F9}" type="sibTrans" cxnId="{60B8729A-DA08-B44C-85AF-77BACC922DC8}">
      <dgm:prSet/>
      <dgm:spPr/>
      <dgm:t>
        <a:bodyPr/>
        <a:lstStyle/>
        <a:p>
          <a:endParaRPr lang="zh-TW" altLang="en-US" sz="1200"/>
        </a:p>
      </dgm:t>
    </dgm:pt>
    <dgm:pt modelId="{577DA501-3A9D-704A-9875-D236E9E64461}">
      <dgm:prSet phldrT="[文字]" custT="1"/>
      <dgm:spPr/>
      <dgm:t>
        <a:bodyPr/>
        <a:lstStyle/>
        <a:p>
          <a:r>
            <a:rPr lang="zh-TW" altLang="en-US" sz="1800" dirty="0"/>
            <a:t>採用</a:t>
          </a:r>
          <a:r>
            <a:rPr lang="en-US" altLang="zh-TW" sz="1800" dirty="0"/>
            <a:t>Oracle</a:t>
          </a:r>
          <a:r>
            <a:rPr lang="zh-TW" altLang="en-US" sz="1800" dirty="0"/>
            <a:t>一體機架構，優化系統管理與節約</a:t>
          </a:r>
          <a:r>
            <a:rPr lang="en-US" altLang="zh-TW" sz="1800" dirty="0"/>
            <a:t>Oracle</a:t>
          </a:r>
          <a:r>
            <a:rPr lang="zh-TW" altLang="en-US" sz="1800" dirty="0"/>
            <a:t>資料庫授權使用。</a:t>
          </a:r>
        </a:p>
      </dgm:t>
    </dgm:pt>
    <dgm:pt modelId="{105ADD2A-DC80-4A43-954F-9D0865649F80}" type="parTrans" cxnId="{D2752EA3-2986-D14A-896F-4FAA9E5BAABD}">
      <dgm:prSet/>
      <dgm:spPr/>
      <dgm:t>
        <a:bodyPr/>
        <a:lstStyle/>
        <a:p>
          <a:endParaRPr lang="zh-TW" altLang="en-US" sz="2000"/>
        </a:p>
      </dgm:t>
    </dgm:pt>
    <dgm:pt modelId="{DAD27469-39C9-6942-9023-84BB9F765FE6}" type="sibTrans" cxnId="{D2752EA3-2986-D14A-896F-4FAA9E5BAABD}">
      <dgm:prSet/>
      <dgm:spPr/>
      <dgm:t>
        <a:bodyPr/>
        <a:lstStyle/>
        <a:p>
          <a:endParaRPr lang="zh-TW" altLang="en-US" sz="1200"/>
        </a:p>
      </dgm:t>
    </dgm:pt>
    <dgm:pt modelId="{44271D90-C30C-FC42-85FA-B36D99C79E28}">
      <dgm:prSet phldrT="[文字]" custT="1"/>
      <dgm:spPr/>
      <dgm:t>
        <a:bodyPr/>
        <a:lstStyle/>
        <a:p>
          <a:r>
            <a:rPr lang="zh-TW" altLang="en-US" sz="1800" dirty="0"/>
            <a:t>採用</a:t>
          </a:r>
          <a:r>
            <a:rPr lang="en-US" altLang="zh-TW" sz="1800" dirty="0"/>
            <a:t>Oracle</a:t>
          </a:r>
          <a:r>
            <a:rPr lang="zh-TW" altLang="en-US" sz="1800" dirty="0"/>
            <a:t>一體機環境，兼顧系統效能與未來相關系統納入整合的擴充需求。</a:t>
          </a:r>
        </a:p>
      </dgm:t>
    </dgm:pt>
    <dgm:pt modelId="{87D29724-5975-6F43-98C9-F79D6FDB729D}" type="parTrans" cxnId="{BCAA576C-EAE4-2848-AB51-3373C511CB38}">
      <dgm:prSet/>
      <dgm:spPr/>
      <dgm:t>
        <a:bodyPr/>
        <a:lstStyle/>
        <a:p>
          <a:endParaRPr lang="zh-TW" altLang="en-US" sz="2000"/>
        </a:p>
      </dgm:t>
    </dgm:pt>
    <dgm:pt modelId="{E94CE280-9F2A-5C45-A70D-4E97F02CCE82}" type="sibTrans" cxnId="{BCAA576C-EAE4-2848-AB51-3373C511CB38}">
      <dgm:prSet/>
      <dgm:spPr/>
      <dgm:t>
        <a:bodyPr/>
        <a:lstStyle/>
        <a:p>
          <a:endParaRPr lang="zh-TW" altLang="en-US" sz="1200"/>
        </a:p>
      </dgm:t>
    </dgm:pt>
    <dgm:pt modelId="{86FFCAF8-91E3-1B4A-B33D-72FD008B5C91}" type="pres">
      <dgm:prSet presAssocID="{BBBE30CA-2FC8-604E-AF62-2FBCD068DA05}" presName="vert0" presStyleCnt="0">
        <dgm:presLayoutVars>
          <dgm:dir/>
          <dgm:animOne val="branch"/>
          <dgm:animLvl val="lvl"/>
        </dgm:presLayoutVars>
      </dgm:prSet>
      <dgm:spPr/>
    </dgm:pt>
    <dgm:pt modelId="{A2DCE3CA-4648-FD4D-AA05-40DE5AA318FB}" type="pres">
      <dgm:prSet presAssocID="{00F4E0A5-2EC6-F24A-AF33-5B319B2B793F}" presName="thickLine" presStyleLbl="alignNode1" presStyleIdx="0" presStyleCnt="3"/>
      <dgm:spPr/>
    </dgm:pt>
    <dgm:pt modelId="{D150F162-C1F6-7E4C-97E4-5F94214BC09C}" type="pres">
      <dgm:prSet presAssocID="{00F4E0A5-2EC6-F24A-AF33-5B319B2B793F}" presName="horz1" presStyleCnt="0"/>
      <dgm:spPr/>
    </dgm:pt>
    <dgm:pt modelId="{546127C0-7C42-7A4A-AD87-CCE38F707093}" type="pres">
      <dgm:prSet presAssocID="{00F4E0A5-2EC6-F24A-AF33-5B319B2B793F}" presName="tx1" presStyleLbl="revTx" presStyleIdx="0" presStyleCnt="3"/>
      <dgm:spPr/>
    </dgm:pt>
    <dgm:pt modelId="{10E0CC2E-3A76-1D47-B52F-068798585D75}" type="pres">
      <dgm:prSet presAssocID="{00F4E0A5-2EC6-F24A-AF33-5B319B2B793F}" presName="vert1" presStyleCnt="0"/>
      <dgm:spPr/>
    </dgm:pt>
    <dgm:pt modelId="{BDBE7C44-93AD-DF45-BE5A-9CEB8190ED6F}" type="pres">
      <dgm:prSet presAssocID="{577DA501-3A9D-704A-9875-D236E9E64461}" presName="thickLine" presStyleLbl="alignNode1" presStyleIdx="1" presStyleCnt="3"/>
      <dgm:spPr/>
    </dgm:pt>
    <dgm:pt modelId="{4A057530-AE44-7341-A940-F3C7849672ED}" type="pres">
      <dgm:prSet presAssocID="{577DA501-3A9D-704A-9875-D236E9E64461}" presName="horz1" presStyleCnt="0"/>
      <dgm:spPr/>
    </dgm:pt>
    <dgm:pt modelId="{B7672E8F-5BF4-7C45-AF12-AAC1CD05517E}" type="pres">
      <dgm:prSet presAssocID="{577DA501-3A9D-704A-9875-D236E9E64461}" presName="tx1" presStyleLbl="revTx" presStyleIdx="1" presStyleCnt="3"/>
      <dgm:spPr/>
    </dgm:pt>
    <dgm:pt modelId="{E9861255-C5B9-A843-BB65-C8E1A5D4BB9B}" type="pres">
      <dgm:prSet presAssocID="{577DA501-3A9D-704A-9875-D236E9E64461}" presName="vert1" presStyleCnt="0"/>
      <dgm:spPr/>
    </dgm:pt>
    <dgm:pt modelId="{32852DBF-BEE4-8E49-B8C8-042267415551}" type="pres">
      <dgm:prSet presAssocID="{44271D90-C30C-FC42-85FA-B36D99C79E28}" presName="thickLine" presStyleLbl="alignNode1" presStyleIdx="2" presStyleCnt="3"/>
      <dgm:spPr/>
    </dgm:pt>
    <dgm:pt modelId="{E02568C8-5324-204A-A77F-12A8916D3F9B}" type="pres">
      <dgm:prSet presAssocID="{44271D90-C30C-FC42-85FA-B36D99C79E28}" presName="horz1" presStyleCnt="0"/>
      <dgm:spPr/>
    </dgm:pt>
    <dgm:pt modelId="{CAE21D95-61DE-2C46-B492-270A4B7871BE}" type="pres">
      <dgm:prSet presAssocID="{44271D90-C30C-FC42-85FA-B36D99C79E28}" presName="tx1" presStyleLbl="revTx" presStyleIdx="2" presStyleCnt="3"/>
      <dgm:spPr/>
    </dgm:pt>
    <dgm:pt modelId="{BBF45F69-BDAF-BD46-A903-F978737ED6AB}" type="pres">
      <dgm:prSet presAssocID="{44271D90-C30C-FC42-85FA-B36D99C79E28}" presName="vert1" presStyleCnt="0"/>
      <dgm:spPr/>
    </dgm:pt>
  </dgm:ptLst>
  <dgm:cxnLst>
    <dgm:cxn modelId="{15ECD650-F031-404A-80CA-C9C14C33B0BE}" type="presOf" srcId="{00F4E0A5-2EC6-F24A-AF33-5B319B2B793F}" destId="{546127C0-7C42-7A4A-AD87-CCE38F707093}" srcOrd="0" destOrd="0" presId="urn:microsoft.com/office/officeart/2008/layout/LinedList"/>
    <dgm:cxn modelId="{2950855E-B95A-1B4C-BFAE-F79D5740793C}" type="presOf" srcId="{BBBE30CA-2FC8-604E-AF62-2FBCD068DA05}" destId="{86FFCAF8-91E3-1B4A-B33D-72FD008B5C91}" srcOrd="0" destOrd="0" presId="urn:microsoft.com/office/officeart/2008/layout/LinedList"/>
    <dgm:cxn modelId="{BCAA576C-EAE4-2848-AB51-3373C511CB38}" srcId="{BBBE30CA-2FC8-604E-AF62-2FBCD068DA05}" destId="{44271D90-C30C-FC42-85FA-B36D99C79E28}" srcOrd="2" destOrd="0" parTransId="{87D29724-5975-6F43-98C9-F79D6FDB729D}" sibTransId="{E94CE280-9F2A-5C45-A70D-4E97F02CCE82}"/>
    <dgm:cxn modelId="{0FF34678-7568-784C-9BE5-75CF2732EC04}" type="presOf" srcId="{44271D90-C30C-FC42-85FA-B36D99C79E28}" destId="{CAE21D95-61DE-2C46-B492-270A4B7871BE}" srcOrd="0" destOrd="0" presId="urn:microsoft.com/office/officeart/2008/layout/LinedList"/>
    <dgm:cxn modelId="{60B8729A-DA08-B44C-85AF-77BACC922DC8}" srcId="{BBBE30CA-2FC8-604E-AF62-2FBCD068DA05}" destId="{00F4E0A5-2EC6-F24A-AF33-5B319B2B793F}" srcOrd="0" destOrd="0" parTransId="{CE377392-103E-C94E-BEB4-0A58A27BA2E7}" sibTransId="{38C93C28-5D7A-7C4D-8018-0315F69528F9}"/>
    <dgm:cxn modelId="{D2752EA3-2986-D14A-896F-4FAA9E5BAABD}" srcId="{BBBE30CA-2FC8-604E-AF62-2FBCD068DA05}" destId="{577DA501-3A9D-704A-9875-D236E9E64461}" srcOrd="1" destOrd="0" parTransId="{105ADD2A-DC80-4A43-954F-9D0865649F80}" sibTransId="{DAD27469-39C9-6942-9023-84BB9F765FE6}"/>
    <dgm:cxn modelId="{D3C953D1-959C-824E-8CA3-F231C4B25E46}" type="presOf" srcId="{577DA501-3A9D-704A-9875-D236E9E64461}" destId="{B7672E8F-5BF4-7C45-AF12-AAC1CD05517E}" srcOrd="0" destOrd="0" presId="urn:microsoft.com/office/officeart/2008/layout/LinedList"/>
    <dgm:cxn modelId="{CB65E8CC-1D24-504C-BC2C-02ED163DCA67}" type="presParOf" srcId="{86FFCAF8-91E3-1B4A-B33D-72FD008B5C91}" destId="{A2DCE3CA-4648-FD4D-AA05-40DE5AA318FB}" srcOrd="0" destOrd="0" presId="urn:microsoft.com/office/officeart/2008/layout/LinedList"/>
    <dgm:cxn modelId="{49EC5327-7851-B843-B4B7-D15D66607161}" type="presParOf" srcId="{86FFCAF8-91E3-1B4A-B33D-72FD008B5C91}" destId="{D150F162-C1F6-7E4C-97E4-5F94214BC09C}" srcOrd="1" destOrd="0" presId="urn:microsoft.com/office/officeart/2008/layout/LinedList"/>
    <dgm:cxn modelId="{AE856275-0D94-9C4E-A318-7378A8885BE3}" type="presParOf" srcId="{D150F162-C1F6-7E4C-97E4-5F94214BC09C}" destId="{546127C0-7C42-7A4A-AD87-CCE38F707093}" srcOrd="0" destOrd="0" presId="urn:microsoft.com/office/officeart/2008/layout/LinedList"/>
    <dgm:cxn modelId="{1EBA64D0-D0B7-5E46-93E5-301C6316A0C8}" type="presParOf" srcId="{D150F162-C1F6-7E4C-97E4-5F94214BC09C}" destId="{10E0CC2E-3A76-1D47-B52F-068798585D75}" srcOrd="1" destOrd="0" presId="urn:microsoft.com/office/officeart/2008/layout/LinedList"/>
    <dgm:cxn modelId="{74ECA4B7-0C61-1B42-B282-4E9A38F76C63}" type="presParOf" srcId="{86FFCAF8-91E3-1B4A-B33D-72FD008B5C91}" destId="{BDBE7C44-93AD-DF45-BE5A-9CEB8190ED6F}" srcOrd="2" destOrd="0" presId="urn:microsoft.com/office/officeart/2008/layout/LinedList"/>
    <dgm:cxn modelId="{FE5EAAA4-AD76-2040-A962-B477C0122478}" type="presParOf" srcId="{86FFCAF8-91E3-1B4A-B33D-72FD008B5C91}" destId="{4A057530-AE44-7341-A940-F3C7849672ED}" srcOrd="3" destOrd="0" presId="urn:microsoft.com/office/officeart/2008/layout/LinedList"/>
    <dgm:cxn modelId="{780DCEFE-A4B9-B94F-AC32-5865E065E7A3}" type="presParOf" srcId="{4A057530-AE44-7341-A940-F3C7849672ED}" destId="{B7672E8F-5BF4-7C45-AF12-AAC1CD05517E}" srcOrd="0" destOrd="0" presId="urn:microsoft.com/office/officeart/2008/layout/LinedList"/>
    <dgm:cxn modelId="{C5B08964-9C8A-5845-9E6A-30D6636485CA}" type="presParOf" srcId="{4A057530-AE44-7341-A940-F3C7849672ED}" destId="{E9861255-C5B9-A843-BB65-C8E1A5D4BB9B}" srcOrd="1" destOrd="0" presId="urn:microsoft.com/office/officeart/2008/layout/LinedList"/>
    <dgm:cxn modelId="{964DD1C1-2CDD-B54D-A8E8-F55FFA7EEB67}" type="presParOf" srcId="{86FFCAF8-91E3-1B4A-B33D-72FD008B5C91}" destId="{32852DBF-BEE4-8E49-B8C8-042267415551}" srcOrd="4" destOrd="0" presId="urn:microsoft.com/office/officeart/2008/layout/LinedList"/>
    <dgm:cxn modelId="{9FA0DA05-B196-4A4F-8FDE-406CDAB793B3}" type="presParOf" srcId="{86FFCAF8-91E3-1B4A-B33D-72FD008B5C91}" destId="{E02568C8-5324-204A-A77F-12A8916D3F9B}" srcOrd="5" destOrd="0" presId="urn:microsoft.com/office/officeart/2008/layout/LinedList"/>
    <dgm:cxn modelId="{027B9DE0-618C-9F47-ABE4-B05FB6D58991}" type="presParOf" srcId="{E02568C8-5324-204A-A77F-12A8916D3F9B}" destId="{CAE21D95-61DE-2C46-B492-270A4B7871BE}" srcOrd="0" destOrd="0" presId="urn:microsoft.com/office/officeart/2008/layout/LinedList"/>
    <dgm:cxn modelId="{9A09E4FA-6A71-0545-83EB-0405FE72EAEF}" type="presParOf" srcId="{E02568C8-5324-204A-A77F-12A8916D3F9B}" destId="{BBF45F69-BDAF-BD46-A903-F978737ED6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6A4EB9-068D-9245-B307-C286983211A2}" type="doc">
      <dgm:prSet loTypeId="urn:microsoft.com/office/officeart/2008/layout/VerticalCurvedList" loCatId="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EE3B60BE-FEB3-B94A-9F6A-228A19EC4CA4}">
      <dgm:prSet phldrT="[文字]"/>
      <dgm:spPr/>
      <dgm:t>
        <a:bodyPr/>
        <a:lstStyle/>
        <a:p>
          <a:r>
            <a:rPr lang="en-US" altLang="zh-TW" b="1" dirty="0">
              <a:latin typeface="+mn-ea"/>
              <a:ea typeface="+mn-ea"/>
            </a:rPr>
            <a:t>EDW</a:t>
          </a:r>
          <a:r>
            <a:rPr lang="zh-TW" altLang="en-US" b="1" dirty="0">
              <a:latin typeface="+mn-ea"/>
              <a:ea typeface="+mn-ea"/>
            </a:rPr>
            <a:t> </a:t>
          </a:r>
          <a:r>
            <a:rPr lang="en-US" altLang="zh-TW" b="1" dirty="0">
              <a:latin typeface="+mn-ea"/>
              <a:ea typeface="+mn-ea"/>
            </a:rPr>
            <a:t>(IFRS) </a:t>
          </a:r>
          <a:r>
            <a:rPr lang="zh-TW" altLang="en-US" b="1" dirty="0">
              <a:latin typeface="+mn-ea"/>
              <a:ea typeface="+mn-ea"/>
            </a:rPr>
            <a:t>升級移轉</a:t>
          </a:r>
          <a:endParaRPr lang="zh-TW" altLang="en-US" b="1" dirty="0"/>
        </a:p>
      </dgm:t>
    </dgm:pt>
    <dgm:pt modelId="{9A4CCCC9-E7E3-2947-B9EB-1FA618115A71}" type="parTrans" cxnId="{9EE0C9DA-88A6-E94F-B7ED-49905CE6ADA2}">
      <dgm:prSet/>
      <dgm:spPr/>
      <dgm:t>
        <a:bodyPr/>
        <a:lstStyle/>
        <a:p>
          <a:endParaRPr lang="zh-TW" altLang="en-US"/>
        </a:p>
      </dgm:t>
    </dgm:pt>
    <dgm:pt modelId="{9E6924CB-7D61-254E-A6A9-D142EBDD3EC1}" type="sibTrans" cxnId="{9EE0C9DA-88A6-E94F-B7ED-49905CE6ADA2}">
      <dgm:prSet/>
      <dgm:spPr/>
      <dgm:t>
        <a:bodyPr/>
        <a:lstStyle/>
        <a:p>
          <a:endParaRPr lang="zh-TW" altLang="en-US"/>
        </a:p>
      </dgm:t>
    </dgm:pt>
    <dgm:pt modelId="{DBA20C9A-07BC-1F40-A5C2-504AF68B6979}">
      <dgm:prSet phldrT="[文字]"/>
      <dgm:spPr/>
      <dgm:t>
        <a:bodyPr/>
        <a:lstStyle/>
        <a:p>
          <a:r>
            <a:rPr lang="en-US" altLang="zh-TW" b="1" dirty="0">
              <a:latin typeface="+mn-ea"/>
              <a:ea typeface="+mn-ea"/>
            </a:rPr>
            <a:t>CBK</a:t>
          </a:r>
          <a:r>
            <a:rPr lang="zh-TW" altLang="en-US" b="1" dirty="0">
              <a:latin typeface="+mn-ea"/>
              <a:ea typeface="+mn-ea"/>
            </a:rPr>
            <a:t> 效能</a:t>
          </a:r>
          <a:r>
            <a:rPr lang="en-US" altLang="zh-TW" b="1" dirty="0">
              <a:latin typeface="+mn-ea"/>
              <a:ea typeface="+mn-ea"/>
            </a:rPr>
            <a:t>/</a:t>
          </a:r>
          <a:r>
            <a:rPr lang="zh-TW" altLang="en-US" b="1" dirty="0">
              <a:latin typeface="+mn-ea"/>
              <a:ea typeface="+mn-ea"/>
            </a:rPr>
            <a:t>功能驗證</a:t>
          </a:r>
        </a:p>
      </dgm:t>
    </dgm:pt>
    <dgm:pt modelId="{0B1C9EC7-2F66-174A-8F91-52549F13A162}" type="parTrans" cxnId="{15FC393B-9A8C-BB40-B176-556CC3502DBC}">
      <dgm:prSet/>
      <dgm:spPr/>
      <dgm:t>
        <a:bodyPr/>
        <a:lstStyle/>
        <a:p>
          <a:endParaRPr lang="zh-TW" altLang="en-US"/>
        </a:p>
      </dgm:t>
    </dgm:pt>
    <dgm:pt modelId="{C9A871E3-13EB-DD4F-8975-559D5343A8E1}" type="sibTrans" cxnId="{15FC393B-9A8C-BB40-B176-556CC3502DBC}">
      <dgm:prSet/>
      <dgm:spPr/>
      <dgm:t>
        <a:bodyPr/>
        <a:lstStyle/>
        <a:p>
          <a:endParaRPr lang="zh-TW" altLang="en-US"/>
        </a:p>
      </dgm:t>
    </dgm:pt>
    <dgm:pt modelId="{BA707E64-3651-C847-81A5-3BA5EEF74D1D}">
      <dgm:prSet phldrT="[文字]"/>
      <dgm:spPr/>
      <dgm:t>
        <a:bodyPr/>
        <a:lstStyle/>
        <a:p>
          <a:r>
            <a:rPr lang="zh-TW" altLang="en-US" b="1" dirty="0">
              <a:latin typeface="+mn-ea"/>
              <a:ea typeface="+mn-ea"/>
            </a:rPr>
            <a:t>專案竣工架構圖</a:t>
          </a:r>
          <a:endParaRPr lang="zh-TW" altLang="en-US" b="1" dirty="0"/>
        </a:p>
      </dgm:t>
    </dgm:pt>
    <dgm:pt modelId="{9862492E-0ADB-A541-889C-82294B39BD3A}" type="parTrans" cxnId="{1AE52B5F-8B99-A14F-ADC7-270B933BED22}">
      <dgm:prSet/>
      <dgm:spPr/>
      <dgm:t>
        <a:bodyPr/>
        <a:lstStyle/>
        <a:p>
          <a:endParaRPr lang="zh-TW" altLang="en-US"/>
        </a:p>
      </dgm:t>
    </dgm:pt>
    <dgm:pt modelId="{ACEE5998-EC67-B140-BC7B-BC318AC3A349}" type="sibTrans" cxnId="{1AE52B5F-8B99-A14F-ADC7-270B933BED22}">
      <dgm:prSet/>
      <dgm:spPr/>
      <dgm:t>
        <a:bodyPr/>
        <a:lstStyle/>
        <a:p>
          <a:endParaRPr lang="zh-TW" altLang="en-US"/>
        </a:p>
      </dgm:t>
    </dgm:pt>
    <dgm:pt modelId="{CFE95D00-DA67-4501-ADDD-F37690CB0A18}">
      <dgm:prSet phldrT="[文字]"/>
      <dgm:spPr/>
      <dgm:t>
        <a:bodyPr/>
        <a:lstStyle/>
        <a:p>
          <a:r>
            <a:rPr lang="en-US" altLang="zh-TW" b="1" dirty="0">
              <a:latin typeface="+mn-ea"/>
              <a:ea typeface="+mn-ea"/>
            </a:rPr>
            <a:t>ELN</a:t>
          </a:r>
          <a:r>
            <a:rPr lang="zh-TW" altLang="en-US" b="1" dirty="0">
              <a:latin typeface="+mn-ea"/>
              <a:ea typeface="+mn-ea"/>
            </a:rPr>
            <a:t> 移轉</a:t>
          </a:r>
        </a:p>
      </dgm:t>
    </dgm:pt>
    <dgm:pt modelId="{DAC5460F-76BA-499D-B966-829FFD649CB9}" type="parTrans" cxnId="{3718FDB9-3462-462B-902F-1E7CF57B693E}">
      <dgm:prSet/>
      <dgm:spPr/>
      <dgm:t>
        <a:bodyPr/>
        <a:lstStyle/>
        <a:p>
          <a:endParaRPr lang="zh-TW" altLang="en-US"/>
        </a:p>
      </dgm:t>
    </dgm:pt>
    <dgm:pt modelId="{E2ECAEFC-D52C-4A70-8020-B4CD623EB626}" type="sibTrans" cxnId="{3718FDB9-3462-462B-902F-1E7CF57B693E}">
      <dgm:prSet/>
      <dgm:spPr/>
      <dgm:t>
        <a:bodyPr/>
        <a:lstStyle/>
        <a:p>
          <a:endParaRPr lang="zh-TW" altLang="en-US"/>
        </a:p>
      </dgm:t>
    </dgm:pt>
    <dgm:pt modelId="{1C7ED8A1-D5A0-7D41-89ED-D9DAAA0FDB7C}" type="pres">
      <dgm:prSet presAssocID="{5C6A4EB9-068D-9245-B307-C286983211A2}" presName="Name0" presStyleCnt="0">
        <dgm:presLayoutVars>
          <dgm:chMax val="7"/>
          <dgm:chPref val="7"/>
          <dgm:dir/>
        </dgm:presLayoutVars>
      </dgm:prSet>
      <dgm:spPr/>
    </dgm:pt>
    <dgm:pt modelId="{3134A87D-7AFB-CF4F-93F6-77D554CB1DC4}" type="pres">
      <dgm:prSet presAssocID="{5C6A4EB9-068D-9245-B307-C286983211A2}" presName="Name1" presStyleCnt="0"/>
      <dgm:spPr/>
    </dgm:pt>
    <dgm:pt modelId="{40D477F7-2188-E946-8674-28248CDB6C43}" type="pres">
      <dgm:prSet presAssocID="{5C6A4EB9-068D-9245-B307-C286983211A2}" presName="cycle" presStyleCnt="0"/>
      <dgm:spPr/>
    </dgm:pt>
    <dgm:pt modelId="{E870CE43-8D3C-BB47-A8AB-1456A96097EF}" type="pres">
      <dgm:prSet presAssocID="{5C6A4EB9-068D-9245-B307-C286983211A2}" presName="srcNode" presStyleLbl="node1" presStyleIdx="0" presStyleCnt="4"/>
      <dgm:spPr/>
    </dgm:pt>
    <dgm:pt modelId="{1501CDCD-09CF-C845-9C3D-408CBA341539}" type="pres">
      <dgm:prSet presAssocID="{5C6A4EB9-068D-9245-B307-C286983211A2}" presName="conn" presStyleLbl="parChTrans1D2" presStyleIdx="0" presStyleCnt="1"/>
      <dgm:spPr/>
    </dgm:pt>
    <dgm:pt modelId="{F82EFCB5-6EC7-4548-BC7C-FB10A9509035}" type="pres">
      <dgm:prSet presAssocID="{5C6A4EB9-068D-9245-B307-C286983211A2}" presName="extraNode" presStyleLbl="node1" presStyleIdx="0" presStyleCnt="4"/>
      <dgm:spPr/>
    </dgm:pt>
    <dgm:pt modelId="{A0A82DE7-BE81-2F4B-A126-EA7CC116A986}" type="pres">
      <dgm:prSet presAssocID="{5C6A4EB9-068D-9245-B307-C286983211A2}" presName="dstNode" presStyleLbl="node1" presStyleIdx="0" presStyleCnt="4"/>
      <dgm:spPr/>
    </dgm:pt>
    <dgm:pt modelId="{CF354AE2-F83B-804A-AE94-708134191F75}" type="pres">
      <dgm:prSet presAssocID="{EE3B60BE-FEB3-B94A-9F6A-228A19EC4CA4}" presName="text_1" presStyleLbl="node1" presStyleIdx="0" presStyleCnt="4">
        <dgm:presLayoutVars>
          <dgm:bulletEnabled val="1"/>
        </dgm:presLayoutVars>
      </dgm:prSet>
      <dgm:spPr/>
    </dgm:pt>
    <dgm:pt modelId="{C8362182-22A2-DD4F-84DB-FFE3EB883629}" type="pres">
      <dgm:prSet presAssocID="{EE3B60BE-FEB3-B94A-9F6A-228A19EC4CA4}" presName="accent_1" presStyleCnt="0"/>
      <dgm:spPr/>
    </dgm:pt>
    <dgm:pt modelId="{7AF510C3-C9EF-5844-B339-24D73DC7FA56}" type="pres">
      <dgm:prSet presAssocID="{EE3B60BE-FEB3-B94A-9F6A-228A19EC4CA4}" presName="accentRepeatNode" presStyleLbl="solidFgAcc1" presStyleIdx="0" presStyleCnt="4" custScaleX="76727" custScaleY="75550"/>
      <dgm:spPr/>
    </dgm:pt>
    <dgm:pt modelId="{D0DBF0AC-7707-124C-A454-EEA92F235C19}" type="pres">
      <dgm:prSet presAssocID="{DBA20C9A-07BC-1F40-A5C2-504AF68B6979}" presName="text_2" presStyleLbl="node1" presStyleIdx="1" presStyleCnt="4">
        <dgm:presLayoutVars>
          <dgm:bulletEnabled val="1"/>
        </dgm:presLayoutVars>
      </dgm:prSet>
      <dgm:spPr/>
    </dgm:pt>
    <dgm:pt modelId="{CCE492D4-30D4-1942-AD8A-9AE3248BCEC2}" type="pres">
      <dgm:prSet presAssocID="{DBA20C9A-07BC-1F40-A5C2-504AF68B6979}" presName="accent_2" presStyleCnt="0"/>
      <dgm:spPr/>
    </dgm:pt>
    <dgm:pt modelId="{51C2DA75-287F-7345-8601-8389F2A60519}" type="pres">
      <dgm:prSet presAssocID="{DBA20C9A-07BC-1F40-A5C2-504AF68B6979}" presName="accentRepeatNode" presStyleLbl="solidFgAcc1" presStyleIdx="1" presStyleCnt="4" custScaleX="72360" custScaleY="79012"/>
      <dgm:spPr/>
    </dgm:pt>
    <dgm:pt modelId="{FCFF8BDF-ACFE-42C4-AD0C-43AC3DD2423E}" type="pres">
      <dgm:prSet presAssocID="{CFE95D00-DA67-4501-ADDD-F37690CB0A18}" presName="text_3" presStyleLbl="node1" presStyleIdx="2" presStyleCnt="4">
        <dgm:presLayoutVars>
          <dgm:bulletEnabled val="1"/>
        </dgm:presLayoutVars>
      </dgm:prSet>
      <dgm:spPr/>
    </dgm:pt>
    <dgm:pt modelId="{E4FD71A2-F598-470C-8B99-559899AC4F3F}" type="pres">
      <dgm:prSet presAssocID="{CFE95D00-DA67-4501-ADDD-F37690CB0A18}" presName="accent_3" presStyleCnt="0"/>
      <dgm:spPr/>
    </dgm:pt>
    <dgm:pt modelId="{83259FDF-8E6F-424A-9A4E-E172A1343CB1}" type="pres">
      <dgm:prSet presAssocID="{CFE95D00-DA67-4501-ADDD-F37690CB0A18}" presName="accentRepeatNode" presStyleLbl="solidFgAcc1" presStyleIdx="2" presStyleCnt="4"/>
      <dgm:spPr/>
    </dgm:pt>
    <dgm:pt modelId="{FDD227B1-0C28-4373-AD18-F24D6E96463C}" type="pres">
      <dgm:prSet presAssocID="{BA707E64-3651-C847-81A5-3BA5EEF74D1D}" presName="text_4" presStyleLbl="node1" presStyleIdx="3" presStyleCnt="4">
        <dgm:presLayoutVars>
          <dgm:bulletEnabled val="1"/>
        </dgm:presLayoutVars>
      </dgm:prSet>
      <dgm:spPr/>
    </dgm:pt>
    <dgm:pt modelId="{B96E5EE5-CE43-46AE-BF24-C2E76546A487}" type="pres">
      <dgm:prSet presAssocID="{BA707E64-3651-C847-81A5-3BA5EEF74D1D}" presName="accent_4" presStyleCnt="0"/>
      <dgm:spPr/>
    </dgm:pt>
    <dgm:pt modelId="{CBD5B451-3C9E-E448-AB75-56804B0515CE}" type="pres">
      <dgm:prSet presAssocID="{BA707E64-3651-C847-81A5-3BA5EEF74D1D}" presName="accentRepeatNode" presStyleLbl="solidFgAcc1" presStyleIdx="3" presStyleCnt="4" custScaleX="76727" custScaleY="77588"/>
      <dgm:spPr/>
    </dgm:pt>
  </dgm:ptLst>
  <dgm:cxnLst>
    <dgm:cxn modelId="{E5E58A17-B1FA-DA4C-9BFC-9BA1EB3A38C7}" type="presOf" srcId="{9E6924CB-7D61-254E-A6A9-D142EBDD3EC1}" destId="{1501CDCD-09CF-C845-9C3D-408CBA341539}" srcOrd="0" destOrd="0" presId="urn:microsoft.com/office/officeart/2008/layout/VerticalCurvedList"/>
    <dgm:cxn modelId="{15FC393B-9A8C-BB40-B176-556CC3502DBC}" srcId="{5C6A4EB9-068D-9245-B307-C286983211A2}" destId="{DBA20C9A-07BC-1F40-A5C2-504AF68B6979}" srcOrd="1" destOrd="0" parTransId="{0B1C9EC7-2F66-174A-8F91-52549F13A162}" sibTransId="{C9A871E3-13EB-DD4F-8975-559D5343A8E1}"/>
    <dgm:cxn modelId="{2E258C3B-1702-7540-821D-F5A9A707E5E2}" type="presOf" srcId="{5C6A4EB9-068D-9245-B307-C286983211A2}" destId="{1C7ED8A1-D5A0-7D41-89ED-D9DAAA0FDB7C}" srcOrd="0" destOrd="0" presId="urn:microsoft.com/office/officeart/2008/layout/VerticalCurvedList"/>
    <dgm:cxn modelId="{4C9B6F54-DB92-4345-BDB6-4E39D576C480}" type="presOf" srcId="{DBA20C9A-07BC-1F40-A5C2-504AF68B6979}" destId="{D0DBF0AC-7707-124C-A454-EEA92F235C19}" srcOrd="0" destOrd="0" presId="urn:microsoft.com/office/officeart/2008/layout/VerticalCurvedList"/>
    <dgm:cxn modelId="{1AE52B5F-8B99-A14F-ADC7-270B933BED22}" srcId="{5C6A4EB9-068D-9245-B307-C286983211A2}" destId="{BA707E64-3651-C847-81A5-3BA5EEF74D1D}" srcOrd="3" destOrd="0" parTransId="{9862492E-0ADB-A541-889C-82294B39BD3A}" sibTransId="{ACEE5998-EC67-B140-BC7B-BC318AC3A349}"/>
    <dgm:cxn modelId="{3718FDB9-3462-462B-902F-1E7CF57B693E}" srcId="{5C6A4EB9-068D-9245-B307-C286983211A2}" destId="{CFE95D00-DA67-4501-ADDD-F37690CB0A18}" srcOrd="2" destOrd="0" parTransId="{DAC5460F-76BA-499D-B966-829FFD649CB9}" sibTransId="{E2ECAEFC-D52C-4A70-8020-B4CD623EB626}"/>
    <dgm:cxn modelId="{84AD80C2-EC48-475B-BBD1-353701BC969E}" type="presOf" srcId="{BA707E64-3651-C847-81A5-3BA5EEF74D1D}" destId="{FDD227B1-0C28-4373-AD18-F24D6E96463C}" srcOrd="0" destOrd="0" presId="urn:microsoft.com/office/officeart/2008/layout/VerticalCurvedList"/>
    <dgm:cxn modelId="{FE2172C3-B55D-7344-9E29-15F53C973F14}" type="presOf" srcId="{EE3B60BE-FEB3-B94A-9F6A-228A19EC4CA4}" destId="{CF354AE2-F83B-804A-AE94-708134191F75}" srcOrd="0" destOrd="0" presId="urn:microsoft.com/office/officeart/2008/layout/VerticalCurvedList"/>
    <dgm:cxn modelId="{9EE0C9DA-88A6-E94F-B7ED-49905CE6ADA2}" srcId="{5C6A4EB9-068D-9245-B307-C286983211A2}" destId="{EE3B60BE-FEB3-B94A-9F6A-228A19EC4CA4}" srcOrd="0" destOrd="0" parTransId="{9A4CCCC9-E7E3-2947-B9EB-1FA618115A71}" sibTransId="{9E6924CB-7D61-254E-A6A9-D142EBDD3EC1}"/>
    <dgm:cxn modelId="{AB891BF1-0A1D-4E76-822A-41F03C7EE78E}" type="presOf" srcId="{CFE95D00-DA67-4501-ADDD-F37690CB0A18}" destId="{FCFF8BDF-ACFE-42C4-AD0C-43AC3DD2423E}" srcOrd="0" destOrd="0" presId="urn:microsoft.com/office/officeart/2008/layout/VerticalCurvedList"/>
    <dgm:cxn modelId="{4AA3025F-E6FA-7B41-89A5-F13BEFA02410}" type="presParOf" srcId="{1C7ED8A1-D5A0-7D41-89ED-D9DAAA0FDB7C}" destId="{3134A87D-7AFB-CF4F-93F6-77D554CB1DC4}" srcOrd="0" destOrd="0" presId="urn:microsoft.com/office/officeart/2008/layout/VerticalCurvedList"/>
    <dgm:cxn modelId="{AC9A5B76-293D-F743-8F9D-5CBDACCE29BC}" type="presParOf" srcId="{3134A87D-7AFB-CF4F-93F6-77D554CB1DC4}" destId="{40D477F7-2188-E946-8674-28248CDB6C43}" srcOrd="0" destOrd="0" presId="urn:microsoft.com/office/officeart/2008/layout/VerticalCurvedList"/>
    <dgm:cxn modelId="{77D40555-2718-4A44-8ECB-C282E3E423D2}" type="presParOf" srcId="{40D477F7-2188-E946-8674-28248CDB6C43}" destId="{E870CE43-8D3C-BB47-A8AB-1456A96097EF}" srcOrd="0" destOrd="0" presId="urn:microsoft.com/office/officeart/2008/layout/VerticalCurvedList"/>
    <dgm:cxn modelId="{240E3D9D-9240-C64B-9868-02677EDAC33D}" type="presParOf" srcId="{40D477F7-2188-E946-8674-28248CDB6C43}" destId="{1501CDCD-09CF-C845-9C3D-408CBA341539}" srcOrd="1" destOrd="0" presId="urn:microsoft.com/office/officeart/2008/layout/VerticalCurvedList"/>
    <dgm:cxn modelId="{1A9F3656-3742-7C4D-ABFB-638DB1FCBDDF}" type="presParOf" srcId="{40D477F7-2188-E946-8674-28248CDB6C43}" destId="{F82EFCB5-6EC7-4548-BC7C-FB10A9509035}" srcOrd="2" destOrd="0" presId="urn:microsoft.com/office/officeart/2008/layout/VerticalCurvedList"/>
    <dgm:cxn modelId="{D3FD6DC6-92BA-D146-886A-1682317BA600}" type="presParOf" srcId="{40D477F7-2188-E946-8674-28248CDB6C43}" destId="{A0A82DE7-BE81-2F4B-A126-EA7CC116A986}" srcOrd="3" destOrd="0" presId="urn:microsoft.com/office/officeart/2008/layout/VerticalCurvedList"/>
    <dgm:cxn modelId="{FF16720B-EB6C-5447-9A25-DC039C8E67C3}" type="presParOf" srcId="{3134A87D-7AFB-CF4F-93F6-77D554CB1DC4}" destId="{CF354AE2-F83B-804A-AE94-708134191F75}" srcOrd="1" destOrd="0" presId="urn:microsoft.com/office/officeart/2008/layout/VerticalCurvedList"/>
    <dgm:cxn modelId="{900773B3-7417-4644-BDF9-EC6D3DDC5EBA}" type="presParOf" srcId="{3134A87D-7AFB-CF4F-93F6-77D554CB1DC4}" destId="{C8362182-22A2-DD4F-84DB-FFE3EB883629}" srcOrd="2" destOrd="0" presId="urn:microsoft.com/office/officeart/2008/layout/VerticalCurvedList"/>
    <dgm:cxn modelId="{DA7D6EE5-1B47-5F4B-AB87-05713E61E126}" type="presParOf" srcId="{C8362182-22A2-DD4F-84DB-FFE3EB883629}" destId="{7AF510C3-C9EF-5844-B339-24D73DC7FA56}" srcOrd="0" destOrd="0" presId="urn:microsoft.com/office/officeart/2008/layout/VerticalCurvedList"/>
    <dgm:cxn modelId="{FFF304E6-8714-B040-9E2C-686E3C6A9898}" type="presParOf" srcId="{3134A87D-7AFB-CF4F-93F6-77D554CB1DC4}" destId="{D0DBF0AC-7707-124C-A454-EEA92F235C19}" srcOrd="3" destOrd="0" presId="urn:microsoft.com/office/officeart/2008/layout/VerticalCurvedList"/>
    <dgm:cxn modelId="{48F70A97-5903-3F40-A0F3-500ADFE0256F}" type="presParOf" srcId="{3134A87D-7AFB-CF4F-93F6-77D554CB1DC4}" destId="{CCE492D4-30D4-1942-AD8A-9AE3248BCEC2}" srcOrd="4" destOrd="0" presId="urn:microsoft.com/office/officeart/2008/layout/VerticalCurvedList"/>
    <dgm:cxn modelId="{DEA9A7D8-35D8-C54B-8C59-86209E283179}" type="presParOf" srcId="{CCE492D4-30D4-1942-AD8A-9AE3248BCEC2}" destId="{51C2DA75-287F-7345-8601-8389F2A60519}" srcOrd="0" destOrd="0" presId="urn:microsoft.com/office/officeart/2008/layout/VerticalCurvedList"/>
    <dgm:cxn modelId="{DFFEB656-0D47-4441-9169-44CAE6E3AA1E}" type="presParOf" srcId="{3134A87D-7AFB-CF4F-93F6-77D554CB1DC4}" destId="{FCFF8BDF-ACFE-42C4-AD0C-43AC3DD2423E}" srcOrd="5" destOrd="0" presId="urn:microsoft.com/office/officeart/2008/layout/VerticalCurvedList"/>
    <dgm:cxn modelId="{BD344FCB-D18F-4F2B-878A-362E0637E553}" type="presParOf" srcId="{3134A87D-7AFB-CF4F-93F6-77D554CB1DC4}" destId="{E4FD71A2-F598-470C-8B99-559899AC4F3F}" srcOrd="6" destOrd="0" presId="urn:microsoft.com/office/officeart/2008/layout/VerticalCurvedList"/>
    <dgm:cxn modelId="{32F2D4D0-0E4E-49B2-8FBC-4B32C1F6AB4D}" type="presParOf" srcId="{E4FD71A2-F598-470C-8B99-559899AC4F3F}" destId="{83259FDF-8E6F-424A-9A4E-E172A1343CB1}" srcOrd="0" destOrd="0" presId="urn:microsoft.com/office/officeart/2008/layout/VerticalCurvedList"/>
    <dgm:cxn modelId="{8F5FF2C2-98F7-4575-861F-0B1D266BD5CA}" type="presParOf" srcId="{3134A87D-7AFB-CF4F-93F6-77D554CB1DC4}" destId="{FDD227B1-0C28-4373-AD18-F24D6E96463C}" srcOrd="7" destOrd="0" presId="urn:microsoft.com/office/officeart/2008/layout/VerticalCurvedList"/>
    <dgm:cxn modelId="{AB37A06E-0D3D-478D-9CC9-DB0C242E8D80}" type="presParOf" srcId="{3134A87D-7AFB-CF4F-93F6-77D554CB1DC4}" destId="{B96E5EE5-CE43-46AE-BF24-C2E76546A487}" srcOrd="8" destOrd="0" presId="urn:microsoft.com/office/officeart/2008/layout/VerticalCurvedList"/>
    <dgm:cxn modelId="{D7E7216F-E9DE-43F4-B7DE-4616B8B6ED72}" type="presParOf" srcId="{B96E5EE5-CE43-46AE-BF24-C2E76546A487}" destId="{CBD5B451-3C9E-E448-AB75-56804B0515C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1CDCD-09CF-C845-9C3D-408CBA341539}">
      <dsp:nvSpPr>
        <dsp:cNvPr id="0" name=""/>
        <dsp:cNvSpPr/>
      </dsp:nvSpPr>
      <dsp:spPr>
        <a:xfrm>
          <a:off x="-3018866" y="-464894"/>
          <a:ext cx="3601271" cy="3601271"/>
        </a:xfrm>
        <a:prstGeom prst="blockArc">
          <a:avLst>
            <a:gd name="adj1" fmla="val 18900000"/>
            <a:gd name="adj2" fmla="val 2700000"/>
            <a:gd name="adj3" fmla="val 6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54AE2-F83B-804A-AE94-708134191F75}">
      <dsp:nvSpPr>
        <dsp:cNvPr id="0" name=""/>
        <dsp:cNvSpPr/>
      </dsp:nvSpPr>
      <dsp:spPr>
        <a:xfrm>
          <a:off x="471984" y="381647"/>
          <a:ext cx="6050711" cy="7631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78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000" b="1" kern="1200" dirty="0"/>
            <a:t>專案效益</a:t>
          </a:r>
        </a:p>
      </dsp:txBody>
      <dsp:txXfrm>
        <a:off x="471984" y="381647"/>
        <a:ext cx="6050711" cy="763188"/>
      </dsp:txXfrm>
    </dsp:sp>
    <dsp:sp modelId="{7AF510C3-C9EF-5844-B339-24D73DC7FA56}">
      <dsp:nvSpPr>
        <dsp:cNvPr id="0" name=""/>
        <dsp:cNvSpPr/>
      </dsp:nvSpPr>
      <dsp:spPr>
        <a:xfrm>
          <a:off x="106001" y="402874"/>
          <a:ext cx="731965" cy="7207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BF0AC-7707-124C-A454-EEA92F235C19}">
      <dsp:nvSpPr>
        <dsp:cNvPr id="0" name=""/>
        <dsp:cNvSpPr/>
      </dsp:nvSpPr>
      <dsp:spPr>
        <a:xfrm>
          <a:off x="471984" y="1526645"/>
          <a:ext cx="6050711" cy="7631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78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000" b="1" kern="1200" dirty="0">
              <a:latin typeface="+mn-ea"/>
              <a:ea typeface="+mn-ea"/>
            </a:rPr>
            <a:t>專案時程</a:t>
          </a:r>
        </a:p>
      </dsp:txBody>
      <dsp:txXfrm>
        <a:off x="471984" y="1526645"/>
        <a:ext cx="6050711" cy="763188"/>
      </dsp:txXfrm>
    </dsp:sp>
    <dsp:sp modelId="{51C2DA75-287F-7345-8601-8389F2A60519}">
      <dsp:nvSpPr>
        <dsp:cNvPr id="0" name=""/>
        <dsp:cNvSpPr/>
      </dsp:nvSpPr>
      <dsp:spPr>
        <a:xfrm>
          <a:off x="126831" y="1531357"/>
          <a:ext cx="690304" cy="7537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D5319-F15B-E440-87A8-66B310CA4ECF}">
      <dsp:nvSpPr>
        <dsp:cNvPr id="0" name=""/>
        <dsp:cNvSpPr/>
      </dsp:nvSpPr>
      <dsp:spPr>
        <a:xfrm>
          <a:off x="0" y="352722"/>
          <a:ext cx="8218487" cy="162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846" tIns="499872" rIns="63784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/>
            <a:t>EDW</a:t>
          </a:r>
          <a:r>
            <a:rPr lang="zh-TW" altLang="en-US" sz="1600" kern="1200" dirty="0"/>
            <a:t>所使用資料庫為</a:t>
          </a:r>
          <a:r>
            <a:rPr lang="en-US" altLang="zh-TW" sz="1600" kern="1200" dirty="0"/>
            <a:t>18c</a:t>
          </a:r>
          <a:r>
            <a:rPr lang="zh-TW" altLang="en-US" sz="1600" kern="1200" dirty="0"/>
            <a:t>，</a:t>
          </a:r>
          <a:r>
            <a:rPr lang="en-US" altLang="zh-TW" sz="1600" kern="1200" dirty="0"/>
            <a:t>Oracle</a:t>
          </a:r>
          <a:r>
            <a:rPr lang="zh-TW" altLang="en-US" sz="1600" kern="1200" dirty="0"/>
            <a:t>原廠已不再支援版本更新，未來若有安全疑慮亦不會再有補丁提供。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b="0" kern="1200" dirty="0"/>
            <a:t>硬體設備使用年限已近</a:t>
          </a:r>
          <a:r>
            <a:rPr lang="en-US" altLang="zh-TW" sz="1600" b="0" kern="1200" dirty="0"/>
            <a:t>7</a:t>
          </a:r>
          <a:r>
            <a:rPr lang="zh-TW" altLang="en-US" sz="1600" b="0" kern="1200" dirty="0"/>
            <a:t>年，無法滿足未來業務需求，系統運行風險提高。</a:t>
          </a:r>
        </a:p>
      </dsp:txBody>
      <dsp:txXfrm>
        <a:off x="0" y="352722"/>
        <a:ext cx="8218487" cy="1625400"/>
      </dsp:txXfrm>
    </dsp:sp>
    <dsp:sp modelId="{F0B73482-C10A-3C40-AC5E-69BEC50F121E}">
      <dsp:nvSpPr>
        <dsp:cNvPr id="0" name=""/>
        <dsp:cNvSpPr/>
      </dsp:nvSpPr>
      <dsp:spPr>
        <a:xfrm>
          <a:off x="410924" y="6451"/>
          <a:ext cx="5752940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447" tIns="0" rIns="21744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/>
            <a:t>系統營運風險</a:t>
          </a:r>
        </a:p>
      </dsp:txBody>
      <dsp:txXfrm>
        <a:off x="445509" y="41036"/>
        <a:ext cx="5683770" cy="639310"/>
      </dsp:txXfrm>
    </dsp:sp>
    <dsp:sp modelId="{691C7630-D609-9942-8B77-FD75B2BEACC3}">
      <dsp:nvSpPr>
        <dsp:cNvPr id="0" name=""/>
        <dsp:cNvSpPr/>
      </dsp:nvSpPr>
      <dsp:spPr>
        <a:xfrm>
          <a:off x="0" y="2469931"/>
          <a:ext cx="8218487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846" tIns="499872" rIns="63784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kern="1200" dirty="0"/>
            <a:t>硬體設備老舊，維護成本逐年上升。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kern="1200" dirty="0"/>
            <a:t>系統各自獨立分散運行，需負擔更多的人力維護與資料庫授權維護成本。</a:t>
          </a:r>
        </a:p>
      </dsp:txBody>
      <dsp:txXfrm>
        <a:off x="0" y="2469931"/>
        <a:ext cx="8218487" cy="1323000"/>
      </dsp:txXfrm>
    </dsp:sp>
    <dsp:sp modelId="{88ADC498-28DD-594E-8722-63C29AF75576}">
      <dsp:nvSpPr>
        <dsp:cNvPr id="0" name=""/>
        <dsp:cNvSpPr/>
      </dsp:nvSpPr>
      <dsp:spPr>
        <a:xfrm>
          <a:off x="410924" y="2115691"/>
          <a:ext cx="5752940" cy="70848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447" tIns="0" rIns="21744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/>
            <a:t>運營成本高</a:t>
          </a:r>
        </a:p>
      </dsp:txBody>
      <dsp:txXfrm>
        <a:off x="445509" y="2150276"/>
        <a:ext cx="5683770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CE3CA-4648-FD4D-AA05-40DE5AA318FB}">
      <dsp:nvSpPr>
        <dsp:cNvPr id="0" name=""/>
        <dsp:cNvSpPr/>
      </dsp:nvSpPr>
      <dsp:spPr>
        <a:xfrm>
          <a:off x="0" y="1190"/>
          <a:ext cx="411589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46127C0-7C42-7A4A-AD87-CCE38F707093}">
      <dsp:nvSpPr>
        <dsp:cNvPr id="0" name=""/>
        <dsp:cNvSpPr/>
      </dsp:nvSpPr>
      <dsp:spPr>
        <a:xfrm>
          <a:off x="0" y="1190"/>
          <a:ext cx="4115899" cy="811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更新資料庫版本，提升資料庫安全性。</a:t>
          </a:r>
        </a:p>
      </dsp:txBody>
      <dsp:txXfrm>
        <a:off x="0" y="1190"/>
        <a:ext cx="4115899" cy="811878"/>
      </dsp:txXfrm>
    </dsp:sp>
    <dsp:sp modelId="{BDBE7C44-93AD-DF45-BE5A-9CEB8190ED6F}">
      <dsp:nvSpPr>
        <dsp:cNvPr id="0" name=""/>
        <dsp:cNvSpPr/>
      </dsp:nvSpPr>
      <dsp:spPr>
        <a:xfrm>
          <a:off x="0" y="813069"/>
          <a:ext cx="411589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7672E8F-5BF4-7C45-AF12-AAC1CD05517E}">
      <dsp:nvSpPr>
        <dsp:cNvPr id="0" name=""/>
        <dsp:cNvSpPr/>
      </dsp:nvSpPr>
      <dsp:spPr>
        <a:xfrm>
          <a:off x="0" y="813069"/>
          <a:ext cx="4115899" cy="811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採用</a:t>
          </a:r>
          <a:r>
            <a:rPr lang="en-US" altLang="zh-TW" sz="1800" kern="1200" dirty="0"/>
            <a:t>Oracle</a:t>
          </a:r>
          <a:r>
            <a:rPr lang="zh-TW" altLang="en-US" sz="1800" kern="1200" dirty="0"/>
            <a:t>一體機架構，優化系統管理與節約</a:t>
          </a:r>
          <a:r>
            <a:rPr lang="en-US" altLang="zh-TW" sz="1800" kern="1200" dirty="0"/>
            <a:t>Oracle</a:t>
          </a:r>
          <a:r>
            <a:rPr lang="zh-TW" altLang="en-US" sz="1800" kern="1200" dirty="0"/>
            <a:t>資料庫授權使用。</a:t>
          </a:r>
        </a:p>
      </dsp:txBody>
      <dsp:txXfrm>
        <a:off x="0" y="813069"/>
        <a:ext cx="4115899" cy="811878"/>
      </dsp:txXfrm>
    </dsp:sp>
    <dsp:sp modelId="{32852DBF-BEE4-8E49-B8C8-042267415551}">
      <dsp:nvSpPr>
        <dsp:cNvPr id="0" name=""/>
        <dsp:cNvSpPr/>
      </dsp:nvSpPr>
      <dsp:spPr>
        <a:xfrm>
          <a:off x="0" y="1624947"/>
          <a:ext cx="411589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E21D95-61DE-2C46-B492-270A4B7871BE}">
      <dsp:nvSpPr>
        <dsp:cNvPr id="0" name=""/>
        <dsp:cNvSpPr/>
      </dsp:nvSpPr>
      <dsp:spPr>
        <a:xfrm>
          <a:off x="0" y="1624947"/>
          <a:ext cx="4115899" cy="811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 dirty="0"/>
            <a:t>採用</a:t>
          </a:r>
          <a:r>
            <a:rPr lang="en-US" altLang="zh-TW" sz="1800" kern="1200" dirty="0"/>
            <a:t>Oracle</a:t>
          </a:r>
          <a:r>
            <a:rPr lang="zh-TW" altLang="en-US" sz="1800" kern="1200" dirty="0"/>
            <a:t>一體機環境，兼顧系統效能與未來相關系統納入整合的擴充需求。</a:t>
          </a:r>
        </a:p>
      </dsp:txBody>
      <dsp:txXfrm>
        <a:off x="0" y="1624947"/>
        <a:ext cx="4115899" cy="8118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1CDCD-09CF-C845-9C3D-408CBA341539}">
      <dsp:nvSpPr>
        <dsp:cNvPr id="0" name=""/>
        <dsp:cNvSpPr/>
      </dsp:nvSpPr>
      <dsp:spPr>
        <a:xfrm>
          <a:off x="-4594335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54AE2-F83B-804A-AE94-708134191F75}">
      <dsp:nvSpPr>
        <dsp:cNvPr id="0" name=""/>
        <dsp:cNvSpPr/>
      </dsp:nvSpPr>
      <dsp:spPr>
        <a:xfrm>
          <a:off x="460128" y="312440"/>
          <a:ext cx="6084221" cy="6252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2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latin typeface="+mn-ea"/>
              <a:ea typeface="+mn-ea"/>
            </a:rPr>
            <a:t>EDW</a:t>
          </a:r>
          <a:r>
            <a:rPr lang="zh-TW" altLang="en-US" sz="2400" b="1" kern="1200" dirty="0">
              <a:latin typeface="+mn-ea"/>
              <a:ea typeface="+mn-ea"/>
            </a:rPr>
            <a:t> </a:t>
          </a:r>
          <a:r>
            <a:rPr lang="en-US" altLang="zh-TW" sz="2400" b="1" kern="1200" dirty="0">
              <a:latin typeface="+mn-ea"/>
              <a:ea typeface="+mn-ea"/>
            </a:rPr>
            <a:t>(IFRS) </a:t>
          </a:r>
          <a:r>
            <a:rPr lang="zh-TW" altLang="en-US" sz="2400" b="1" kern="1200" dirty="0">
              <a:latin typeface="+mn-ea"/>
              <a:ea typeface="+mn-ea"/>
            </a:rPr>
            <a:t>升級移轉</a:t>
          </a:r>
          <a:endParaRPr lang="zh-TW" altLang="en-US" sz="2400" b="1" kern="1200" dirty="0"/>
        </a:p>
      </dsp:txBody>
      <dsp:txXfrm>
        <a:off x="460128" y="312440"/>
        <a:ext cx="6084221" cy="625205"/>
      </dsp:txXfrm>
    </dsp:sp>
    <dsp:sp modelId="{7AF510C3-C9EF-5844-B339-24D73DC7FA56}">
      <dsp:nvSpPr>
        <dsp:cNvPr id="0" name=""/>
        <dsp:cNvSpPr/>
      </dsp:nvSpPr>
      <dsp:spPr>
        <a:xfrm>
          <a:off x="160315" y="329828"/>
          <a:ext cx="599627" cy="5904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BF0AC-7707-124C-A454-EEA92F235C19}">
      <dsp:nvSpPr>
        <dsp:cNvPr id="0" name=""/>
        <dsp:cNvSpPr/>
      </dsp:nvSpPr>
      <dsp:spPr>
        <a:xfrm>
          <a:off x="818573" y="1250411"/>
          <a:ext cx="5725777" cy="6252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2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latin typeface="+mn-ea"/>
              <a:ea typeface="+mn-ea"/>
            </a:rPr>
            <a:t>CBK</a:t>
          </a:r>
          <a:r>
            <a:rPr lang="zh-TW" altLang="en-US" sz="2400" b="1" kern="1200" dirty="0">
              <a:latin typeface="+mn-ea"/>
              <a:ea typeface="+mn-ea"/>
            </a:rPr>
            <a:t> 效能</a:t>
          </a:r>
          <a:r>
            <a:rPr lang="en-US" altLang="zh-TW" sz="2400" b="1" kern="1200" dirty="0">
              <a:latin typeface="+mn-ea"/>
              <a:ea typeface="+mn-ea"/>
            </a:rPr>
            <a:t>/</a:t>
          </a:r>
          <a:r>
            <a:rPr lang="zh-TW" altLang="en-US" sz="2400" b="1" kern="1200" dirty="0">
              <a:latin typeface="+mn-ea"/>
              <a:ea typeface="+mn-ea"/>
            </a:rPr>
            <a:t>功能驗證</a:t>
          </a:r>
        </a:p>
      </dsp:txBody>
      <dsp:txXfrm>
        <a:off x="818573" y="1250411"/>
        <a:ext cx="5725777" cy="625205"/>
      </dsp:txXfrm>
    </dsp:sp>
    <dsp:sp modelId="{51C2DA75-287F-7345-8601-8389F2A60519}">
      <dsp:nvSpPr>
        <dsp:cNvPr id="0" name=""/>
        <dsp:cNvSpPr/>
      </dsp:nvSpPr>
      <dsp:spPr>
        <a:xfrm>
          <a:off x="535824" y="1254272"/>
          <a:ext cx="565498" cy="6174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F8BDF-ACFE-42C4-AD0C-43AC3DD2423E}">
      <dsp:nvSpPr>
        <dsp:cNvPr id="0" name=""/>
        <dsp:cNvSpPr/>
      </dsp:nvSpPr>
      <dsp:spPr>
        <a:xfrm>
          <a:off x="818573" y="2188382"/>
          <a:ext cx="5725777" cy="6252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2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latin typeface="+mn-ea"/>
              <a:ea typeface="+mn-ea"/>
            </a:rPr>
            <a:t>ELN</a:t>
          </a:r>
          <a:r>
            <a:rPr lang="zh-TW" altLang="en-US" sz="2400" b="1" kern="1200" dirty="0">
              <a:latin typeface="+mn-ea"/>
              <a:ea typeface="+mn-ea"/>
            </a:rPr>
            <a:t> 移轉</a:t>
          </a:r>
        </a:p>
      </dsp:txBody>
      <dsp:txXfrm>
        <a:off x="818573" y="2188382"/>
        <a:ext cx="5725777" cy="625205"/>
      </dsp:txXfrm>
    </dsp:sp>
    <dsp:sp modelId="{83259FDF-8E6F-424A-9A4E-E172A1343CB1}">
      <dsp:nvSpPr>
        <dsp:cNvPr id="0" name=""/>
        <dsp:cNvSpPr/>
      </dsp:nvSpPr>
      <dsp:spPr>
        <a:xfrm>
          <a:off x="427819" y="2110232"/>
          <a:ext cx="781507" cy="7815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227B1-0C28-4373-AD18-F24D6E96463C}">
      <dsp:nvSpPr>
        <dsp:cNvPr id="0" name=""/>
        <dsp:cNvSpPr/>
      </dsp:nvSpPr>
      <dsp:spPr>
        <a:xfrm>
          <a:off x="460128" y="3126353"/>
          <a:ext cx="6084221" cy="6252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2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+mn-ea"/>
              <a:ea typeface="+mn-ea"/>
            </a:rPr>
            <a:t>專案竣工架構圖</a:t>
          </a:r>
          <a:endParaRPr lang="zh-TW" altLang="en-US" sz="2400" b="1" kern="1200" dirty="0"/>
        </a:p>
      </dsp:txBody>
      <dsp:txXfrm>
        <a:off x="460128" y="3126353"/>
        <a:ext cx="6084221" cy="625205"/>
      </dsp:txXfrm>
    </dsp:sp>
    <dsp:sp modelId="{CBD5B451-3C9E-E448-AB75-56804B0515CE}">
      <dsp:nvSpPr>
        <dsp:cNvPr id="0" name=""/>
        <dsp:cNvSpPr/>
      </dsp:nvSpPr>
      <dsp:spPr>
        <a:xfrm>
          <a:off x="160315" y="3135778"/>
          <a:ext cx="599627" cy="6063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E3E3F-55A1-8741-B536-1935E8E759C9}" type="datetimeFigureOut">
              <a:rPr kumimoji="1" lang="zh-TW" altLang="en-US" smtClean="0"/>
              <a:t>2026/6/11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4EEA7-CD80-AC44-A454-D40DB384F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4805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A6891-9723-1546-876C-60FAD9A729A2}" type="datetimeFigureOut">
              <a:rPr kumimoji="1" lang="zh-TW" altLang="en-US" smtClean="0"/>
              <a:t>2026/6/11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8EACE-A153-3747-9CF7-A7DA5648758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95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非預期性停機風險</a:t>
            </a:r>
            <a:endParaRPr lang="en-US" altLang="zh-TW" dirty="0"/>
          </a:p>
          <a:p>
            <a:r>
              <a:rPr lang="zh-TW" altLang="zh-TW" dirty="0"/>
              <a:t>硬體故障率升，面臨系統停機與資料遺失之高風險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8EACE-A153-3747-9CF7-A7DA5648758A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247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同業普遍皆已採用</a:t>
            </a:r>
            <a:r>
              <a:rPr lang="en-US" altLang="zh-TW" dirty="0"/>
              <a:t>Exadata</a:t>
            </a:r>
            <a:r>
              <a:rPr lang="zh-TW" altLang="en-US" dirty="0"/>
              <a:t>運行</a:t>
            </a:r>
            <a:r>
              <a:rPr lang="en-US" altLang="zh-TW" dirty="0"/>
              <a:t>ODS</a:t>
            </a:r>
            <a:r>
              <a:rPr lang="zh-TW" altLang="en-US" dirty="0"/>
              <a:t>與</a:t>
            </a:r>
            <a:r>
              <a:rPr lang="en-US" altLang="zh-TW" dirty="0"/>
              <a:t>EDW</a:t>
            </a:r>
            <a:r>
              <a:rPr lang="zh-TW" altLang="en-US" dirty="0"/>
              <a:t>的</a:t>
            </a:r>
            <a:r>
              <a:rPr lang="en-US" altLang="zh-TW" dirty="0"/>
              <a:t>Oracle</a:t>
            </a:r>
            <a:r>
              <a:rPr lang="zh-TW" altLang="en-US" dirty="0"/>
              <a:t>資料庫環境趨勢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節約釋出的授權可供新系統或非</a:t>
            </a:r>
            <a:r>
              <a:rPr lang="en-US" altLang="zh-TW" sz="1200" dirty="0"/>
              <a:t>Oracle</a:t>
            </a:r>
            <a:r>
              <a:rPr lang="zh-TW" altLang="en-US" sz="1200" dirty="0"/>
              <a:t>資料庫彈性運用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同業核心系統亦多數建置於</a:t>
            </a:r>
            <a:r>
              <a:rPr lang="en-US" altLang="zh-TW" sz="1200" dirty="0"/>
              <a:t>Exadata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其他如</a:t>
            </a:r>
            <a:r>
              <a:rPr lang="en-US" altLang="zh-TW" sz="1200" dirty="0"/>
              <a:t>ELN</a:t>
            </a:r>
            <a:r>
              <a:rPr lang="zh-TW" altLang="en-US" sz="1200" dirty="0"/>
              <a:t>、</a:t>
            </a:r>
            <a:r>
              <a:rPr lang="en-US" altLang="zh-TW" sz="1200" dirty="0"/>
              <a:t>UOR</a:t>
            </a:r>
            <a:r>
              <a:rPr lang="zh-TW" altLang="en-US" sz="1200" dirty="0"/>
              <a:t>等系統未來皆可考慮整合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8EACE-A153-3747-9CF7-A7DA5648758A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3450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D0E9F1-0C41-4AD2-823E-493C58030C0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327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BCFB-6C02-11A0-5A48-5F6F808A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768ADB3-889E-8806-2904-92FA1AE44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1B0117-8512-8ABB-9EA9-86AD35D29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B63C68-5860-9D82-4AE7-D435025E0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D0E9F1-0C41-4AD2-823E-493C58030C0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341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43C7-1F6B-850B-8213-8032C650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774395-4B45-F8E6-5934-EA3BADBEA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20FD61-3928-CF86-B56F-3884FB2E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A5D637-E66D-94A7-9A0A-5D3589842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11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3CF98-CC88-B8BA-6679-BC80D489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874EF6C-497C-3703-BD19-D2FAF573C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FC012E-3361-34F2-F6F7-A461FBB8D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F495E-FA5E-90E1-7D41-AD60DB8B4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82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8EACE-A153-3747-9CF7-A7DA5648758A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959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5062CE3-7DFB-925C-2A21-0FE6A47C1B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19" y="0"/>
            <a:ext cx="9168423" cy="5163270"/>
          </a:xfrm>
          <a:prstGeom prst="rect">
            <a:avLst/>
          </a:prstGeom>
        </p:spPr>
      </p:pic>
      <p:sp>
        <p:nvSpPr>
          <p:cNvPr id="9" name="文字版面配置區 2"/>
          <p:cNvSpPr>
            <a:spLocks noGrp="1"/>
          </p:cNvSpPr>
          <p:nvPr>
            <p:ph type="body" idx="13"/>
          </p:nvPr>
        </p:nvSpPr>
        <p:spPr>
          <a:xfrm>
            <a:off x="467544" y="4155926"/>
            <a:ext cx="4104456" cy="4050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rgbClr val="FF000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文字版面配置區 2"/>
          <p:cNvSpPr>
            <a:spLocks noGrp="1"/>
          </p:cNvSpPr>
          <p:nvPr>
            <p:ph type="body" idx="14"/>
          </p:nvPr>
        </p:nvSpPr>
        <p:spPr>
          <a:xfrm>
            <a:off x="467544" y="3363838"/>
            <a:ext cx="7772400" cy="69309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2" name="圖片 11" descr="metaage ppt-05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8264" y="195486"/>
            <a:ext cx="2088232" cy="355444"/>
          </a:xfrm>
          <a:prstGeom prst="rect">
            <a:avLst/>
          </a:prstGeom>
        </p:spPr>
      </p:pic>
      <p:pic>
        <p:nvPicPr>
          <p:cNvPr id="11" name="圖片 10" descr="metaage ppt-11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83186" y="2355726"/>
            <a:ext cx="4338302" cy="5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單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螢幕擷取畫面, 平面設計, 圖形 的圖片&#10;&#10;AI 產生的內容可能不正確。">
            <a:extLst>
              <a:ext uri="{FF2B5EF4-FFF2-40B4-BE49-F238E27FC236}">
                <a16:creationId xmlns:a16="http://schemas.microsoft.com/office/drawing/2014/main" id="{D0F28AD5-CD6A-2864-08C1-2818476F14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5399"/>
            <a:ext cx="9144000" cy="5168900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203598"/>
            <a:ext cx="8219256" cy="3243807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defRPr sz="2000"/>
            </a:lvl1pPr>
            <a:lvl2pPr>
              <a:lnSpc>
                <a:spcPct val="130000"/>
              </a:lnSpc>
              <a:defRPr sz="18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800"/>
            </a:lvl4pPr>
            <a:lvl5pPr>
              <a:lnSpc>
                <a:spcPct val="130000"/>
              </a:lnSpc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2"/>
          <p:cNvSpPr>
            <a:spLocks noGrp="1"/>
          </p:cNvSpPr>
          <p:nvPr>
            <p:ph type="body" idx="14"/>
          </p:nvPr>
        </p:nvSpPr>
        <p:spPr>
          <a:xfrm>
            <a:off x="467544" y="339502"/>
            <a:ext cx="8208912" cy="69309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投影片編號版面配置區 13"/>
          <p:cNvSpPr txBox="1">
            <a:spLocks/>
          </p:cNvSpPr>
          <p:nvPr userDrawn="1"/>
        </p:nvSpPr>
        <p:spPr>
          <a:xfrm>
            <a:off x="8316416" y="4371950"/>
            <a:ext cx="6934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B06542-409F-2D49-B80D-8534074B195D}" type="slidenum">
              <a:rPr kumimoji="1" lang="zh-TW" altLang="en-US" sz="110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kumimoji="1" lang="zh-TW" alt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895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/>
          <p:cNvSpPr>
            <a:spLocks noGrp="1"/>
          </p:cNvSpPr>
          <p:nvPr>
            <p:ph sz="half" idx="1"/>
          </p:nvPr>
        </p:nvSpPr>
        <p:spPr>
          <a:xfrm>
            <a:off x="467544" y="1203598"/>
            <a:ext cx="4028256" cy="3240360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defRPr sz="2000"/>
            </a:lvl1pPr>
            <a:lvl2pPr>
              <a:lnSpc>
                <a:spcPct val="130000"/>
              </a:lnSpc>
              <a:defRPr sz="18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800"/>
            </a:lvl4pPr>
            <a:lvl5pPr>
              <a:lnSpc>
                <a:spcPct val="13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3598"/>
            <a:ext cx="4028256" cy="3240360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defRPr sz="2000"/>
            </a:lvl1pPr>
            <a:lvl2pPr>
              <a:lnSpc>
                <a:spcPct val="130000"/>
              </a:lnSpc>
              <a:defRPr sz="18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800"/>
            </a:lvl4pPr>
            <a:lvl5pPr>
              <a:lnSpc>
                <a:spcPct val="13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2"/>
          <p:cNvSpPr>
            <a:spLocks noGrp="1"/>
          </p:cNvSpPr>
          <p:nvPr>
            <p:ph type="body" idx="14"/>
          </p:nvPr>
        </p:nvSpPr>
        <p:spPr>
          <a:xfrm>
            <a:off x="467544" y="339502"/>
            <a:ext cx="8208912" cy="69309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投影片編號版面配置區 13"/>
          <p:cNvSpPr txBox="1">
            <a:spLocks/>
          </p:cNvSpPr>
          <p:nvPr userDrawn="1"/>
        </p:nvSpPr>
        <p:spPr>
          <a:xfrm>
            <a:off x="8316416" y="4371950"/>
            <a:ext cx="6934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B06542-409F-2D49-B80D-8534074B195D}" type="slidenum">
              <a:rPr kumimoji="1" lang="zh-TW" altLang="en-US" sz="110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kumimoji="1" lang="zh-TW" alt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3" name="圖片 2" descr="一張含有 文字, 螢幕擷取畫面, 平面設計, 圖形 的圖片&#10;&#10;AI 產生的內容可能不正確。">
            <a:extLst>
              <a:ext uri="{FF2B5EF4-FFF2-40B4-BE49-F238E27FC236}">
                <a16:creationId xmlns:a16="http://schemas.microsoft.com/office/drawing/2014/main" id="{108A9765-268B-2E7B-FAAB-1D8B86AE50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1100"/>
            <a:ext cx="91440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平面設計, 圖形 的圖片&#10;&#10;AI 產生的內容可能不正確。">
            <a:extLst>
              <a:ext uri="{FF2B5EF4-FFF2-40B4-BE49-F238E27FC236}">
                <a16:creationId xmlns:a16="http://schemas.microsoft.com/office/drawing/2014/main" id="{AC9829F8-04C3-3BDC-F262-B94D9DCB57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1100"/>
            <a:ext cx="9144000" cy="51689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722313" y="2427734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8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1118244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9" name="投影片編號版面配置區 13"/>
          <p:cNvSpPr txBox="1">
            <a:spLocks/>
          </p:cNvSpPr>
          <p:nvPr userDrawn="1"/>
        </p:nvSpPr>
        <p:spPr>
          <a:xfrm>
            <a:off x="8316416" y="4371950"/>
            <a:ext cx="6934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B06542-409F-2D49-B80D-8534074B195D}" type="slidenum">
              <a:rPr kumimoji="1" lang="zh-TW" altLang="en-US" sz="110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kumimoji="1" lang="zh-TW" alt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平面設計, 圖形 的圖片&#10;&#10;AI 產生的內容可能不正確。">
            <a:extLst>
              <a:ext uri="{FF2B5EF4-FFF2-40B4-BE49-F238E27FC236}">
                <a16:creationId xmlns:a16="http://schemas.microsoft.com/office/drawing/2014/main" id="{52819545-2A07-40F2-FABB-67444C65DB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1100"/>
            <a:ext cx="91440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強調頁面-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3"/>
          <p:cNvSpPr txBox="1">
            <a:spLocks/>
          </p:cNvSpPr>
          <p:nvPr userDrawn="1"/>
        </p:nvSpPr>
        <p:spPr>
          <a:xfrm>
            <a:off x="8316416" y="4731990"/>
            <a:ext cx="6934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B06542-409F-2D49-B80D-8534074B195D}" type="slidenum">
              <a:rPr kumimoji="1" lang="zh-TW" alt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kumimoji="1" lang="zh-TW" altLang="en-US" sz="11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圖片 3" descr="一張含有 螢幕擷取畫面, 建築, 紅色 的圖片&#10;&#10;AI 產生的內容可能不正確。">
            <a:extLst>
              <a:ext uri="{FF2B5EF4-FFF2-40B4-BE49-F238E27FC236}">
                <a16:creationId xmlns:a16="http://schemas.microsoft.com/office/drawing/2014/main" id="{8D22F98F-E93E-5AE4-0B54-ED02F3329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01" y="0"/>
            <a:ext cx="914681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強調頁面-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13"/>
          <p:cNvSpPr txBox="1">
            <a:spLocks/>
          </p:cNvSpPr>
          <p:nvPr userDrawn="1"/>
        </p:nvSpPr>
        <p:spPr>
          <a:xfrm>
            <a:off x="8316416" y="4731990"/>
            <a:ext cx="6934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B06542-409F-2D49-B80D-8534074B195D}" type="slidenum">
              <a:rPr kumimoji="1" lang="zh-TW" alt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kumimoji="1" lang="zh-TW" altLang="en-US" sz="11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圖片 3" descr="一張含有 建築, 螢幕擷取畫面, 對稱, 摩天大樓 的圖片&#10;&#10;AI 產生的內容可能不正確。">
            <a:extLst>
              <a:ext uri="{FF2B5EF4-FFF2-40B4-BE49-F238E27FC236}">
                <a16:creationId xmlns:a16="http://schemas.microsoft.com/office/drawing/2014/main" id="{D40C1288-000C-951A-3D1A-304DA78636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914681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強調頁面-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建築, 設計, 藝術 的圖片&#10;&#10;AI 產生的內容可能不正確。">
            <a:extLst>
              <a:ext uri="{FF2B5EF4-FFF2-40B4-BE49-F238E27FC236}">
                <a16:creationId xmlns:a16="http://schemas.microsoft.com/office/drawing/2014/main" id="{097CF32C-0D48-A776-04CB-AD34CE8E6F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914681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高層建築物, 大都會區, 霧, 大都會 的圖片&#10;&#10;AI 產生的內容可能不正確。">
            <a:extLst>
              <a:ext uri="{FF2B5EF4-FFF2-40B4-BE49-F238E27FC236}">
                <a16:creationId xmlns:a16="http://schemas.microsoft.com/office/drawing/2014/main" id="{026F5AC2-220B-1BB3-3E97-3EA7FDCB8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00" y="0"/>
            <a:ext cx="91019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單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A5B88E6-5E56-68DA-09AF-5A20FF556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5871"/>
            <a:ext cx="9144000" cy="5151119"/>
          </a:xfrm>
          <a:prstGeom prst="rect">
            <a:avLst/>
          </a:prstGeom>
        </p:spPr>
      </p:pic>
      <p:sp>
        <p:nvSpPr>
          <p:cNvPr id="8" name="文字版面配置區 2"/>
          <p:cNvSpPr>
            <a:spLocks noGrp="1"/>
          </p:cNvSpPr>
          <p:nvPr>
            <p:ph type="body" idx="14"/>
          </p:nvPr>
        </p:nvSpPr>
        <p:spPr>
          <a:xfrm>
            <a:off x="467544" y="339502"/>
            <a:ext cx="8208912" cy="6930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999" b="1">
                <a:solidFill>
                  <a:srgbClr val="026AB6"/>
                </a:solidFill>
              </a:defRPr>
            </a:lvl1pPr>
            <a:lvl2pPr marL="45708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4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5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6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投影片編號版面配置區 13"/>
          <p:cNvSpPr txBox="1">
            <a:spLocks/>
          </p:cNvSpPr>
          <p:nvPr userDrawn="1"/>
        </p:nvSpPr>
        <p:spPr>
          <a:xfrm>
            <a:off x="8424000" y="4860001"/>
            <a:ext cx="693440" cy="274637"/>
          </a:xfrm>
          <a:prstGeom prst="rect">
            <a:avLst/>
          </a:prstGeom>
        </p:spPr>
        <p:txBody>
          <a:bodyPr vert="horz" lIns="91416" tIns="45708" rIns="91416" bIns="45708" rtlCol="0" anchor="ctr"/>
          <a:lstStyle>
            <a:defPPr>
              <a:defRPr lang="zh-TW"/>
            </a:defPPr>
            <a:lvl1pPr marL="0" algn="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B06542-409F-2D49-B80D-8534074B195D}" type="slidenum">
              <a:rPr kumimoji="1" lang="zh-TW" altLang="en-US" sz="110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kumimoji="1" lang="zh-TW" altLang="en-US" sz="11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061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CFFDB-776E-E991-6CAA-82DD0F2C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30" y="13692"/>
            <a:ext cx="7886700" cy="641287"/>
          </a:xfrm>
        </p:spPr>
        <p:txBody>
          <a:bodyPr>
            <a:normAutofit/>
          </a:bodyPr>
          <a:lstStyle>
            <a:lvl1pPr>
              <a:defRPr sz="315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4BF7A0-411F-576C-46C5-2C9098354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85523-762A-8B84-3062-CAF645A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CC46-72AD-4D10-9E6D-0AAA2FC30EBD}" type="datetime1">
              <a:rPr kumimoji="1" lang="zh-TW" altLang="en-US" smtClean="0"/>
              <a:t>2026/6/11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567F8D-2E18-F176-4A7A-DD57DC9C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262C35-64B8-0AE3-1B25-84481D56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72FA54-1B24-C9E2-689C-AE2CD71B8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70486" y="102394"/>
            <a:ext cx="1157288" cy="28796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713AAA7-FB99-C482-300B-6C7A7B761609}"/>
              </a:ext>
            </a:extLst>
          </p:cNvPr>
          <p:cNvSpPr/>
          <p:nvPr userDrawn="1"/>
        </p:nvSpPr>
        <p:spPr>
          <a:xfrm>
            <a:off x="123932" y="-30822"/>
            <a:ext cx="122648" cy="6858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30990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64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5" r:id="rId10"/>
    <p:sldLayoutId id="214749346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emf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7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5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7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5.png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21.xml"/><Relationship Id="rId7" Type="http://schemas.openxmlformats.org/officeDocument/2006/relationships/image" Target="../media/image19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mailto:samuelyen@metaage.com.tw" TargetMode="External"/><Relationship Id="rId3" Type="http://schemas.openxmlformats.org/officeDocument/2006/relationships/hyperlink" Target="mailto:doohansu@metaage.com.tw" TargetMode="External"/><Relationship Id="rId7" Type="http://schemas.openxmlformats.org/officeDocument/2006/relationships/hyperlink" Target="mailto:calvin.yuan@oracle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ennytung@metaage.com.tw" TargetMode="External"/><Relationship Id="rId5" Type="http://schemas.openxmlformats.org/officeDocument/2006/relationships/hyperlink" Target="mailto:headdyjhen@metaage.com.tw" TargetMode="External"/><Relationship Id="rId4" Type="http://schemas.openxmlformats.org/officeDocument/2006/relationships/hyperlink" Target="mailto:cwshih@metaage.com.tw" TargetMode="External"/><Relationship Id="rId9" Type="http://schemas.openxmlformats.org/officeDocument/2006/relationships/hyperlink" Target="mailto:hughwu@metaage.com.tw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jesselin@metaage.com.tw" TargetMode="External"/><Relationship Id="rId2" Type="http://schemas.openxmlformats.org/officeDocument/2006/relationships/hyperlink" Target="mailto:charleskuo@metaage.com.t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harlieting@metaage.com.tw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4"/>
          </p:nvPr>
        </p:nvSpPr>
        <p:spPr>
          <a:xfrm>
            <a:off x="467544" y="2951459"/>
            <a:ext cx="7772400" cy="1252987"/>
          </a:xfrm>
        </p:spPr>
        <p:txBody>
          <a:bodyPr>
            <a:normAutofit fontScale="92500"/>
          </a:bodyPr>
          <a:lstStyle/>
          <a:p>
            <a:pPr algn="ctr"/>
            <a:r>
              <a:rPr kumimoji="1" lang="zh-TW" altLang="en-US" sz="2800" dirty="0">
                <a:latin typeface="+mj-lt"/>
                <a:ea typeface="+mj-ea"/>
              </a:rPr>
              <a:t>連線商銀</a:t>
            </a:r>
            <a:r>
              <a:rPr kumimoji="1" lang="en-US" altLang="zh-TW" sz="2800" dirty="0">
                <a:latin typeface="+mj-lt"/>
                <a:ea typeface="+mj-ea"/>
              </a:rPr>
              <a:t>-</a:t>
            </a:r>
            <a:r>
              <a:rPr lang="en-US" altLang="zh-TW" sz="2800" dirty="0"/>
              <a:t>EDW Oracle RAC</a:t>
            </a:r>
            <a:r>
              <a:rPr lang="zh-TW" altLang="zh-TW" sz="2800" dirty="0"/>
              <a:t>升級暨一體機建置專案</a:t>
            </a:r>
            <a:endParaRPr lang="en-US" altLang="zh-TW" sz="2800" dirty="0"/>
          </a:p>
          <a:p>
            <a:pPr algn="ctr"/>
            <a:r>
              <a:rPr lang="zh-TW" altLang="en-US" sz="2800" dirty="0"/>
              <a:t>專案啟動會議</a:t>
            </a:r>
            <a:r>
              <a:rPr lang="zh-TW" altLang="zh-TW" sz="2800" dirty="0"/>
              <a:t> </a:t>
            </a:r>
            <a:endParaRPr kumimoji="1" lang="zh-TW" altLang="en-US" sz="2800" dirty="0">
              <a:latin typeface="+mj-lt"/>
              <a:ea typeface="+mj-ea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496AED1-8334-FDF6-0BD5-F4BF5EA36AE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1752" y="4054607"/>
            <a:ext cx="3119619" cy="693091"/>
          </a:xfrm>
        </p:spPr>
        <p:txBody>
          <a:bodyPr/>
          <a:lstStyle/>
          <a:p>
            <a:endParaRPr lang="en-US" altLang="zh-TW" sz="1800" dirty="0">
              <a:solidFill>
                <a:schemeClr val="tx1"/>
              </a:solidFill>
            </a:endParaRPr>
          </a:p>
          <a:p>
            <a:r>
              <a:rPr lang="zh-TW" altLang="en-US" sz="1400" dirty="0">
                <a:solidFill>
                  <a:schemeClr val="tx1"/>
                </a:solidFill>
                <a:latin typeface="+mj-ea"/>
              </a:rPr>
              <a:t>連線商銀 </a:t>
            </a:r>
            <a:r>
              <a:rPr lang="en-US" altLang="zh-TW" sz="1400" dirty="0">
                <a:solidFill>
                  <a:schemeClr val="tx1"/>
                </a:solidFill>
                <a:latin typeface="+mj-ea"/>
              </a:rPr>
              <a:t>x Oracle</a:t>
            </a:r>
            <a:r>
              <a:rPr lang="zh-TW" altLang="en-US" sz="1400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+mj-ea"/>
              </a:rPr>
              <a:t>x </a:t>
            </a:r>
            <a:r>
              <a:rPr lang="zh-TW" altLang="en-US" sz="1400" dirty="0">
                <a:solidFill>
                  <a:schemeClr val="tx1"/>
                </a:solidFill>
                <a:latin typeface="+mj-ea"/>
              </a:rPr>
              <a:t>邁達特數位</a:t>
            </a:r>
            <a:endParaRPr lang="en-US" altLang="zh-TW" sz="1400" dirty="0">
              <a:solidFill>
                <a:schemeClr val="tx1"/>
              </a:solidFill>
              <a:latin typeface="+mj-ea"/>
            </a:endParaRPr>
          </a:p>
          <a:p>
            <a:r>
              <a:rPr lang="en-US" altLang="zh-TW" sz="1400" dirty="0">
                <a:solidFill>
                  <a:schemeClr val="tx1"/>
                </a:solidFill>
                <a:latin typeface="+mj-ea"/>
              </a:rPr>
              <a:t>2026.6.17</a:t>
            </a:r>
            <a:endParaRPr lang="zh-TW" altLang="en-US" sz="1400" dirty="0">
              <a:solidFill>
                <a:schemeClr val="tx1"/>
              </a:solidFill>
              <a:latin typeface="+mj-ea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30BF137-677E-6891-52AF-2A778D03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" y="168041"/>
            <a:ext cx="14287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4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7D18C9E-9A95-439C-174D-981603A330DC}"/>
              </a:ext>
            </a:extLst>
          </p:cNvPr>
          <p:cNvSpPr txBox="1"/>
          <p:nvPr/>
        </p:nvSpPr>
        <p:spPr>
          <a:xfrm>
            <a:off x="242048" y="89647"/>
            <a:ext cx="1909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600" b="1" dirty="0">
                <a:solidFill>
                  <a:srgbClr val="0070C0"/>
                </a:solidFill>
              </a:rPr>
              <a:t> </a:t>
            </a:r>
            <a:r>
              <a:rPr kumimoji="1" lang="en-US" altLang="zh-TW" sz="3600" b="1" dirty="0">
                <a:solidFill>
                  <a:srgbClr val="0070C0"/>
                </a:solidFill>
              </a:rPr>
              <a:t>Agenda</a:t>
            </a:r>
            <a:endParaRPr kumimoji="1" lang="zh-TW" altLang="en-US" sz="3600" b="1" dirty="0">
              <a:solidFill>
                <a:srgbClr val="0070C0"/>
              </a:solidFill>
            </a:endParaRP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B0DA5191-48B1-4243-92C5-DC149813D003}"/>
              </a:ext>
            </a:extLst>
          </p:cNvPr>
          <p:cNvSpPr txBox="1">
            <a:spLocks/>
          </p:cNvSpPr>
          <p:nvPr/>
        </p:nvSpPr>
        <p:spPr>
          <a:xfrm>
            <a:off x="463417" y="546889"/>
            <a:ext cx="7024010" cy="349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專案目標</a:t>
            </a:r>
            <a:endParaRPr lang="en-US" altLang="zh-TW" dirty="0"/>
          </a:p>
          <a:p>
            <a:r>
              <a:rPr lang="zh-TW" altLang="en-US" dirty="0"/>
              <a:t>專案影響分析</a:t>
            </a:r>
          </a:p>
          <a:p>
            <a:r>
              <a:rPr lang="zh-TW" altLang="en-US" dirty="0"/>
              <a:t>專案管理與風險控管</a:t>
            </a:r>
          </a:p>
          <a:p>
            <a:r>
              <a:rPr lang="zh-TW" altLang="en-US" dirty="0"/>
              <a:t>專案團隊分工及職掌介紹</a:t>
            </a:r>
          </a:p>
          <a:p>
            <a:r>
              <a:rPr lang="zh-TW" altLang="en-US" dirty="0"/>
              <a:t>專案交付項目</a:t>
            </a:r>
          </a:p>
        </p:txBody>
      </p:sp>
    </p:spTree>
    <p:extLst>
      <p:ext uri="{BB962C8B-B14F-4D97-AF65-F5344CB8AC3E}">
        <p14:creationId xmlns:p14="http://schemas.microsoft.com/office/powerpoint/2010/main" val="286206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D5BD-CFA9-E1B1-1DD8-3776727C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5">
            <a:extLst>
              <a:ext uri="{FF2B5EF4-FFF2-40B4-BE49-F238E27FC236}">
                <a16:creationId xmlns:a16="http://schemas.microsoft.com/office/drawing/2014/main" id="{03086344-FF17-49B8-C6AC-BD4BD334B45B}"/>
              </a:ext>
            </a:extLst>
          </p:cNvPr>
          <p:cNvGrpSpPr/>
          <p:nvPr/>
        </p:nvGrpSpPr>
        <p:grpSpPr>
          <a:xfrm>
            <a:off x="770964" y="1317864"/>
            <a:ext cx="2620400" cy="2525754"/>
            <a:chOff x="909662" y="1382264"/>
            <a:chExt cx="2069729" cy="2062138"/>
          </a:xfrm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4672B607-653C-8B4D-8123-0F466DCFF335}"/>
                </a:ext>
              </a:extLst>
            </p:cNvPr>
            <p:cNvSpPr/>
            <p:nvPr/>
          </p:nvSpPr>
          <p:spPr>
            <a:xfrm>
              <a:off x="917253" y="1382264"/>
              <a:ext cx="2062138" cy="2062138"/>
            </a:xfrm>
            <a:prstGeom prst="arc">
              <a:avLst>
                <a:gd name="adj1" fmla="val 16565820"/>
                <a:gd name="adj2" fmla="val 5056950"/>
              </a:avLst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9" b="1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EEBC1B41-6B68-B01A-9EFA-6E1CD58FE234}"/>
                </a:ext>
              </a:extLst>
            </p:cNvPr>
            <p:cNvSpPr/>
            <p:nvPr/>
          </p:nvSpPr>
          <p:spPr>
            <a:xfrm flipH="1">
              <a:off x="909662" y="1382264"/>
              <a:ext cx="2062138" cy="2062138"/>
            </a:xfrm>
            <a:prstGeom prst="arc">
              <a:avLst>
                <a:gd name="adj1" fmla="val 16451007"/>
                <a:gd name="adj2" fmla="val 4656997"/>
              </a:avLst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9" b="1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grpSp>
        <p:nvGrpSpPr>
          <p:cNvPr id="9" name="组合 2">
            <a:extLst>
              <a:ext uri="{FF2B5EF4-FFF2-40B4-BE49-F238E27FC236}">
                <a16:creationId xmlns:a16="http://schemas.microsoft.com/office/drawing/2014/main" id="{D1498C07-2E74-17A6-A1C1-9D6D9F4B49F3}"/>
              </a:ext>
            </a:extLst>
          </p:cNvPr>
          <p:cNvGrpSpPr/>
          <p:nvPr/>
        </p:nvGrpSpPr>
        <p:grpSpPr>
          <a:xfrm>
            <a:off x="1005711" y="1613390"/>
            <a:ext cx="2061268" cy="1994129"/>
            <a:chOff x="2312265" y="1869576"/>
            <a:chExt cx="1854306" cy="1854302"/>
          </a:xfrm>
        </p:grpSpPr>
        <p:grpSp>
          <p:nvGrpSpPr>
            <p:cNvPr id="10" name="组合 67">
              <a:extLst>
                <a:ext uri="{FF2B5EF4-FFF2-40B4-BE49-F238E27FC236}">
                  <a16:creationId xmlns:a16="http://schemas.microsoft.com/office/drawing/2014/main" id="{222598F7-A410-20BE-CA5C-2595306272BD}"/>
                </a:ext>
              </a:extLst>
            </p:cNvPr>
            <p:cNvGrpSpPr/>
            <p:nvPr/>
          </p:nvGrpSpPr>
          <p:grpSpPr>
            <a:xfrm>
              <a:off x="2312265" y="1869576"/>
              <a:ext cx="1854306" cy="1854302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2" name="同心圆 68">
                <a:extLst>
                  <a:ext uri="{FF2B5EF4-FFF2-40B4-BE49-F238E27FC236}">
                    <a16:creationId xmlns:a16="http://schemas.microsoft.com/office/drawing/2014/main" id="{64E48518-93B3-6BFD-48DA-C540FF9A88A8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99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  <p:sp>
            <p:nvSpPr>
              <p:cNvPr id="13" name="椭圆 69">
                <a:extLst>
                  <a:ext uri="{FF2B5EF4-FFF2-40B4-BE49-F238E27FC236}">
                    <a16:creationId xmlns:a16="http://schemas.microsoft.com/office/drawing/2014/main" id="{80F5B14A-ACB6-B434-1076-434F8776DD01}"/>
                  </a:ext>
                </a:extLst>
              </p:cNvPr>
              <p:cNvSpPr/>
              <p:nvPr/>
            </p:nvSpPr>
            <p:spPr>
              <a:xfrm>
                <a:off x="392111" y="760414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99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</p:grpSp>
        <p:sp>
          <p:nvSpPr>
            <p:cNvPr id="11" name="TextBox 70">
              <a:extLst>
                <a:ext uri="{FF2B5EF4-FFF2-40B4-BE49-F238E27FC236}">
                  <a16:creationId xmlns:a16="http://schemas.microsoft.com/office/drawing/2014/main" id="{FBB23AD9-094E-899C-D11D-E7F72E5791D4}"/>
                </a:ext>
              </a:extLst>
            </p:cNvPr>
            <p:cNvSpPr txBox="1"/>
            <p:nvPr/>
          </p:nvSpPr>
          <p:spPr>
            <a:xfrm>
              <a:off x="2610740" y="2244618"/>
              <a:ext cx="1257356" cy="11447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026AB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專案目標</a:t>
              </a:r>
            </a:p>
          </p:txBody>
        </p:sp>
      </p:grpSp>
      <p:graphicFrame>
        <p:nvGraphicFramePr>
          <p:cNvPr id="69" name="資料庫圖表 68">
            <a:extLst>
              <a:ext uri="{FF2B5EF4-FFF2-40B4-BE49-F238E27FC236}">
                <a16:creationId xmlns:a16="http://schemas.microsoft.com/office/drawing/2014/main" id="{4F4F8342-668B-BF25-6348-EC7D0383F290}"/>
              </a:ext>
            </a:extLst>
          </p:cNvPr>
          <p:cNvGraphicFramePr/>
          <p:nvPr/>
        </p:nvGraphicFramePr>
        <p:xfrm>
          <a:off x="3292115" y="1066800"/>
          <a:ext cx="6555889" cy="2671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0" name="文字方塊 69">
            <a:extLst>
              <a:ext uri="{FF2B5EF4-FFF2-40B4-BE49-F238E27FC236}">
                <a16:creationId xmlns:a16="http://schemas.microsoft.com/office/drawing/2014/main" id="{B170F82C-FFB1-0F47-E0BF-1D033534FF6C}"/>
              </a:ext>
            </a:extLst>
          </p:cNvPr>
          <p:cNvSpPr txBox="1"/>
          <p:nvPr/>
        </p:nvSpPr>
        <p:spPr>
          <a:xfrm>
            <a:off x="3616500" y="1647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Arial" panose="020B0604020202020204" pitchFamily="34" charset="0"/>
                <a:ea typeface="Heiti SC Medium" pitchFamily="2" charset="-128"/>
                <a:cs typeface="Arial" panose="020B0604020202020204" pitchFamily="34" charset="0"/>
              </a:rPr>
              <a:t>1</a:t>
            </a:r>
            <a:endParaRPr kumimoji="1" lang="zh-TW" altLang="en-US" dirty="0">
              <a:latin typeface="Arial" panose="020B0604020202020204" pitchFamily="34" charset="0"/>
              <a:ea typeface="Heiti SC Medium" pitchFamily="2" charset="-128"/>
              <a:cs typeface="Arial" panose="020B0604020202020204" pitchFamily="34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FBA25ED-8F31-8395-B2F0-9C54B59EC674}"/>
              </a:ext>
            </a:extLst>
          </p:cNvPr>
          <p:cNvSpPr txBox="1"/>
          <p:nvPr/>
        </p:nvSpPr>
        <p:spPr>
          <a:xfrm>
            <a:off x="3630640" y="2798322"/>
            <a:ext cx="2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8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417ECD4-830C-0D39-8203-E31BD7F369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2331" y="711517"/>
          <a:ext cx="8218487" cy="3799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E0810B-47B2-DE86-F278-F55DB9D4C34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68932" y="-1157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專案改善目標</a:t>
            </a:r>
          </a:p>
        </p:txBody>
      </p:sp>
    </p:spTree>
    <p:extLst>
      <p:ext uri="{BB962C8B-B14F-4D97-AF65-F5344CB8AC3E}">
        <p14:creationId xmlns:p14="http://schemas.microsoft.com/office/powerpoint/2010/main" val="414696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EBF32DA-BD0A-DB55-9D33-8BA636D3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163" y="1066800"/>
            <a:ext cx="4115899" cy="4076700"/>
          </a:xfrm>
          <a:prstGeom prst="rect">
            <a:avLst/>
          </a:prstGeom>
        </p:spPr>
      </p:pic>
      <p:graphicFrame>
        <p:nvGraphicFramePr>
          <p:cNvPr id="8" name="資料庫圖表 7">
            <a:extLst>
              <a:ext uri="{FF2B5EF4-FFF2-40B4-BE49-F238E27FC236}">
                <a16:creationId xmlns:a16="http://schemas.microsoft.com/office/drawing/2014/main" id="{E8753071-BD90-6DE9-FE66-06F1B8FDD5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5894141"/>
              </p:ext>
            </p:extLst>
          </p:nvPr>
        </p:nvGraphicFramePr>
        <p:xfrm>
          <a:off x="231404" y="2122528"/>
          <a:ext cx="4115899" cy="2438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三角形 8">
            <a:extLst>
              <a:ext uri="{FF2B5EF4-FFF2-40B4-BE49-F238E27FC236}">
                <a16:creationId xmlns:a16="http://schemas.microsoft.com/office/drawing/2014/main" id="{ED31373D-05A6-C5D5-4349-434745559D71}"/>
              </a:ext>
            </a:extLst>
          </p:cNvPr>
          <p:cNvSpPr/>
          <p:nvPr/>
        </p:nvSpPr>
        <p:spPr>
          <a:xfrm rot="5400000">
            <a:off x="4661648" y="-475129"/>
            <a:ext cx="2052918" cy="1873623"/>
          </a:xfrm>
          <a:prstGeom prst="triangle">
            <a:avLst/>
          </a:prstGeom>
          <a:solidFill>
            <a:schemeClr val="bg1"/>
          </a:solidFill>
          <a:ln w="1301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777C439-A720-2DFE-C037-C769A5349B03}"/>
              </a:ext>
            </a:extLst>
          </p:cNvPr>
          <p:cNvSpPr/>
          <p:nvPr/>
        </p:nvSpPr>
        <p:spPr>
          <a:xfrm>
            <a:off x="7298267" y="-564777"/>
            <a:ext cx="1106642" cy="113802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6CD284F-2FE7-BA02-A2BC-3D5EAF3B55F7}"/>
              </a:ext>
            </a:extLst>
          </p:cNvPr>
          <p:cNvSpPr/>
          <p:nvPr/>
        </p:nvSpPr>
        <p:spPr>
          <a:xfrm>
            <a:off x="5696206" y="1362635"/>
            <a:ext cx="650806" cy="645460"/>
          </a:xfrm>
          <a:prstGeom prst="ellipse">
            <a:avLst/>
          </a:prstGeom>
          <a:noFill/>
          <a:ln w="136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3DA63A52-C6C1-0414-20DD-E0E70EE0C0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9938" y="373708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專案效益</a:t>
            </a:r>
          </a:p>
        </p:txBody>
      </p:sp>
    </p:spTree>
    <p:extLst>
      <p:ext uri="{BB962C8B-B14F-4D97-AF65-F5344CB8AC3E}">
        <p14:creationId xmlns:p14="http://schemas.microsoft.com/office/powerpoint/2010/main" val="398348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BEE403D-A9C7-471B-6B52-31439B876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83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43F48BC-BB5A-F8DF-3305-0B34F2EB2F1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68931" y="60275"/>
            <a:ext cx="8208912" cy="693092"/>
          </a:xfrm>
        </p:spPr>
        <p:txBody>
          <a:bodyPr/>
          <a:lstStyle/>
          <a:p>
            <a:r>
              <a:rPr kumimoji="1" lang="en-US" altLang="zh-TW" dirty="0">
                <a:solidFill>
                  <a:srgbClr val="0070C0"/>
                </a:solidFill>
              </a:rPr>
              <a:t>Oracle</a:t>
            </a:r>
            <a:r>
              <a:rPr kumimoji="1" lang="zh-TW" altLang="en-US" dirty="0">
                <a:solidFill>
                  <a:srgbClr val="0070C0"/>
                </a:solidFill>
              </a:rPr>
              <a:t> 資料庫原廠支援規劃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5240650-97C5-2B3C-CC95-070414B8E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17" y="805321"/>
            <a:ext cx="8121926" cy="3931358"/>
          </a:xfrm>
          <a:prstGeom prst="rect">
            <a:avLst/>
          </a:prstGeom>
        </p:spPr>
      </p:pic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395DACAF-7DFB-AE8E-8BB9-F55AD0AD8169}"/>
              </a:ext>
            </a:extLst>
          </p:cNvPr>
          <p:cNvCxnSpPr>
            <a:cxnSpLocks/>
          </p:cNvCxnSpPr>
          <p:nvPr/>
        </p:nvCxnSpPr>
        <p:spPr>
          <a:xfrm flipV="1">
            <a:off x="4592626" y="907525"/>
            <a:ext cx="0" cy="38291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132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26D8006-6F10-AE03-8722-70C30E124095}"/>
              </a:ext>
            </a:extLst>
          </p:cNvPr>
          <p:cNvGraphicFramePr>
            <a:graphicFrameLocks/>
          </p:cNvGraphicFramePr>
          <p:nvPr/>
        </p:nvGraphicFramePr>
        <p:xfrm>
          <a:off x="80412" y="832586"/>
          <a:ext cx="8813009" cy="3975655"/>
        </p:xfrm>
        <a:graphic>
          <a:graphicData uri="http://schemas.openxmlformats.org/drawingml/2006/table">
            <a:tbl>
              <a:tblPr firstRow="1" firstCol="1" bandRow="1"/>
              <a:tblGrid>
                <a:gridCol w="761873">
                  <a:extLst>
                    <a:ext uri="{9D8B030D-6E8A-4147-A177-3AD203B41FA5}">
                      <a16:colId xmlns:a16="http://schemas.microsoft.com/office/drawing/2014/main" val="3668344981"/>
                    </a:ext>
                  </a:extLst>
                </a:gridCol>
                <a:gridCol w="1397435">
                  <a:extLst>
                    <a:ext uri="{9D8B030D-6E8A-4147-A177-3AD203B41FA5}">
                      <a16:colId xmlns:a16="http://schemas.microsoft.com/office/drawing/2014/main" val="252668199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4265934515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017281087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864157356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85521958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166314858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3226606871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373142540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244584369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4253759864"/>
                    </a:ext>
                  </a:extLst>
                </a:gridCol>
                <a:gridCol w="720085">
                  <a:extLst>
                    <a:ext uri="{9D8B030D-6E8A-4147-A177-3AD203B41FA5}">
                      <a16:colId xmlns:a16="http://schemas.microsoft.com/office/drawing/2014/main" val="1104508467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1169332556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4054307461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5745736"/>
                    </a:ext>
                  </a:extLst>
                </a:gridCol>
                <a:gridCol w="456432">
                  <a:extLst>
                    <a:ext uri="{9D8B030D-6E8A-4147-A177-3AD203B41FA5}">
                      <a16:colId xmlns:a16="http://schemas.microsoft.com/office/drawing/2014/main" val="2788723485"/>
                    </a:ext>
                  </a:extLst>
                </a:gridCol>
              </a:tblGrid>
              <a:tr h="354379">
                <a:tc gridSpan="2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1000" dirty="0"/>
                        <a:t>階段</a:t>
                      </a:r>
                      <a:r>
                        <a:rPr lang="en-US" altLang="zh-TW" sz="1000" dirty="0"/>
                        <a:t>/</a:t>
                      </a:r>
                      <a:r>
                        <a:rPr lang="zh-TW" altLang="en-US" sz="1000" dirty="0"/>
                        <a:t>時間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26/5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26/6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26/7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26/8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26/9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26/10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26/11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26/12</a:t>
                      </a:r>
                      <a:endParaRPr lang="zh-TW" alt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>
                          <a:solidFill>
                            <a:schemeClr val="bg1"/>
                          </a:solidFill>
                          <a:latin typeface="+mn-lt"/>
                        </a:rPr>
                        <a:t>27/1</a:t>
                      </a:r>
                      <a:endParaRPr lang="zh-TW" alt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27/2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dirty="0"/>
                        <a:t>27/3</a:t>
                      </a:r>
                      <a:endParaRPr lang="zh-TW" alt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27/4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27/5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800" b="0" dirty="0">
                          <a:solidFill>
                            <a:schemeClr val="bg1"/>
                          </a:solidFill>
                          <a:latin typeface="+mn-lt"/>
                        </a:rPr>
                        <a:t>27/6</a:t>
                      </a:r>
                      <a:endParaRPr lang="zh-TW" altLang="en-US" sz="800" b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566261"/>
                  </a:ext>
                </a:extLst>
              </a:tr>
              <a:tr h="375186">
                <a:tc rowSpan="2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1000" dirty="0"/>
                        <a:t>前置準備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l"/>
                      <a:r>
                        <a:rPr lang="zh-TW" altLang="en-US" sz="1000" dirty="0"/>
                        <a:t>前置作業與專案啟動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729107"/>
                  </a:ext>
                </a:extLst>
              </a:tr>
              <a:tr h="157815">
                <a:tc vMerge="1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dirty="0"/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硬體到貨與安裝建置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1000" b="1" dirty="0">
                          <a:solidFill>
                            <a:schemeClr val="bg1"/>
                          </a:solidFill>
                        </a:rPr>
                        <a:t>到貨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TW" altLang="en-US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487657"/>
                  </a:ext>
                </a:extLst>
              </a:tr>
              <a:tr h="434325">
                <a:tc rowSpan="3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第一階段 </a:t>
                      </a:r>
                      <a:r>
                        <a:rPr lang="en-US" altLang="zh-TW" sz="1000" dirty="0"/>
                        <a:t>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/>
                        <a:t>EDW (IFRS)</a:t>
                      </a:r>
                      <a:r>
                        <a:rPr lang="zh-TW" altLang="en-US" sz="1000" dirty="0"/>
                        <a:t>作業</a:t>
                      </a:r>
                      <a:endParaRPr lang="en-US" altLang="zh-TW" sz="1000" dirty="0"/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lvl="0" algn="l" defTabSz="914400" fontAlgn="ctr"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</a:rPr>
                        <a:t>[UAT] EDW(IFRS)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</a:rPr>
                        <a:t>Oracle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升級</a:t>
                      </a:r>
                      <a:endParaRPr lang="en-US" altLang="zh-TW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TW" altLang="en-US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807603"/>
                  </a:ext>
                </a:extLst>
              </a:tr>
              <a:tr h="396070">
                <a:tc vMerge="1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lvl="0" algn="l" defTabSz="914400" fontAlgn="ctr"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</a:rPr>
                        <a:t>[PRD] Exadata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效能及快照測試</a:t>
                      </a:r>
                      <a:endParaRPr lang="en-US" altLang="zh-TW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TW" altLang="en-US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634300"/>
                  </a:ext>
                </a:extLst>
              </a:tr>
              <a:tr h="396070">
                <a:tc vMerge="1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lvl="0" algn="l" defTabSz="914400"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</a:rPr>
                        <a:t>[PRD] EDW(IFRS) Oracle 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</a:rPr>
                        <a:t>升級</a:t>
                      </a:r>
                      <a:endParaRPr lang="en-US" altLang="zh-TW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354024"/>
                  </a:ext>
                </a:extLst>
              </a:tr>
              <a:tr h="434325">
                <a:tc rowSpan="2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1000" dirty="0"/>
                        <a:t>第二階段 </a:t>
                      </a:r>
                      <a:r>
                        <a:rPr lang="en-US" altLang="zh-TW" sz="1000" dirty="0"/>
                        <a:t>:</a:t>
                      </a:r>
                    </a:p>
                    <a:p>
                      <a:pPr algn="ctr"/>
                      <a:r>
                        <a:rPr lang="en-US" altLang="zh-TW" sz="1000" dirty="0"/>
                        <a:t>ELN</a:t>
                      </a:r>
                      <a:r>
                        <a:rPr lang="zh-TW" altLang="en-US" sz="1000" dirty="0"/>
                        <a:t>作業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lvl="0" algn="l" defTabSz="914400" fontAlgn="ctr"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 [PRD] ELN Migration 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到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Exadata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754191"/>
                  </a:ext>
                </a:extLst>
              </a:tr>
              <a:tr h="434325">
                <a:tc vMerge="1"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 [DR] ODA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移機及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EDW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(IFRS) DR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</a:rPr>
                        <a:t>建置</a:t>
                      </a:r>
                      <a:endParaRPr lang="en-US" altLang="zh-TW" sz="10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327527"/>
                  </a:ext>
                </a:extLst>
              </a:tr>
              <a:tr h="267277">
                <a:tc rowSpan="2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altLang="en-US" sz="1000" dirty="0"/>
                        <a:t>交付驗收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l"/>
                      <a:r>
                        <a:rPr lang="zh-TW" altLang="en-US" sz="1000" dirty="0"/>
                        <a:t>教育訓練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TW" altLang="en-US" sz="1000" b="1" dirty="0">
                          <a:solidFill>
                            <a:schemeClr val="bg1"/>
                          </a:solidFill>
                        </a:rPr>
                        <a:t>月中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432246"/>
                  </a:ext>
                </a:extLst>
              </a:tr>
              <a:tr h="267277">
                <a:tc vMerge="1"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l"/>
                      <a:r>
                        <a:rPr lang="zh-TW" altLang="en-US" sz="1000" dirty="0"/>
                        <a:t>移轉交付驗收結案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>
                        <a:highlight>
                          <a:srgbClr val="FF93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>
                        <a:highlight>
                          <a:srgbClr val="FF93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TW" altLang="en-US" sz="1000" b="1" dirty="0">
                          <a:solidFill>
                            <a:schemeClr val="bg1"/>
                          </a:solidFill>
                        </a:rPr>
                        <a:t>月中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微軟正黑體"/>
                        </a:defRPr>
                      </a:lvl9pPr>
                    </a:lstStyle>
                    <a:p>
                      <a:pPr algn="ctr"/>
                      <a:endParaRPr lang="zh-TW" altLang="en-US" sz="100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751091"/>
                  </a:ext>
                </a:extLst>
              </a:tr>
            </a:tbl>
          </a:graphicData>
        </a:graphic>
      </p:graphicFrame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1DA01D8D-2CD9-AB39-ACD2-435FC9DE262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38944" y="90926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專案時程</a:t>
            </a:r>
          </a:p>
        </p:txBody>
      </p:sp>
    </p:spTree>
    <p:extLst>
      <p:ext uri="{BB962C8B-B14F-4D97-AF65-F5344CB8AC3E}">
        <p14:creationId xmlns:p14="http://schemas.microsoft.com/office/powerpoint/2010/main" val="206154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9FC5D7F-8776-46A5-8B3E-C058DC70B858}"/>
              </a:ext>
            </a:extLst>
          </p:cNvPr>
          <p:cNvGraphicFramePr>
            <a:graphicFrameLocks noGrp="1"/>
          </p:cNvGraphicFramePr>
          <p:nvPr/>
        </p:nvGraphicFramePr>
        <p:xfrm>
          <a:off x="4398212" y="699886"/>
          <a:ext cx="4582502" cy="3309187"/>
        </p:xfrm>
        <a:graphic>
          <a:graphicData uri="http://schemas.openxmlformats.org/drawingml/2006/table">
            <a:tbl>
              <a:tblPr firstRow="1" bandRow="1"/>
              <a:tblGrid>
                <a:gridCol w="4582502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18288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8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Status Summary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3118687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8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本週已完成項目</a:t>
                      </a: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8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進行中項目</a:t>
                      </a: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0" i="0" u="none" strike="noStrike" kern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64D421C-A5C1-45E8-AE0C-BDDF0F4C7242}"/>
              </a:ext>
            </a:extLst>
          </p:cNvPr>
          <p:cNvGraphicFramePr>
            <a:graphicFrameLocks noGrp="1"/>
          </p:cNvGraphicFramePr>
          <p:nvPr/>
        </p:nvGraphicFramePr>
        <p:xfrm>
          <a:off x="260209" y="699885"/>
          <a:ext cx="4112674" cy="879600"/>
        </p:xfrm>
        <a:graphic>
          <a:graphicData uri="http://schemas.openxmlformats.org/drawingml/2006/table">
            <a:tbl>
              <a:tblPr firstRow="1" bandRow="1"/>
              <a:tblGrid>
                <a:gridCol w="755417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  <a:gridCol w="1254269">
                  <a:extLst>
                    <a:ext uri="{9D8B030D-6E8A-4147-A177-3AD203B41FA5}">
                      <a16:colId xmlns:a16="http://schemas.microsoft.com/office/drawing/2014/main" val="3067411575"/>
                    </a:ext>
                  </a:extLst>
                </a:gridCol>
                <a:gridCol w="755417">
                  <a:extLst>
                    <a:ext uri="{9D8B030D-6E8A-4147-A177-3AD203B41FA5}">
                      <a16:colId xmlns:a16="http://schemas.microsoft.com/office/drawing/2014/main" val="54969769"/>
                    </a:ext>
                  </a:extLst>
                </a:gridCol>
                <a:gridCol w="1347571">
                  <a:extLst>
                    <a:ext uri="{9D8B030D-6E8A-4147-A177-3AD203B41FA5}">
                      <a16:colId xmlns:a16="http://schemas.microsoft.com/office/drawing/2014/main" val="1748337497"/>
                    </a:ext>
                  </a:extLst>
                </a:gridCol>
              </a:tblGrid>
              <a:tr h="168300">
                <a:tc gridSpan="4"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Information</a:t>
                      </a:r>
                    </a:p>
                  </a:txBody>
                  <a:tcPr marL="27000" marR="27000" marT="27000" marB="27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Business</a:t>
                      </a: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Division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Business</a:t>
                      </a:r>
                      <a:r>
                        <a:rPr lang="en-US" altLang="zh-TW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PM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324238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Vendor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PMO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01178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27000" marR="27000" marT="27000" marB="27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51546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CAAEE278-8AEA-4344-99C4-2BC80724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03" y="1"/>
            <a:ext cx="7886700" cy="665018"/>
          </a:xfrm>
        </p:spPr>
        <p:txBody>
          <a:bodyPr>
            <a:normAutofit/>
          </a:bodyPr>
          <a:lstStyle/>
          <a:p>
            <a:r>
              <a:rPr lang="zh-TW" altLang="en-US" sz="21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建置計畫案</a:t>
            </a:r>
            <a:r>
              <a:rPr lang="en-US" altLang="zh-TW" sz="21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871CAF3-D045-400E-A346-7C5C3A7A513D}"/>
              </a:ext>
            </a:extLst>
          </p:cNvPr>
          <p:cNvGraphicFramePr>
            <a:graphicFrameLocks noGrp="1"/>
          </p:cNvGraphicFramePr>
          <p:nvPr/>
        </p:nvGraphicFramePr>
        <p:xfrm>
          <a:off x="4398211" y="3052048"/>
          <a:ext cx="4582502" cy="142476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582502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197656">
                <a:tc>
                  <a:txBody>
                    <a:bodyPr/>
                    <a:lstStyle/>
                    <a:p>
                      <a:r>
                        <a:rPr lang="en-US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Risks and Issues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227109">
                <a:tc>
                  <a:txBody>
                    <a:bodyPr/>
                    <a:lstStyle/>
                    <a:p>
                      <a:pPr marL="85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</a:t>
                      </a:r>
                      <a:endParaRPr lang="en-US" altLang="zh-TW" sz="800" b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18000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3D26F13-B6FF-4C5D-AE3D-E27CA7E3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4767263"/>
            <a:ext cx="9144000" cy="273844"/>
          </a:xfrm>
        </p:spPr>
        <p:txBody>
          <a:bodyPr/>
          <a:lstStyle/>
          <a:p>
            <a:pPr algn="ctr" defTabSz="685800">
              <a:defRPr/>
            </a:pPr>
            <a:fld id="{FC58003F-9CEB-BD47-9564-9D5EEFE2C17F}" type="slidenum">
              <a:rPr kumimoji="1" lang="zh-TW" altLang="en-US"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algn="ctr" defTabSz="685800">
                <a:defRPr/>
              </a:pPr>
              <a:t>9</a:t>
            </a:fld>
            <a:endParaRPr kumimoji="1" lang="zh-TW" altLang="en-US" sz="9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E465BCA-5542-4EC3-AE8E-4A5D09353B4F}"/>
              </a:ext>
            </a:extLst>
          </p:cNvPr>
          <p:cNvGraphicFramePr>
            <a:graphicFrameLocks noGrp="1"/>
          </p:cNvGraphicFramePr>
          <p:nvPr/>
        </p:nvGraphicFramePr>
        <p:xfrm>
          <a:off x="260208" y="1556835"/>
          <a:ext cx="4112672" cy="2388042"/>
        </p:xfrm>
        <a:graphic>
          <a:graphicData uri="http://schemas.openxmlformats.org/drawingml/2006/table">
            <a:tbl>
              <a:tblPr/>
              <a:tblGrid>
                <a:gridCol w="1111393">
                  <a:extLst>
                    <a:ext uri="{9D8B030D-6E8A-4147-A177-3AD203B41FA5}">
                      <a16:colId xmlns:a16="http://schemas.microsoft.com/office/drawing/2014/main" val="2291567694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3747933988"/>
                    </a:ext>
                  </a:extLst>
                </a:gridCol>
                <a:gridCol w="391886">
                  <a:extLst>
                    <a:ext uri="{9D8B030D-6E8A-4147-A177-3AD203B41FA5}">
                      <a16:colId xmlns:a16="http://schemas.microsoft.com/office/drawing/2014/main" val="4179209840"/>
                    </a:ext>
                  </a:extLst>
                </a:gridCol>
                <a:gridCol w="359228">
                  <a:extLst>
                    <a:ext uri="{9D8B030D-6E8A-4147-A177-3AD203B41FA5}">
                      <a16:colId xmlns:a16="http://schemas.microsoft.com/office/drawing/2014/main" val="2276310400"/>
                    </a:ext>
                  </a:extLst>
                </a:gridCol>
                <a:gridCol w="656497">
                  <a:extLst>
                    <a:ext uri="{9D8B030D-6E8A-4147-A177-3AD203B41FA5}">
                      <a16:colId xmlns:a16="http://schemas.microsoft.com/office/drawing/2014/main" val="443100098"/>
                    </a:ext>
                  </a:extLst>
                </a:gridCol>
              </a:tblGrid>
              <a:tr h="147814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Schedule</a:t>
                      </a:r>
                      <a:endParaRPr lang="zh-TW" alt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41917"/>
                  </a:ext>
                </a:extLst>
              </a:tr>
              <a:tr h="1478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計劃案階段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40329"/>
                  </a:ext>
                </a:extLst>
              </a:tr>
              <a:tr h="16612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計劃案起案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Kick off Meeting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05/17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05/17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030255"/>
                  </a:ext>
                </a:extLst>
              </a:tr>
              <a:tr h="16612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1-1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[UAT] EDW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Oracle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</a:t>
                      </a:r>
                      <a:endParaRPr lang="en-US" altLang="zh-TW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2604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99593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403820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6358"/>
                  </a:ext>
                </a:extLst>
              </a:tr>
              <a:tr h="16612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1-2 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[PRD] Exadata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效能及快照測試</a:t>
                      </a:r>
                      <a:endParaRPr lang="en-US" altLang="zh-TW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64060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392307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73491"/>
                  </a:ext>
                </a:extLst>
              </a:tr>
              <a:tr h="16612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1-3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[PRD] EDW Oracle 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</a:t>
                      </a:r>
                      <a:endParaRPr lang="en-US" altLang="zh-TW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92301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286100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70646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61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4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0D02-CDA5-67DF-2453-D046880C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369DFDF-4A48-158D-8B91-14972C2945BD}"/>
              </a:ext>
            </a:extLst>
          </p:cNvPr>
          <p:cNvGraphicFramePr>
            <a:graphicFrameLocks noGrp="1"/>
          </p:cNvGraphicFramePr>
          <p:nvPr/>
        </p:nvGraphicFramePr>
        <p:xfrm>
          <a:off x="4398212" y="699886"/>
          <a:ext cx="4582502" cy="3309187"/>
        </p:xfrm>
        <a:graphic>
          <a:graphicData uri="http://schemas.openxmlformats.org/drawingml/2006/table">
            <a:tbl>
              <a:tblPr firstRow="1" bandRow="1"/>
              <a:tblGrid>
                <a:gridCol w="4582502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18288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8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Status Summary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3118687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8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本週已完成項目</a:t>
                      </a: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TW" sz="8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8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進行中項目</a:t>
                      </a:r>
                      <a:endParaRPr lang="en-US" altLang="zh-TW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8890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2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890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85FB155-1D08-5D3A-D005-892E1431FB4A}"/>
              </a:ext>
            </a:extLst>
          </p:cNvPr>
          <p:cNvGraphicFramePr>
            <a:graphicFrameLocks noGrp="1"/>
          </p:cNvGraphicFramePr>
          <p:nvPr/>
        </p:nvGraphicFramePr>
        <p:xfrm>
          <a:off x="260209" y="699885"/>
          <a:ext cx="4112674" cy="879600"/>
        </p:xfrm>
        <a:graphic>
          <a:graphicData uri="http://schemas.openxmlformats.org/drawingml/2006/table">
            <a:tbl>
              <a:tblPr firstRow="1" bandRow="1"/>
              <a:tblGrid>
                <a:gridCol w="755417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  <a:gridCol w="1254269">
                  <a:extLst>
                    <a:ext uri="{9D8B030D-6E8A-4147-A177-3AD203B41FA5}">
                      <a16:colId xmlns:a16="http://schemas.microsoft.com/office/drawing/2014/main" val="3067411575"/>
                    </a:ext>
                  </a:extLst>
                </a:gridCol>
                <a:gridCol w="755417">
                  <a:extLst>
                    <a:ext uri="{9D8B030D-6E8A-4147-A177-3AD203B41FA5}">
                      <a16:colId xmlns:a16="http://schemas.microsoft.com/office/drawing/2014/main" val="54969769"/>
                    </a:ext>
                  </a:extLst>
                </a:gridCol>
                <a:gridCol w="1347571">
                  <a:extLst>
                    <a:ext uri="{9D8B030D-6E8A-4147-A177-3AD203B41FA5}">
                      <a16:colId xmlns:a16="http://schemas.microsoft.com/office/drawing/2014/main" val="1748337497"/>
                    </a:ext>
                  </a:extLst>
                </a:gridCol>
              </a:tblGrid>
              <a:tr h="168300">
                <a:tc gridSpan="4"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Information</a:t>
                      </a:r>
                    </a:p>
                  </a:txBody>
                  <a:tcPr marL="27000" marR="27000" marT="27000" marB="27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Business</a:t>
                      </a:r>
                      <a:r>
                        <a:rPr 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Division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Business</a:t>
                      </a:r>
                      <a:r>
                        <a:rPr lang="en-US" altLang="zh-TW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PM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324238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Vendor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PMO</a:t>
                      </a: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01178"/>
                  </a:ext>
                </a:extLst>
              </a:tr>
              <a:tr h="16830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27000" marR="27000" marT="27000" marB="27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27000" marB="27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51546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03C4C1C8-1403-1B5B-DCCD-3C00A24C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03" y="1"/>
            <a:ext cx="7886700" cy="665018"/>
          </a:xfrm>
        </p:spPr>
        <p:txBody>
          <a:bodyPr>
            <a:normAutofit/>
          </a:bodyPr>
          <a:lstStyle/>
          <a:p>
            <a:r>
              <a:rPr lang="zh-TW" altLang="en-US" sz="21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建置計畫案</a:t>
            </a:r>
            <a:r>
              <a:rPr lang="en-US" altLang="zh-TW" sz="21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C8DA5D1-EF86-E207-98F6-C6A36294DAA1}"/>
              </a:ext>
            </a:extLst>
          </p:cNvPr>
          <p:cNvGraphicFramePr>
            <a:graphicFrameLocks noGrp="1"/>
          </p:cNvGraphicFramePr>
          <p:nvPr/>
        </p:nvGraphicFramePr>
        <p:xfrm>
          <a:off x="4398211" y="3802430"/>
          <a:ext cx="4582502" cy="381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582502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sz="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Risks and Issues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85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800" b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</a:t>
                      </a:r>
                      <a:endParaRPr lang="en-US" altLang="zh-TW" sz="800" b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B22494-8AF4-023A-976A-769C8B2E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4767263"/>
            <a:ext cx="9144000" cy="273844"/>
          </a:xfrm>
        </p:spPr>
        <p:txBody>
          <a:bodyPr/>
          <a:lstStyle/>
          <a:p>
            <a:pPr algn="ctr" defTabSz="685800">
              <a:defRPr/>
            </a:pPr>
            <a:fld id="{FC58003F-9CEB-BD47-9564-9D5EEFE2C17F}" type="slidenum">
              <a:rPr kumimoji="1" lang="zh-TW" altLang="en-US"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algn="ctr" defTabSz="685800">
                <a:defRPr/>
              </a:pPr>
              <a:t>10</a:t>
            </a:fld>
            <a:endParaRPr kumimoji="1" lang="zh-TW" altLang="en-US" sz="9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41975BE-B4DD-BDFD-29A7-54F632374D47}"/>
              </a:ext>
            </a:extLst>
          </p:cNvPr>
          <p:cNvGraphicFramePr>
            <a:graphicFrameLocks noGrp="1"/>
          </p:cNvGraphicFramePr>
          <p:nvPr/>
        </p:nvGraphicFramePr>
        <p:xfrm>
          <a:off x="260209" y="1556836"/>
          <a:ext cx="4112673" cy="1393897"/>
        </p:xfrm>
        <a:graphic>
          <a:graphicData uri="http://schemas.openxmlformats.org/drawingml/2006/table">
            <a:tbl>
              <a:tblPr/>
              <a:tblGrid>
                <a:gridCol w="1125247">
                  <a:extLst>
                    <a:ext uri="{9D8B030D-6E8A-4147-A177-3AD203B41FA5}">
                      <a16:colId xmlns:a16="http://schemas.microsoft.com/office/drawing/2014/main" val="2291567694"/>
                    </a:ext>
                  </a:extLst>
                </a:gridCol>
                <a:gridCol w="1586345">
                  <a:extLst>
                    <a:ext uri="{9D8B030D-6E8A-4147-A177-3AD203B41FA5}">
                      <a16:colId xmlns:a16="http://schemas.microsoft.com/office/drawing/2014/main" val="3747933988"/>
                    </a:ext>
                  </a:extLst>
                </a:gridCol>
                <a:gridCol w="378823">
                  <a:extLst>
                    <a:ext uri="{9D8B030D-6E8A-4147-A177-3AD203B41FA5}">
                      <a16:colId xmlns:a16="http://schemas.microsoft.com/office/drawing/2014/main" val="417920984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76310400"/>
                    </a:ext>
                  </a:extLst>
                </a:gridCol>
                <a:gridCol w="656498">
                  <a:extLst>
                    <a:ext uri="{9D8B030D-6E8A-4147-A177-3AD203B41FA5}">
                      <a16:colId xmlns:a16="http://schemas.microsoft.com/office/drawing/2014/main" val="443100098"/>
                    </a:ext>
                  </a:extLst>
                </a:gridCol>
              </a:tblGrid>
              <a:tr h="147814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Schedule</a:t>
                      </a:r>
                      <a:endParaRPr lang="zh-TW" alt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41917"/>
                  </a:ext>
                </a:extLst>
              </a:tr>
              <a:tr h="1172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計劃案階段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40329"/>
                  </a:ext>
                </a:extLst>
              </a:tr>
              <a:tr h="16612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2-1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[PRD] ELN Migration 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到</a:t>
                      </a: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Exadata</a:t>
                      </a:r>
                    </a:p>
                  </a:txBody>
                  <a:tcPr marL="27000" marR="27000" marT="5400" marB="54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614747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4872"/>
                  </a:ext>
                </a:extLst>
              </a:tr>
              <a:tr h="168695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85178"/>
                  </a:ext>
                </a:extLst>
              </a:tr>
              <a:tr h="16612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2-2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[DR] ODA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移機及</a:t>
                      </a: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EDW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</a:t>
                      </a:r>
                      <a:r>
                        <a:rPr lang="zh-TW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建置</a:t>
                      </a:r>
                      <a:endParaRPr lang="en-US" altLang="zh-TW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137081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492512"/>
                  </a:ext>
                </a:extLst>
              </a:tr>
              <a:tr h="16612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000" marR="27000" marT="5400" marB="54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2948" marR="2948" marT="2948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98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6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35">
            <a:extLst>
              <a:ext uri="{FF2B5EF4-FFF2-40B4-BE49-F238E27FC236}">
                <a16:creationId xmlns:a16="http://schemas.microsoft.com/office/drawing/2014/main" id="{C12556A3-CD8C-AFA8-2A1D-C4FB8FDFA760}"/>
              </a:ext>
            </a:extLst>
          </p:cNvPr>
          <p:cNvGrpSpPr/>
          <p:nvPr/>
        </p:nvGrpSpPr>
        <p:grpSpPr>
          <a:xfrm>
            <a:off x="770964" y="1317864"/>
            <a:ext cx="2620400" cy="2525754"/>
            <a:chOff x="909662" y="1382264"/>
            <a:chExt cx="2069729" cy="2062138"/>
          </a:xfrm>
        </p:grpSpPr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24DA2625-5B74-FF35-E5B5-0D95E24AA8D6}"/>
                </a:ext>
              </a:extLst>
            </p:cNvPr>
            <p:cNvSpPr/>
            <p:nvPr/>
          </p:nvSpPr>
          <p:spPr>
            <a:xfrm>
              <a:off x="917253" y="1382264"/>
              <a:ext cx="2062138" cy="2062138"/>
            </a:xfrm>
            <a:prstGeom prst="arc">
              <a:avLst>
                <a:gd name="adj1" fmla="val 16565820"/>
                <a:gd name="adj2" fmla="val 5056950"/>
              </a:avLst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9" b="1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EA377FD-DC1E-5769-D8A4-ECA73ECB1418}"/>
                </a:ext>
              </a:extLst>
            </p:cNvPr>
            <p:cNvSpPr/>
            <p:nvPr/>
          </p:nvSpPr>
          <p:spPr>
            <a:xfrm flipH="1">
              <a:off x="909662" y="1382264"/>
              <a:ext cx="2062138" cy="2062138"/>
            </a:xfrm>
            <a:prstGeom prst="arc">
              <a:avLst>
                <a:gd name="adj1" fmla="val 16451007"/>
                <a:gd name="adj2" fmla="val 4656997"/>
              </a:avLst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99" b="1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grpSp>
        <p:nvGrpSpPr>
          <p:cNvPr id="9" name="组合 2">
            <a:extLst>
              <a:ext uri="{FF2B5EF4-FFF2-40B4-BE49-F238E27FC236}">
                <a16:creationId xmlns:a16="http://schemas.microsoft.com/office/drawing/2014/main" id="{EBB51715-225F-8D82-C315-B2BD69E5154C}"/>
              </a:ext>
            </a:extLst>
          </p:cNvPr>
          <p:cNvGrpSpPr/>
          <p:nvPr/>
        </p:nvGrpSpPr>
        <p:grpSpPr>
          <a:xfrm>
            <a:off x="1005711" y="1613390"/>
            <a:ext cx="2061268" cy="1994129"/>
            <a:chOff x="2312265" y="1869576"/>
            <a:chExt cx="1854306" cy="1854302"/>
          </a:xfrm>
        </p:grpSpPr>
        <p:grpSp>
          <p:nvGrpSpPr>
            <p:cNvPr id="10" name="组合 67">
              <a:extLst>
                <a:ext uri="{FF2B5EF4-FFF2-40B4-BE49-F238E27FC236}">
                  <a16:creationId xmlns:a16="http://schemas.microsoft.com/office/drawing/2014/main" id="{C4F52ECD-B8A4-FF0E-8ED6-F9A3425E8CFF}"/>
                </a:ext>
              </a:extLst>
            </p:cNvPr>
            <p:cNvGrpSpPr/>
            <p:nvPr/>
          </p:nvGrpSpPr>
          <p:grpSpPr>
            <a:xfrm>
              <a:off x="2312265" y="1869576"/>
              <a:ext cx="1854306" cy="1854302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2" name="同心圆 68">
                <a:extLst>
                  <a:ext uri="{FF2B5EF4-FFF2-40B4-BE49-F238E27FC236}">
                    <a16:creationId xmlns:a16="http://schemas.microsoft.com/office/drawing/2014/main" id="{CDC2EDF1-80ED-6DFE-5A8F-1A84C6B7AA6D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99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  <p:sp>
            <p:nvSpPr>
              <p:cNvPr id="13" name="椭圆 69">
                <a:extLst>
                  <a:ext uri="{FF2B5EF4-FFF2-40B4-BE49-F238E27FC236}">
                    <a16:creationId xmlns:a16="http://schemas.microsoft.com/office/drawing/2014/main" id="{2D1A425E-2024-B3EC-8DDA-8E7C4D0E003F}"/>
                  </a:ext>
                </a:extLst>
              </p:cNvPr>
              <p:cNvSpPr/>
              <p:nvPr/>
            </p:nvSpPr>
            <p:spPr>
              <a:xfrm>
                <a:off x="392111" y="760414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399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</p:grpSp>
        <p:sp>
          <p:nvSpPr>
            <p:cNvPr id="11" name="TextBox 70">
              <a:extLst>
                <a:ext uri="{FF2B5EF4-FFF2-40B4-BE49-F238E27FC236}">
                  <a16:creationId xmlns:a16="http://schemas.microsoft.com/office/drawing/2014/main" id="{5CCCA0C9-28DA-41C1-A00C-59BC82DE2F96}"/>
                </a:ext>
              </a:extLst>
            </p:cNvPr>
            <p:cNvSpPr txBox="1"/>
            <p:nvPr/>
          </p:nvSpPr>
          <p:spPr>
            <a:xfrm>
              <a:off x="2533069" y="2263264"/>
              <a:ext cx="1435622" cy="11447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TW" altLang="en-US" sz="4000" b="1" dirty="0">
                  <a:solidFill>
                    <a:srgbClr val="026AB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專案影響</a:t>
              </a:r>
              <a:r>
                <a:rPr lang="zh-CN" altLang="en-US" sz="4000" b="1" dirty="0">
                  <a:solidFill>
                    <a:srgbClr val="026AB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分析</a:t>
              </a:r>
            </a:p>
          </p:txBody>
        </p:sp>
      </p:grpSp>
      <p:graphicFrame>
        <p:nvGraphicFramePr>
          <p:cNvPr id="69" name="資料庫圖表 68">
            <a:extLst>
              <a:ext uri="{FF2B5EF4-FFF2-40B4-BE49-F238E27FC236}">
                <a16:creationId xmlns:a16="http://schemas.microsoft.com/office/drawing/2014/main" id="{E35C5CED-5A7A-35AF-0D3E-657D7374BC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1336346"/>
              </p:ext>
            </p:extLst>
          </p:nvPr>
        </p:nvGraphicFramePr>
        <p:xfrm>
          <a:off x="2978342" y="539750"/>
          <a:ext cx="6599537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0" name="文字方塊 69">
            <a:extLst>
              <a:ext uri="{FF2B5EF4-FFF2-40B4-BE49-F238E27FC236}">
                <a16:creationId xmlns:a16="http://schemas.microsoft.com/office/drawing/2014/main" id="{196D9BA2-8B2D-DEC9-B262-C27C86D048BE}"/>
              </a:ext>
            </a:extLst>
          </p:cNvPr>
          <p:cNvSpPr txBox="1"/>
          <p:nvPr/>
        </p:nvSpPr>
        <p:spPr>
          <a:xfrm>
            <a:off x="3286197" y="9807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Arial" panose="020B0604020202020204" pitchFamily="34" charset="0"/>
                <a:ea typeface="Heiti SC Medium" pitchFamily="2" charset="-128"/>
                <a:cs typeface="Arial" panose="020B0604020202020204" pitchFamily="34" charset="0"/>
              </a:rPr>
              <a:t>1</a:t>
            </a:r>
            <a:endParaRPr kumimoji="1" lang="zh-TW" altLang="en-US" dirty="0">
              <a:latin typeface="Arial" panose="020B0604020202020204" pitchFamily="34" charset="0"/>
              <a:ea typeface="Heiti SC Medium" pitchFamily="2" charset="-128"/>
              <a:cs typeface="Arial" panose="020B0604020202020204" pitchFamily="34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D492736-31F4-EA18-8367-3F5B31528025}"/>
              </a:ext>
            </a:extLst>
          </p:cNvPr>
          <p:cNvSpPr txBox="1"/>
          <p:nvPr/>
        </p:nvSpPr>
        <p:spPr>
          <a:xfrm>
            <a:off x="3666847" y="1909592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71F35A6D-5F37-968D-DD72-6741CE10126D}"/>
              </a:ext>
            </a:extLst>
          </p:cNvPr>
          <p:cNvSpPr txBox="1"/>
          <p:nvPr/>
        </p:nvSpPr>
        <p:spPr>
          <a:xfrm>
            <a:off x="3654023" y="288250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F2F4C814-C356-7B30-8153-67919908C454}"/>
              </a:ext>
            </a:extLst>
          </p:cNvPr>
          <p:cNvSpPr txBox="1"/>
          <p:nvPr/>
        </p:nvSpPr>
        <p:spPr>
          <a:xfrm>
            <a:off x="3286197" y="3793421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8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430B-BA4E-09B4-3C77-1DDD8F48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12">
            <a:extLst>
              <a:ext uri="{FF2B5EF4-FFF2-40B4-BE49-F238E27FC236}">
                <a16:creationId xmlns:a16="http://schemas.microsoft.com/office/drawing/2014/main" id="{9091C6F0-9FD6-A7AD-8674-CF986AEF2D2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475678" y="3063849"/>
            <a:ext cx="329793" cy="263984"/>
            <a:chOff x="4097067" y="1576001"/>
            <a:chExt cx="935660" cy="806603"/>
          </a:xfrm>
        </p:grpSpPr>
        <p:sp>
          <p:nvSpPr>
            <p:cNvPr id="73" name="Hexagon 13">
              <a:extLst>
                <a:ext uri="{FF2B5EF4-FFF2-40B4-BE49-F238E27FC236}">
                  <a16:creationId xmlns:a16="http://schemas.microsoft.com/office/drawing/2014/main" id="{40497C26-3EFB-3673-B28F-4157D19C025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75" name="Picture 14">
              <a:extLst>
                <a:ext uri="{FF2B5EF4-FFF2-40B4-BE49-F238E27FC236}">
                  <a16:creationId xmlns:a16="http://schemas.microsoft.com/office/drawing/2014/main" id="{B6B6C01D-026B-695A-B4E9-8FA348ABC36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97522DE1-9311-6EC2-4F24-DA45A800B3D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144549" y="1934548"/>
            <a:ext cx="329793" cy="263984"/>
            <a:chOff x="4097067" y="1576001"/>
            <a:chExt cx="935660" cy="806603"/>
          </a:xfrm>
        </p:grpSpPr>
        <p:sp>
          <p:nvSpPr>
            <p:cNvPr id="38" name="Hexagon 13">
              <a:extLst>
                <a:ext uri="{FF2B5EF4-FFF2-40B4-BE49-F238E27FC236}">
                  <a16:creationId xmlns:a16="http://schemas.microsoft.com/office/drawing/2014/main" id="{CB1FF062-8AC7-183A-48CF-D9E845A9B4D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39" name="Picture 14">
              <a:extLst>
                <a:ext uri="{FF2B5EF4-FFF2-40B4-BE49-F238E27FC236}">
                  <a16:creationId xmlns:a16="http://schemas.microsoft.com/office/drawing/2014/main" id="{E79EBF4E-ED99-0E87-D760-7C10202BD918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8" name="Group 12">
            <a:extLst>
              <a:ext uri="{FF2B5EF4-FFF2-40B4-BE49-F238E27FC236}">
                <a16:creationId xmlns:a16="http://schemas.microsoft.com/office/drawing/2014/main" id="{4B62B21B-C1DF-D2CC-845F-BACE45BD094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404076" y="1636391"/>
            <a:ext cx="329793" cy="263984"/>
            <a:chOff x="4097067" y="1576001"/>
            <a:chExt cx="935660" cy="806603"/>
          </a:xfrm>
        </p:grpSpPr>
        <p:sp>
          <p:nvSpPr>
            <p:cNvPr id="29" name="Hexagon 13">
              <a:extLst>
                <a:ext uri="{FF2B5EF4-FFF2-40B4-BE49-F238E27FC236}">
                  <a16:creationId xmlns:a16="http://schemas.microsoft.com/office/drawing/2014/main" id="{74F05EBD-D2C7-89DC-57CC-F67602D9C12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30" name="Picture 14">
              <a:extLst>
                <a:ext uri="{FF2B5EF4-FFF2-40B4-BE49-F238E27FC236}">
                  <a16:creationId xmlns:a16="http://schemas.microsoft.com/office/drawing/2014/main" id="{86EB9C6E-3AA4-5148-0BC6-F4DE67E21BE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B8F64A96-0B7E-C08C-D946-C9C8BA1208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64127" y="340588"/>
            <a:ext cx="8090544" cy="427678"/>
          </a:xfrm>
        </p:spPr>
        <p:txBody>
          <a:bodyPr vert="horz" wrap="square" lIns="0" tIns="12062" rIns="0" bIns="0" rtlCol="0" anchor="ctr">
            <a:spAutoFit/>
          </a:bodyPr>
          <a:lstStyle/>
          <a:p>
            <a:pPr marL="12697">
              <a:spcBef>
                <a:spcPts val="95"/>
              </a:spcBef>
            </a:pPr>
            <a:r>
              <a:rPr lang="en-US" altLang="zh-TW" sz="2700" spc="-40" dirty="0">
                <a:latin typeface="微軟正黑體"/>
                <a:ea typeface="+mj-ea"/>
              </a:rPr>
              <a:t>Phase 1-1 : [UAT]EDW Oracle</a:t>
            </a:r>
            <a:r>
              <a:rPr lang="zh-TW" altLang="en-US" sz="2700" spc="-40" dirty="0">
                <a:latin typeface="微軟正黑體"/>
                <a:ea typeface="+mj-ea"/>
              </a:rPr>
              <a:t>升級</a:t>
            </a:r>
          </a:p>
        </p:txBody>
      </p:sp>
      <p:grpSp>
        <p:nvGrpSpPr>
          <p:cNvPr id="10" name="Group 17">
            <a:extLst>
              <a:ext uri="{FF2B5EF4-FFF2-40B4-BE49-F238E27FC236}">
                <a16:creationId xmlns:a16="http://schemas.microsoft.com/office/drawing/2014/main" id="{55910CA9-1C96-74F3-AC38-3B2DD3D452F1}"/>
              </a:ext>
            </a:extLst>
          </p:cNvPr>
          <p:cNvGrpSpPr>
            <a:grpSpLocks/>
          </p:cNvGrpSpPr>
          <p:nvPr/>
        </p:nvGrpSpPr>
        <p:grpSpPr bwMode="auto">
          <a:xfrm>
            <a:off x="1041915" y="2114638"/>
            <a:ext cx="759815" cy="620062"/>
            <a:chOff x="2403" y="2505"/>
            <a:chExt cx="821" cy="642"/>
          </a:xfrm>
        </p:grpSpPr>
        <p:pic>
          <p:nvPicPr>
            <p:cNvPr id="12" name="Picture 18">
              <a:extLst>
                <a:ext uri="{FF2B5EF4-FFF2-40B4-BE49-F238E27FC236}">
                  <a16:creationId xmlns:a16="http://schemas.microsoft.com/office/drawing/2014/main" id="{B4A89062-910A-8E5B-7C34-D6F2062B3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" y="2505"/>
              <a:ext cx="735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644AF1A7-F60A-5660-EDD6-525F38E60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740"/>
              <a:ext cx="821" cy="26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fr-FR" sz="105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CBK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E8F8F0F-D567-8A50-A930-1CF430AF4E4B}"/>
              </a:ext>
            </a:extLst>
          </p:cNvPr>
          <p:cNvGrpSpPr>
            <a:grpSpLocks/>
          </p:cNvGrpSpPr>
          <p:nvPr/>
        </p:nvGrpSpPr>
        <p:grpSpPr bwMode="auto">
          <a:xfrm>
            <a:off x="2914312" y="1108808"/>
            <a:ext cx="759815" cy="620062"/>
            <a:chOff x="2403" y="2505"/>
            <a:chExt cx="821" cy="642"/>
          </a:xfrm>
        </p:grpSpPr>
        <p:pic>
          <p:nvPicPr>
            <p:cNvPr id="18" name="Picture 18">
              <a:extLst>
                <a:ext uri="{FF2B5EF4-FFF2-40B4-BE49-F238E27FC236}">
                  <a16:creationId xmlns:a16="http://schemas.microsoft.com/office/drawing/2014/main" id="{7CC17E9D-6A4A-60A2-6628-363896EC4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" y="2505"/>
              <a:ext cx="735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B42EC907-28CF-CD31-A1BA-FFFA65E89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740"/>
              <a:ext cx="821" cy="26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fr-FR" sz="105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EDW18c</a:t>
              </a:r>
            </a:p>
          </p:txBody>
        </p:sp>
      </p:grp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75CF19B-7894-ABFA-5CA2-E6CA3325B371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1761934" y="1462785"/>
            <a:ext cx="1152378" cy="961884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39BC16BD-051C-C793-7403-3098B89C0331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>
            <a:off x="3294219" y="1728870"/>
            <a:ext cx="10669" cy="1321382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AEFD0C10-60D3-F797-CC23-364E60BC17CF}"/>
              </a:ext>
            </a:extLst>
          </p:cNvPr>
          <p:cNvSpPr txBox="1"/>
          <p:nvPr/>
        </p:nvSpPr>
        <p:spPr>
          <a:xfrm>
            <a:off x="3201529" y="2170306"/>
            <a:ext cx="865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dirty="0">
                <a:solidFill>
                  <a:schemeClr val="accent2"/>
                </a:solidFill>
              </a:rPr>
              <a:t>移轉資料流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D152E3C-EF28-E03F-2A70-6BF382997C8F}"/>
              </a:ext>
            </a:extLst>
          </p:cNvPr>
          <p:cNvSpPr txBox="1"/>
          <p:nvPr/>
        </p:nvSpPr>
        <p:spPr>
          <a:xfrm>
            <a:off x="1801731" y="2040976"/>
            <a:ext cx="865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dirty="0">
                <a:solidFill>
                  <a:schemeClr val="accent2"/>
                </a:solidFill>
              </a:rPr>
              <a:t> </a:t>
            </a:r>
            <a:r>
              <a:rPr lang="en-US" altLang="zh-TW" sz="900" b="1" dirty="0">
                <a:solidFill>
                  <a:schemeClr val="accent2"/>
                </a:solidFill>
              </a:rPr>
              <a:t>OGG</a:t>
            </a:r>
            <a:r>
              <a:rPr lang="zh-TW" altLang="en-US" sz="900" b="1" dirty="0">
                <a:solidFill>
                  <a:schemeClr val="accent2"/>
                </a:solidFill>
              </a:rPr>
              <a:t>資料流</a:t>
            </a: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2210889C-CEE3-67A2-E074-29125F1E99F8}"/>
              </a:ext>
            </a:extLst>
          </p:cNvPr>
          <p:cNvSpPr/>
          <p:nvPr/>
        </p:nvSpPr>
        <p:spPr>
          <a:xfrm>
            <a:off x="164616" y="3606609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4CAEB1F-949D-9E26-A1D0-E27D2B4EC895}"/>
              </a:ext>
            </a:extLst>
          </p:cNvPr>
          <p:cNvSpPr txBox="1"/>
          <p:nvPr/>
        </p:nvSpPr>
        <p:spPr>
          <a:xfrm>
            <a:off x="352308" y="3578700"/>
            <a:ext cx="1818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升級</a:t>
            </a:r>
            <a:r>
              <a:rPr lang="en-US" altLang="zh-TW" sz="1200" dirty="0"/>
              <a:t>ODA</a:t>
            </a:r>
            <a:r>
              <a:rPr lang="zh-TW" altLang="en-US" sz="1200" dirty="0"/>
              <a:t>與</a:t>
            </a:r>
            <a:r>
              <a:rPr lang="en-US" altLang="zh-TW" sz="1200" dirty="0"/>
              <a:t>ELN</a:t>
            </a:r>
            <a:r>
              <a:rPr lang="zh-TW" altLang="en-US" sz="1200" dirty="0"/>
              <a:t>資料庫</a:t>
            </a: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DA0B3E39-1850-90A7-CCA9-268CCE4FE4D0}"/>
              </a:ext>
            </a:extLst>
          </p:cNvPr>
          <p:cNvSpPr/>
          <p:nvPr/>
        </p:nvSpPr>
        <p:spPr>
          <a:xfrm>
            <a:off x="162130" y="3848130"/>
            <a:ext cx="187692" cy="1838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/>
              <a:t>2</a:t>
            </a:r>
            <a:endParaRPr lang="zh-TW" altLang="en-US" sz="90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050E659-11BE-A834-6739-3EA8FC4BA0DA}"/>
              </a:ext>
            </a:extLst>
          </p:cNvPr>
          <p:cNvSpPr txBox="1"/>
          <p:nvPr/>
        </p:nvSpPr>
        <p:spPr>
          <a:xfrm>
            <a:off x="354946" y="3848130"/>
            <a:ext cx="1815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新增</a:t>
            </a:r>
            <a:r>
              <a:rPr lang="en-US" altLang="zh-TW" sz="1200" dirty="0"/>
              <a:t>ODS19c</a:t>
            </a:r>
            <a:r>
              <a:rPr lang="zh-TW" altLang="en-US" sz="1200" dirty="0"/>
              <a:t>資料庫</a:t>
            </a: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A878DB7-F9D6-FCDA-10C4-B8AADC2C39C7}"/>
              </a:ext>
            </a:extLst>
          </p:cNvPr>
          <p:cNvSpPr/>
          <p:nvPr/>
        </p:nvSpPr>
        <p:spPr>
          <a:xfrm>
            <a:off x="164616" y="4117308"/>
            <a:ext cx="187692" cy="1838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3</a:t>
            </a:r>
            <a:endParaRPr lang="zh-TW" altLang="en-US" sz="9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CA96FF10-603F-5A1F-A29F-6FC5317676A5}"/>
              </a:ext>
            </a:extLst>
          </p:cNvPr>
          <p:cNvSpPr txBox="1"/>
          <p:nvPr/>
        </p:nvSpPr>
        <p:spPr>
          <a:xfrm>
            <a:off x="349822" y="4094640"/>
            <a:ext cx="2276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建置</a:t>
            </a:r>
            <a:r>
              <a:rPr lang="en-US" altLang="zh-TW" sz="1200" dirty="0"/>
              <a:t>EDW</a:t>
            </a:r>
            <a:r>
              <a:rPr lang="zh-TW" altLang="en-US" sz="1200" dirty="0"/>
              <a:t>移轉</a:t>
            </a:r>
            <a:r>
              <a:rPr lang="en-US" altLang="zh-TW" sz="1200" dirty="0"/>
              <a:t>OGG</a:t>
            </a:r>
            <a:r>
              <a:rPr lang="zh-TW" altLang="en-US" sz="1200" dirty="0"/>
              <a:t>機制</a:t>
            </a:r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67AD7C50-29BE-3D7B-7DC9-A027EB89973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801730" y="2468615"/>
            <a:ext cx="1112582" cy="978433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橢圓 69">
            <a:extLst>
              <a:ext uri="{FF2B5EF4-FFF2-40B4-BE49-F238E27FC236}">
                <a16:creationId xmlns:a16="http://schemas.microsoft.com/office/drawing/2014/main" id="{2560544F-8949-DE2F-F9A1-AC322BDE7BB7}"/>
              </a:ext>
            </a:extLst>
          </p:cNvPr>
          <p:cNvSpPr/>
          <p:nvPr/>
        </p:nvSpPr>
        <p:spPr>
          <a:xfrm>
            <a:off x="3356048" y="2447730"/>
            <a:ext cx="187692" cy="1838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3</a:t>
            </a:r>
            <a:endParaRPr lang="zh-TW" altLang="en-US" sz="9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F733051-2A47-4168-29F4-EC55F273E8A8}"/>
              </a:ext>
            </a:extLst>
          </p:cNvPr>
          <p:cNvSpPr txBox="1"/>
          <p:nvPr/>
        </p:nvSpPr>
        <p:spPr>
          <a:xfrm>
            <a:off x="2014914" y="2811631"/>
            <a:ext cx="865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dirty="0">
                <a:solidFill>
                  <a:schemeClr val="accent2"/>
                </a:solidFill>
              </a:rPr>
              <a:t> </a:t>
            </a:r>
            <a:r>
              <a:rPr lang="en-US" altLang="zh-TW" sz="900" b="1" dirty="0">
                <a:solidFill>
                  <a:schemeClr val="accent2"/>
                </a:solidFill>
              </a:rPr>
              <a:t>OGG</a:t>
            </a:r>
            <a:r>
              <a:rPr lang="zh-TW" altLang="en-US" sz="900" b="1" dirty="0">
                <a:solidFill>
                  <a:schemeClr val="accent2"/>
                </a:solidFill>
              </a:rPr>
              <a:t>資料流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CBB079-4DBC-9829-CC91-6EB32D891EF0}"/>
              </a:ext>
            </a:extLst>
          </p:cNvPr>
          <p:cNvSpPr/>
          <p:nvPr/>
        </p:nvSpPr>
        <p:spPr>
          <a:xfrm>
            <a:off x="5303172" y="949480"/>
            <a:ext cx="3716088" cy="31865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異動與應變措施</a:t>
            </a:r>
            <a:endParaRPr lang="en-US" altLang="zh-TW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A92156-0876-6464-6EBA-7990937FE072}"/>
              </a:ext>
            </a:extLst>
          </p:cNvPr>
          <p:cNvSpPr txBox="1"/>
          <p:nvPr/>
        </p:nvSpPr>
        <p:spPr>
          <a:xfrm>
            <a:off x="5201483" y="1344430"/>
            <a:ext cx="3970061" cy="3562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作業時間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115/7/2 ~ 115/10/1</a:t>
            </a:r>
            <a:endParaRPr lang="zh-TW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異動項目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EDW</a:t>
            </a:r>
            <a:r>
              <a:rPr lang="zh-TW" altLang="en-US" sz="1400" dirty="0"/>
              <a:t>伺服器異動 </a:t>
            </a:r>
            <a:r>
              <a:rPr lang="en-US" altLang="zh-TW" sz="1400" dirty="0"/>
              <a:t>(to </a:t>
            </a:r>
            <a:r>
              <a:rPr lang="zh-TW" altLang="en-US" sz="1400" dirty="0"/>
              <a:t>既有 </a:t>
            </a:r>
            <a:r>
              <a:rPr lang="en-US" altLang="zh-TW" sz="1400" dirty="0"/>
              <a:t>ODA)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EDW(IFRS)</a:t>
            </a:r>
            <a:r>
              <a:rPr lang="zh-TW" altLang="en-US" sz="1400" dirty="0"/>
              <a:t>資料庫版本升級 </a:t>
            </a:r>
            <a:r>
              <a:rPr lang="en-US" altLang="zh-TW" sz="1400" dirty="0"/>
              <a:t>(18c to 19c)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ELN</a:t>
            </a:r>
            <a:r>
              <a:rPr lang="zh-TW" altLang="en-US" sz="1400" dirty="0"/>
              <a:t>版本更新 </a:t>
            </a:r>
            <a:r>
              <a:rPr lang="en-US" altLang="zh-TW" sz="1400" dirty="0"/>
              <a:t>(19.14 to 19.31)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OGG</a:t>
            </a:r>
            <a:r>
              <a:rPr lang="zh-TW" altLang="en-US" sz="1400" dirty="0"/>
              <a:t>小版本更新 </a:t>
            </a:r>
            <a:r>
              <a:rPr lang="en-US" altLang="zh-TW" sz="1400" dirty="0"/>
              <a:t>(19.31)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資料庫網路設定更動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dirty="0"/>
              <a:t>AP</a:t>
            </a:r>
            <a:r>
              <a:rPr lang="zh-TW" altLang="en-US" dirty="0"/>
              <a:t>應變措施 </a:t>
            </a:r>
            <a:r>
              <a:rPr lang="en-US" altLang="zh-TW" dirty="0"/>
              <a:t>(EDW</a:t>
            </a:r>
            <a:r>
              <a:rPr lang="zh-TW" altLang="en-US" dirty="0"/>
              <a:t>、</a:t>
            </a:r>
            <a:r>
              <a:rPr lang="en-US" altLang="zh-TW" dirty="0"/>
              <a:t>IFRS</a:t>
            </a:r>
            <a:r>
              <a:rPr lang="zh-TW" altLang="en-US" dirty="0"/>
              <a:t>、</a:t>
            </a:r>
            <a:r>
              <a:rPr lang="en-US" altLang="zh-TW" dirty="0"/>
              <a:t>ELN)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資料庫程式執行確認</a:t>
            </a:r>
            <a:endParaRPr lang="en-US" altLang="zh-TW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更改資料庫連線設定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EF80FF1-689C-0473-FBAE-EB3F85FF7E49}"/>
              </a:ext>
            </a:extLst>
          </p:cNvPr>
          <p:cNvSpPr/>
          <p:nvPr/>
        </p:nvSpPr>
        <p:spPr>
          <a:xfrm>
            <a:off x="2593931" y="2851414"/>
            <a:ext cx="2457882" cy="103747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Picture 35" descr="db_blu">
            <a:extLst>
              <a:ext uri="{FF2B5EF4-FFF2-40B4-BE49-F238E27FC236}">
                <a16:creationId xmlns:a16="http://schemas.microsoft.com/office/drawing/2014/main" id="{21E12078-0A70-25BF-1271-181AF3C61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544" y="3050252"/>
            <a:ext cx="674688" cy="6508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1" descr="db_tan">
            <a:extLst>
              <a:ext uri="{FF2B5EF4-FFF2-40B4-BE49-F238E27FC236}">
                <a16:creationId xmlns:a16="http://schemas.microsoft.com/office/drawing/2014/main" id="{4C9F53D1-AA18-BC49-13CB-8DAA17050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989" y="3042463"/>
            <a:ext cx="674688" cy="6508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FAE1D421-C2EF-7AA7-2C88-67440F18C286}"/>
              </a:ext>
            </a:extLst>
          </p:cNvPr>
          <p:cNvSpPr txBox="1"/>
          <p:nvPr/>
        </p:nvSpPr>
        <p:spPr>
          <a:xfrm>
            <a:off x="3905442" y="3317414"/>
            <a:ext cx="696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highlight>
                  <a:srgbClr val="00FFFF"/>
                </a:highlight>
              </a:rPr>
              <a:t>ELN19c</a:t>
            </a:r>
            <a:endParaRPr lang="zh-TW" altLang="en-US" sz="1000" b="1" dirty="0">
              <a:highlight>
                <a:srgbClr val="00FFFF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A07327D-6643-1362-78A5-EDBD6E677209}"/>
              </a:ext>
            </a:extLst>
          </p:cNvPr>
          <p:cNvSpPr txBox="1"/>
          <p:nvPr/>
        </p:nvSpPr>
        <p:spPr>
          <a:xfrm>
            <a:off x="3474342" y="3870735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/>
              <a:t>ODA X8-HA</a:t>
            </a:r>
            <a:endParaRPr lang="zh-TW" altLang="en-US" sz="1050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A9DF7B3-19C6-9E95-C6A5-D26A429F5ED9}"/>
              </a:ext>
            </a:extLst>
          </p:cNvPr>
          <p:cNvSpPr txBox="1"/>
          <p:nvPr/>
        </p:nvSpPr>
        <p:spPr>
          <a:xfrm>
            <a:off x="2974065" y="3327833"/>
            <a:ext cx="763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highlight>
                  <a:srgbClr val="FFFF00"/>
                </a:highlight>
              </a:rPr>
              <a:t>ODS19c</a:t>
            </a:r>
            <a:endParaRPr lang="zh-TW" altLang="en-US" sz="1000" b="1" dirty="0">
              <a:highlight>
                <a:srgbClr val="FFFF00"/>
              </a:highlight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BB1EDB7A-E9A7-0929-ACF8-EFC51103D1B5}"/>
              </a:ext>
            </a:extLst>
          </p:cNvPr>
          <p:cNvSpPr/>
          <p:nvPr/>
        </p:nvSpPr>
        <p:spPr>
          <a:xfrm>
            <a:off x="167254" y="4398808"/>
            <a:ext cx="187692" cy="1838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4</a:t>
            </a:r>
            <a:endParaRPr lang="zh-TW" altLang="en-US" sz="9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586CCE-9A75-4EE4-6ABB-61FD0CF10576}"/>
              </a:ext>
            </a:extLst>
          </p:cNvPr>
          <p:cNvSpPr txBox="1"/>
          <p:nvPr/>
        </p:nvSpPr>
        <p:spPr>
          <a:xfrm>
            <a:off x="349179" y="4388079"/>
            <a:ext cx="276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建置</a:t>
            </a:r>
            <a:r>
              <a:rPr lang="en-US" altLang="zh-TW" sz="1200" dirty="0"/>
              <a:t>CBK</a:t>
            </a:r>
            <a:r>
              <a:rPr lang="zh-TW" altLang="en-US" sz="1200" dirty="0"/>
              <a:t>至</a:t>
            </a:r>
            <a:r>
              <a:rPr lang="en-US" altLang="zh-TW" sz="1200" dirty="0"/>
              <a:t>EDW</a:t>
            </a:r>
            <a:r>
              <a:rPr lang="zh-TW" altLang="en-US" sz="1200" dirty="0"/>
              <a:t>的</a:t>
            </a:r>
            <a:r>
              <a:rPr lang="en-US" altLang="zh-TW" sz="1200" dirty="0"/>
              <a:t>OGG</a:t>
            </a:r>
            <a:r>
              <a:rPr lang="zh-TW" altLang="en-US" sz="1200" dirty="0"/>
              <a:t>機制，中止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E7988093-B2E4-1C70-4276-C8056D314929}"/>
              </a:ext>
            </a:extLst>
          </p:cNvPr>
          <p:cNvSpPr/>
          <p:nvPr/>
        </p:nvSpPr>
        <p:spPr>
          <a:xfrm>
            <a:off x="2806420" y="4434648"/>
            <a:ext cx="187692" cy="1838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3</a:t>
            </a:r>
            <a:endParaRPr lang="zh-TW" altLang="en-US" sz="900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AF59F18-CB80-77AF-6BE5-4DF180E32893}"/>
              </a:ext>
            </a:extLst>
          </p:cNvPr>
          <p:cNvSpPr/>
          <p:nvPr/>
        </p:nvSpPr>
        <p:spPr>
          <a:xfrm>
            <a:off x="1831724" y="2657271"/>
            <a:ext cx="187692" cy="1838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4</a:t>
            </a:r>
            <a:endParaRPr lang="zh-TW" altLang="en-US" sz="900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33C2A795-F39B-C5BF-5F64-D0A27F91BB17}"/>
              </a:ext>
            </a:extLst>
          </p:cNvPr>
          <p:cNvSpPr/>
          <p:nvPr/>
        </p:nvSpPr>
        <p:spPr>
          <a:xfrm>
            <a:off x="1860567" y="1833431"/>
            <a:ext cx="187692" cy="18386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/>
              <a:t>０</a:t>
            </a: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D9ED835B-6924-80AB-B822-96B90F3452FB}"/>
              </a:ext>
            </a:extLst>
          </p:cNvPr>
          <p:cNvSpPr/>
          <p:nvPr/>
        </p:nvSpPr>
        <p:spPr>
          <a:xfrm>
            <a:off x="167254" y="3331444"/>
            <a:ext cx="187692" cy="18386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/>
              <a:t>０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4290961-9F10-51EB-DA71-51CFE8087B43}"/>
              </a:ext>
            </a:extLst>
          </p:cNvPr>
          <p:cNvSpPr txBox="1"/>
          <p:nvPr/>
        </p:nvSpPr>
        <p:spPr>
          <a:xfrm>
            <a:off x="359125" y="3308548"/>
            <a:ext cx="2197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既有</a:t>
            </a:r>
            <a:r>
              <a:rPr lang="en-US" altLang="zh-TW" sz="1200" dirty="0"/>
              <a:t>CBK</a:t>
            </a:r>
            <a:r>
              <a:rPr lang="zh-TW" altLang="en-US" sz="1200" dirty="0"/>
              <a:t>至</a:t>
            </a:r>
            <a:r>
              <a:rPr lang="en-US" altLang="zh-TW" sz="1200" dirty="0"/>
              <a:t>EDW</a:t>
            </a:r>
            <a:r>
              <a:rPr lang="zh-TW" altLang="en-US" sz="1200" dirty="0"/>
              <a:t>的</a:t>
            </a:r>
            <a:r>
              <a:rPr lang="en-US" altLang="zh-TW" sz="1200" dirty="0"/>
              <a:t>OGG</a:t>
            </a:r>
            <a:r>
              <a:rPr lang="zh-TW" altLang="en-US" sz="1200" dirty="0"/>
              <a:t>機制</a:t>
            </a: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FCE84F95-0BC8-F1F4-C467-5690042DEADE}"/>
              </a:ext>
            </a:extLst>
          </p:cNvPr>
          <p:cNvSpPr/>
          <p:nvPr/>
        </p:nvSpPr>
        <p:spPr>
          <a:xfrm>
            <a:off x="4169886" y="3055741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1B487BB-BADB-5CA4-44D4-15975375CC99}"/>
              </a:ext>
            </a:extLst>
          </p:cNvPr>
          <p:cNvSpPr/>
          <p:nvPr/>
        </p:nvSpPr>
        <p:spPr>
          <a:xfrm>
            <a:off x="3216231" y="3087908"/>
            <a:ext cx="187692" cy="1838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2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262802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70" grpId="0" animBg="1"/>
      <p:bldP spid="70" grpId="1" animBg="1"/>
      <p:bldP spid="71" grpId="0"/>
      <p:bldP spid="14" grpId="0"/>
      <p:bldP spid="16" grpId="0"/>
      <p:bldP spid="25" grpId="0" animBg="1"/>
      <p:bldP spid="26" grpId="0" animBg="1"/>
      <p:bldP spid="6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9D8F-FC53-8A78-5054-37CF05E0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 descr="$PPTXTitle">
            <a:extLst>
              <a:ext uri="{FF2B5EF4-FFF2-40B4-BE49-F238E27FC236}">
                <a16:creationId xmlns:a16="http://schemas.microsoft.com/office/drawing/2014/main" id="{9F81EBAA-F4B8-48E7-26B1-64C5E3AC82F7}"/>
              </a:ext>
            </a:extLst>
          </p:cNvPr>
          <p:cNvSpPr txBox="1">
            <a:spLocks/>
          </p:cNvSpPr>
          <p:nvPr/>
        </p:nvSpPr>
        <p:spPr>
          <a:xfrm>
            <a:off x="641038" y="296133"/>
            <a:ext cx="6971705" cy="856001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>
            <a:lvl1pPr algn="ctr" defTabSz="1218895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697" algn="l">
              <a:spcBef>
                <a:spcPts val="95"/>
              </a:spcBef>
            </a:pPr>
            <a:r>
              <a:rPr lang="en-US" altLang="zh-TW" sz="2700" b="1" spc="-5" dirty="0">
                <a:solidFill>
                  <a:srgbClr val="026AB6"/>
                </a:solidFill>
                <a:latin typeface="微軟正黑體"/>
                <a:cs typeface="微軟正黑體"/>
              </a:rPr>
              <a:t>Phase 1-2 : [PRD]Exadata </a:t>
            </a:r>
            <a:r>
              <a:rPr lang="zh-TW" altLang="en-US" sz="2700" b="1" spc="-5" dirty="0">
                <a:solidFill>
                  <a:srgbClr val="026AB6"/>
                </a:solidFill>
                <a:latin typeface="微軟正黑體"/>
                <a:cs typeface="微軟正黑體"/>
              </a:rPr>
              <a:t>效能及快照驗證</a:t>
            </a:r>
            <a:endParaRPr lang="en-US" altLang="zh-TW" sz="2700" b="1" spc="-5" dirty="0">
              <a:solidFill>
                <a:srgbClr val="026AB6"/>
              </a:solidFill>
              <a:latin typeface="微軟正黑體"/>
              <a:cs typeface="微軟正黑體"/>
            </a:endParaRPr>
          </a:p>
          <a:p>
            <a:pPr marL="12697" algn="l">
              <a:spcBef>
                <a:spcPts val="95"/>
              </a:spcBef>
            </a:pPr>
            <a:endParaRPr lang="zh-TW" altLang="en-US" sz="2700" b="1" dirty="0">
              <a:latin typeface="微軟正黑體"/>
              <a:cs typeface="微軟正黑體"/>
            </a:endParaRPr>
          </a:p>
        </p:txBody>
      </p:sp>
      <p:pic>
        <p:nvPicPr>
          <p:cNvPr id="3" name="Picture 6" descr="A white door with black text&#10;&#10;Description automatically generated">
            <a:extLst>
              <a:ext uri="{FF2B5EF4-FFF2-40B4-BE49-F238E27FC236}">
                <a16:creationId xmlns:a16="http://schemas.microsoft.com/office/drawing/2014/main" id="{F3941F60-C881-D7A4-4031-724FD318A5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7942" y="1504347"/>
            <a:ext cx="845811" cy="2756211"/>
          </a:xfrm>
          <a:prstGeom prst="rect">
            <a:avLst/>
          </a:prstGeom>
        </p:spPr>
      </p:pic>
      <p:grpSp>
        <p:nvGrpSpPr>
          <p:cNvPr id="6" name="Group 17">
            <a:extLst>
              <a:ext uri="{FF2B5EF4-FFF2-40B4-BE49-F238E27FC236}">
                <a16:creationId xmlns:a16="http://schemas.microsoft.com/office/drawing/2014/main" id="{C9A93836-EA7F-3AA1-370D-B6FBBAA4F7D7}"/>
              </a:ext>
            </a:extLst>
          </p:cNvPr>
          <p:cNvGrpSpPr>
            <a:grpSpLocks/>
          </p:cNvGrpSpPr>
          <p:nvPr/>
        </p:nvGrpSpPr>
        <p:grpSpPr bwMode="auto">
          <a:xfrm>
            <a:off x="904167" y="2382144"/>
            <a:ext cx="759815" cy="620062"/>
            <a:chOff x="2403" y="2505"/>
            <a:chExt cx="821" cy="642"/>
          </a:xfrm>
        </p:grpSpPr>
        <p:pic>
          <p:nvPicPr>
            <p:cNvPr id="7" name="Picture 18">
              <a:extLst>
                <a:ext uri="{FF2B5EF4-FFF2-40B4-BE49-F238E27FC236}">
                  <a16:creationId xmlns:a16="http://schemas.microsoft.com/office/drawing/2014/main" id="{D433E2C6-BFDC-A05D-4339-43900814B6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" y="2505"/>
              <a:ext cx="735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17CE1DF7-5851-2A6E-BCA6-68267FBFD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740"/>
              <a:ext cx="821" cy="26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fr-FR" sz="105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D1D</a:t>
              </a:r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6FCBB1-D213-4840-4DA3-EAE884D7AD70}"/>
              </a:ext>
            </a:extLst>
          </p:cNvPr>
          <p:cNvSpPr txBox="1"/>
          <p:nvPr/>
        </p:nvSpPr>
        <p:spPr>
          <a:xfrm>
            <a:off x="3068406" y="4270251"/>
            <a:ext cx="1319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/>
              <a:t>Exadata X11M-Z</a:t>
            </a:r>
            <a:endParaRPr lang="zh-TW" altLang="en-US" sz="1050" b="1" dirty="0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A7B264B0-8171-1A61-A5EA-A8CE870ACF21}"/>
              </a:ext>
            </a:extLst>
          </p:cNvPr>
          <p:cNvSpPr/>
          <p:nvPr/>
        </p:nvSpPr>
        <p:spPr>
          <a:xfrm>
            <a:off x="1703778" y="2533409"/>
            <a:ext cx="1525290" cy="3297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b="1" dirty="0"/>
              <a:t>Backup / Restore</a:t>
            </a:r>
            <a:endParaRPr lang="zh-TW" altLang="en-US" sz="900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576120-4A4A-0158-43CB-445DA6871EC0}"/>
              </a:ext>
            </a:extLst>
          </p:cNvPr>
          <p:cNvSpPr/>
          <p:nvPr/>
        </p:nvSpPr>
        <p:spPr>
          <a:xfrm>
            <a:off x="4966856" y="1426119"/>
            <a:ext cx="3537752" cy="31865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異動與應變措施</a:t>
            </a:r>
            <a:endParaRPr lang="en-US" altLang="zh-TW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B485B98-90FC-311A-8A3F-DBDF7EFCF680}"/>
              </a:ext>
            </a:extLst>
          </p:cNvPr>
          <p:cNvSpPr txBox="1"/>
          <p:nvPr/>
        </p:nvSpPr>
        <p:spPr>
          <a:xfrm>
            <a:off x="4891698" y="1888617"/>
            <a:ext cx="3736663" cy="3321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作業時間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115/8/3 ~ 115/8/31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驗證項目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CBK</a:t>
            </a:r>
            <a:r>
              <a:rPr lang="zh-TW" altLang="en-US" sz="1400" dirty="0"/>
              <a:t>系統效能比較</a:t>
            </a:r>
            <a:r>
              <a:rPr lang="en-US" altLang="zh-TW" sz="1400" dirty="0"/>
              <a:t>(DB replay)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ACFS Snapshot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Flashback Snapshot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dirty="0"/>
              <a:t>AP</a:t>
            </a:r>
            <a:r>
              <a:rPr lang="zh-TW" altLang="en-US" dirty="0"/>
              <a:t>應變措施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    本作業不針對營運環境進行調整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    故無相關應變措施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9" name="箭號: 上彎 8">
            <a:extLst>
              <a:ext uri="{FF2B5EF4-FFF2-40B4-BE49-F238E27FC236}">
                <a16:creationId xmlns:a16="http://schemas.microsoft.com/office/drawing/2014/main" id="{E997F902-1113-F046-D6C1-9ED56FD952D8}"/>
              </a:ext>
            </a:extLst>
          </p:cNvPr>
          <p:cNvSpPr/>
          <p:nvPr/>
        </p:nvSpPr>
        <p:spPr>
          <a:xfrm rot="5400000">
            <a:off x="1896138" y="2283156"/>
            <a:ext cx="620062" cy="2103546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5" name="Picture 56" descr="diagram_camcorder">
            <a:extLst>
              <a:ext uri="{FF2B5EF4-FFF2-40B4-BE49-F238E27FC236}">
                <a16:creationId xmlns:a16="http://schemas.microsoft.com/office/drawing/2014/main" id="{2EADD1BF-78B4-07E3-7D40-336841D1D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68" y="3326993"/>
            <a:ext cx="498411" cy="34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7F873E6-901F-EA11-69B0-D1F948EA369D}"/>
              </a:ext>
            </a:extLst>
          </p:cNvPr>
          <p:cNvSpPr txBox="1"/>
          <p:nvPr/>
        </p:nvSpPr>
        <p:spPr>
          <a:xfrm>
            <a:off x="1584700" y="3389601"/>
            <a:ext cx="15823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/>
              <a:t>Workload Capture / Replay</a:t>
            </a:r>
            <a:endParaRPr lang="zh-TW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31048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45A7A-C2CF-E58A-B9D5-5811B197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12">
            <a:extLst>
              <a:ext uri="{FF2B5EF4-FFF2-40B4-BE49-F238E27FC236}">
                <a16:creationId xmlns:a16="http://schemas.microsoft.com/office/drawing/2014/main" id="{C5605594-2BB9-2A8D-E212-8BC19D1CEE0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49988" y="2193988"/>
            <a:ext cx="329793" cy="263984"/>
            <a:chOff x="4097067" y="1576001"/>
            <a:chExt cx="935660" cy="806603"/>
          </a:xfrm>
        </p:grpSpPr>
        <p:sp>
          <p:nvSpPr>
            <p:cNvPr id="38" name="Hexagon 13">
              <a:extLst>
                <a:ext uri="{FF2B5EF4-FFF2-40B4-BE49-F238E27FC236}">
                  <a16:creationId xmlns:a16="http://schemas.microsoft.com/office/drawing/2014/main" id="{B9D5D8D8-E63E-FF57-6C95-4D6B7B37CA7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39" name="Picture 14">
              <a:extLst>
                <a:ext uri="{FF2B5EF4-FFF2-40B4-BE49-F238E27FC236}">
                  <a16:creationId xmlns:a16="http://schemas.microsoft.com/office/drawing/2014/main" id="{A3473F1C-CD3D-62F3-1B13-2DA3115C790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8" name="Group 12">
            <a:extLst>
              <a:ext uri="{FF2B5EF4-FFF2-40B4-BE49-F238E27FC236}">
                <a16:creationId xmlns:a16="http://schemas.microsoft.com/office/drawing/2014/main" id="{623D4027-F123-1895-0657-E386DB88867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765330" y="1950037"/>
            <a:ext cx="329793" cy="263984"/>
            <a:chOff x="4097067" y="1576001"/>
            <a:chExt cx="935660" cy="806603"/>
          </a:xfrm>
        </p:grpSpPr>
        <p:sp>
          <p:nvSpPr>
            <p:cNvPr id="29" name="Hexagon 13">
              <a:extLst>
                <a:ext uri="{FF2B5EF4-FFF2-40B4-BE49-F238E27FC236}">
                  <a16:creationId xmlns:a16="http://schemas.microsoft.com/office/drawing/2014/main" id="{20CA0FDC-C073-9C42-8779-1E58B653E30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30" name="Picture 14">
              <a:extLst>
                <a:ext uri="{FF2B5EF4-FFF2-40B4-BE49-F238E27FC236}">
                  <a16:creationId xmlns:a16="http://schemas.microsoft.com/office/drawing/2014/main" id="{C1B3EBCB-D015-D331-CE0E-03C74BDBC8FB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8FFD9620-0026-6AF7-02F9-C2320DAC97E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64127" y="340588"/>
            <a:ext cx="8090544" cy="427678"/>
          </a:xfrm>
        </p:spPr>
        <p:txBody>
          <a:bodyPr vert="horz" wrap="square" lIns="0" tIns="12062" rIns="0" bIns="0" rtlCol="0" anchor="ctr">
            <a:spAutoFit/>
          </a:bodyPr>
          <a:lstStyle/>
          <a:p>
            <a:pPr marL="12697">
              <a:spcBef>
                <a:spcPts val="95"/>
              </a:spcBef>
            </a:pPr>
            <a:r>
              <a:rPr lang="en-US" altLang="zh-TW" sz="2700" spc="-40" dirty="0">
                <a:latin typeface="微軟正黑體"/>
                <a:ea typeface="+mj-ea"/>
              </a:rPr>
              <a:t>Phase 1-3 : [PRD]EDW Oracle</a:t>
            </a:r>
            <a:r>
              <a:rPr lang="zh-TW" altLang="en-US" sz="2700" spc="-40" dirty="0">
                <a:latin typeface="微軟正黑體"/>
                <a:ea typeface="+mj-ea"/>
              </a:rPr>
              <a:t>升級</a:t>
            </a:r>
          </a:p>
        </p:txBody>
      </p:sp>
      <p:grpSp>
        <p:nvGrpSpPr>
          <p:cNvPr id="10" name="Group 17">
            <a:extLst>
              <a:ext uri="{FF2B5EF4-FFF2-40B4-BE49-F238E27FC236}">
                <a16:creationId xmlns:a16="http://schemas.microsoft.com/office/drawing/2014/main" id="{F9B51049-6EE3-E414-CDFC-B346AD2AE5FC}"/>
              </a:ext>
            </a:extLst>
          </p:cNvPr>
          <p:cNvGrpSpPr>
            <a:grpSpLocks/>
          </p:cNvGrpSpPr>
          <p:nvPr/>
        </p:nvGrpSpPr>
        <p:grpSpPr bwMode="auto">
          <a:xfrm>
            <a:off x="1298824" y="2379088"/>
            <a:ext cx="759815" cy="620062"/>
            <a:chOff x="2403" y="2505"/>
            <a:chExt cx="821" cy="642"/>
          </a:xfrm>
        </p:grpSpPr>
        <p:pic>
          <p:nvPicPr>
            <p:cNvPr id="12" name="Picture 18">
              <a:extLst>
                <a:ext uri="{FF2B5EF4-FFF2-40B4-BE49-F238E27FC236}">
                  <a16:creationId xmlns:a16="http://schemas.microsoft.com/office/drawing/2014/main" id="{CF3E60EA-9C1E-A1ED-7981-158C6BE20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" y="2505"/>
              <a:ext cx="735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FB00FA24-D17D-9C84-BC66-A10B730FB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740"/>
              <a:ext cx="821" cy="26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fr-FR" sz="1050" b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CBK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83F5BAA-29F9-7DC7-7FDA-0268636B5FCE}"/>
              </a:ext>
            </a:extLst>
          </p:cNvPr>
          <p:cNvGrpSpPr>
            <a:grpSpLocks/>
          </p:cNvGrpSpPr>
          <p:nvPr/>
        </p:nvGrpSpPr>
        <p:grpSpPr bwMode="auto">
          <a:xfrm>
            <a:off x="3553665" y="1384445"/>
            <a:ext cx="759815" cy="620062"/>
            <a:chOff x="2403" y="2505"/>
            <a:chExt cx="821" cy="642"/>
          </a:xfrm>
        </p:grpSpPr>
        <p:pic>
          <p:nvPicPr>
            <p:cNvPr id="18" name="Picture 18">
              <a:extLst>
                <a:ext uri="{FF2B5EF4-FFF2-40B4-BE49-F238E27FC236}">
                  <a16:creationId xmlns:a16="http://schemas.microsoft.com/office/drawing/2014/main" id="{5369978A-EE99-26EA-359F-403745819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" y="2505"/>
              <a:ext cx="735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11BEB377-B357-7A51-EFA1-1A04E0A9D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740"/>
              <a:ext cx="821" cy="26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fr-FR" sz="105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EDW18c</a:t>
              </a:r>
            </a:p>
          </p:txBody>
        </p:sp>
      </p:grp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1687F7FA-D1CD-CC19-682B-F580D3EBE79A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072879" y="1738422"/>
            <a:ext cx="1480786" cy="92920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1707E8CC-CEE7-BDA9-3FF2-78BC4295C485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>
            <a:off x="3933572" y="2004507"/>
            <a:ext cx="1" cy="1279774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2AD26F2-65CA-77AA-5B8E-119F39313B22}"/>
              </a:ext>
            </a:extLst>
          </p:cNvPr>
          <p:cNvSpPr txBox="1"/>
          <p:nvPr/>
        </p:nvSpPr>
        <p:spPr>
          <a:xfrm>
            <a:off x="3516930" y="2908775"/>
            <a:ext cx="865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dirty="0">
                <a:solidFill>
                  <a:schemeClr val="accent2"/>
                </a:solidFill>
              </a:rPr>
              <a:t>移轉資料流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7A652A0-FA08-81F4-27D8-399B67F47F60}"/>
              </a:ext>
            </a:extLst>
          </p:cNvPr>
          <p:cNvSpPr txBox="1"/>
          <p:nvPr/>
        </p:nvSpPr>
        <p:spPr>
          <a:xfrm>
            <a:off x="2058640" y="2305426"/>
            <a:ext cx="865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dirty="0">
                <a:solidFill>
                  <a:schemeClr val="accent2"/>
                </a:solidFill>
              </a:rPr>
              <a:t> </a:t>
            </a:r>
            <a:r>
              <a:rPr lang="en-US" altLang="zh-TW" sz="900" b="1" dirty="0">
                <a:solidFill>
                  <a:schemeClr val="accent2"/>
                </a:solidFill>
              </a:rPr>
              <a:t>OGG</a:t>
            </a:r>
            <a:r>
              <a:rPr lang="zh-TW" altLang="en-US" sz="900" b="1" dirty="0">
                <a:solidFill>
                  <a:schemeClr val="accent2"/>
                </a:solidFill>
              </a:rPr>
              <a:t>資料流</a:t>
            </a: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D4AE5C54-1162-02D1-7EEC-549A7A6B386A}"/>
              </a:ext>
            </a:extLst>
          </p:cNvPr>
          <p:cNvSpPr/>
          <p:nvPr/>
        </p:nvSpPr>
        <p:spPr>
          <a:xfrm>
            <a:off x="266436" y="4132015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77BC03B3-384C-D606-6FC1-412DF067A24C}"/>
              </a:ext>
            </a:extLst>
          </p:cNvPr>
          <p:cNvSpPr txBox="1"/>
          <p:nvPr/>
        </p:nvSpPr>
        <p:spPr>
          <a:xfrm>
            <a:off x="454127" y="4104106"/>
            <a:ext cx="1958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建置</a:t>
            </a:r>
            <a:r>
              <a:rPr lang="en-US" altLang="zh-TW" sz="1200" dirty="0"/>
              <a:t>EDW</a:t>
            </a:r>
            <a:r>
              <a:rPr lang="zh-TW" altLang="en-US" sz="1200" dirty="0"/>
              <a:t>移轉</a:t>
            </a:r>
            <a:r>
              <a:rPr lang="en-US" altLang="zh-TW" sz="1200" dirty="0"/>
              <a:t>OGG</a:t>
            </a:r>
            <a:r>
              <a:rPr lang="zh-TW" altLang="en-US" sz="1200" dirty="0"/>
              <a:t>機制</a:t>
            </a: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5E7239B6-649F-DAF4-8BBE-814744BB9D36}"/>
              </a:ext>
            </a:extLst>
          </p:cNvPr>
          <p:cNvSpPr/>
          <p:nvPr/>
        </p:nvSpPr>
        <p:spPr>
          <a:xfrm>
            <a:off x="263950" y="4373536"/>
            <a:ext cx="187692" cy="1838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/>
              <a:t>2</a:t>
            </a:r>
            <a:endParaRPr lang="zh-TW" altLang="en-US" sz="90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44D5BED0-D373-BB85-D9C4-08C55FE9507E}"/>
              </a:ext>
            </a:extLst>
          </p:cNvPr>
          <p:cNvSpPr txBox="1"/>
          <p:nvPr/>
        </p:nvSpPr>
        <p:spPr>
          <a:xfrm>
            <a:off x="454128" y="4356094"/>
            <a:ext cx="2600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建置</a:t>
            </a:r>
            <a:r>
              <a:rPr lang="en-US" altLang="zh-TW" sz="1200" dirty="0"/>
              <a:t>CBK</a:t>
            </a:r>
            <a:r>
              <a:rPr lang="zh-TW" altLang="en-US" sz="1200" dirty="0"/>
              <a:t>至</a:t>
            </a:r>
            <a:r>
              <a:rPr lang="en-US" altLang="zh-TW" sz="1200" dirty="0"/>
              <a:t>EDW</a:t>
            </a:r>
            <a:r>
              <a:rPr lang="zh-TW" altLang="en-US" sz="1200" dirty="0"/>
              <a:t>的</a:t>
            </a:r>
            <a:r>
              <a:rPr lang="en-US" altLang="zh-TW" sz="1200" dirty="0"/>
              <a:t>OGG</a:t>
            </a:r>
            <a:r>
              <a:rPr lang="zh-TW" altLang="en-US" sz="1200" dirty="0"/>
              <a:t>機制，中止</a:t>
            </a: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18BDBEFF-C3CA-F2A8-71EC-E81058130590}"/>
              </a:ext>
            </a:extLst>
          </p:cNvPr>
          <p:cNvSpPr/>
          <p:nvPr/>
        </p:nvSpPr>
        <p:spPr>
          <a:xfrm>
            <a:off x="3976411" y="2608780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4B60A9B6-CD23-39A7-7EEF-BA5E3382F75C}"/>
              </a:ext>
            </a:extLst>
          </p:cNvPr>
          <p:cNvSpPr/>
          <p:nvPr/>
        </p:nvSpPr>
        <p:spPr>
          <a:xfrm>
            <a:off x="2177977" y="2974530"/>
            <a:ext cx="187692" cy="1838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2</a:t>
            </a:r>
            <a:endParaRPr lang="zh-TW" altLang="en-US" sz="900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CA223571-073C-4140-32AA-9043802141CA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2058639" y="2733065"/>
            <a:ext cx="1501718" cy="951908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3DB3B622-98B0-6E0C-6937-468DF0FC16A9}"/>
              </a:ext>
            </a:extLst>
          </p:cNvPr>
          <p:cNvSpPr txBox="1"/>
          <p:nvPr/>
        </p:nvSpPr>
        <p:spPr>
          <a:xfrm>
            <a:off x="2271823" y="3076081"/>
            <a:ext cx="865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900" b="1" dirty="0">
                <a:solidFill>
                  <a:schemeClr val="accent2"/>
                </a:solidFill>
              </a:rPr>
              <a:t> </a:t>
            </a:r>
            <a:r>
              <a:rPr lang="en-US" altLang="zh-TW" sz="900" b="1" dirty="0">
                <a:solidFill>
                  <a:schemeClr val="accent2"/>
                </a:solidFill>
              </a:rPr>
              <a:t>OGG</a:t>
            </a:r>
            <a:r>
              <a:rPr lang="zh-TW" altLang="en-US" sz="900" b="1" dirty="0">
                <a:solidFill>
                  <a:schemeClr val="accent2"/>
                </a:solidFill>
              </a:rPr>
              <a:t>資料流</a:t>
            </a:r>
          </a:p>
        </p:txBody>
      </p:sp>
      <p:grpSp>
        <p:nvGrpSpPr>
          <p:cNvPr id="72" name="Group 12">
            <a:extLst>
              <a:ext uri="{FF2B5EF4-FFF2-40B4-BE49-F238E27FC236}">
                <a16:creationId xmlns:a16="http://schemas.microsoft.com/office/drawing/2014/main" id="{4B06E8CC-23AE-1CB3-DFDE-0C772A394D1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002996" y="3262361"/>
            <a:ext cx="329793" cy="263984"/>
            <a:chOff x="4097067" y="1576001"/>
            <a:chExt cx="935660" cy="806603"/>
          </a:xfrm>
        </p:grpSpPr>
        <p:sp>
          <p:nvSpPr>
            <p:cNvPr id="73" name="Hexagon 13">
              <a:extLst>
                <a:ext uri="{FF2B5EF4-FFF2-40B4-BE49-F238E27FC236}">
                  <a16:creationId xmlns:a16="http://schemas.microsoft.com/office/drawing/2014/main" id="{B03C5421-5153-60FA-D782-4EEA496D7AD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75" name="Picture 14">
              <a:extLst>
                <a:ext uri="{FF2B5EF4-FFF2-40B4-BE49-F238E27FC236}">
                  <a16:creationId xmlns:a16="http://schemas.microsoft.com/office/drawing/2014/main" id="{FA4B4B25-81BD-0B8C-6DB7-5DD8D5D7068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72CB3F34-B748-BC3A-2B8A-9971ECCA69F8}"/>
              </a:ext>
            </a:extLst>
          </p:cNvPr>
          <p:cNvSpPr/>
          <p:nvPr/>
        </p:nvSpPr>
        <p:spPr>
          <a:xfrm>
            <a:off x="5541308" y="1289038"/>
            <a:ext cx="2937162" cy="31865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異動與應變措施</a:t>
            </a:r>
            <a:endParaRPr lang="en-US" altLang="zh-TW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826BBA5-A410-1183-4444-70E347F70A69}"/>
              </a:ext>
            </a:extLst>
          </p:cNvPr>
          <p:cNvSpPr txBox="1"/>
          <p:nvPr/>
        </p:nvSpPr>
        <p:spPr>
          <a:xfrm>
            <a:off x="5467027" y="1617925"/>
            <a:ext cx="3457357" cy="3239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作業時間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115/8/5 ~ 115/10/31</a:t>
            </a:r>
            <a:endParaRPr lang="zh-TW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異動項目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伺服器變動 </a:t>
            </a:r>
            <a:r>
              <a:rPr lang="en-US" altLang="zh-TW" sz="1400" dirty="0"/>
              <a:t>(to </a:t>
            </a:r>
            <a:r>
              <a:rPr lang="zh-TW" altLang="en-US" sz="1400" dirty="0"/>
              <a:t>新購</a:t>
            </a:r>
            <a:r>
              <a:rPr lang="en-US" altLang="zh-TW" sz="1400" dirty="0"/>
              <a:t>Exadata)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資料庫版本升級 </a:t>
            </a:r>
            <a:r>
              <a:rPr lang="en-US" altLang="zh-TW" sz="1400" dirty="0"/>
              <a:t>(18c to 19c)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OGG</a:t>
            </a:r>
            <a:r>
              <a:rPr lang="zh-TW" altLang="en-US" sz="1400" dirty="0"/>
              <a:t>版本升級 </a:t>
            </a:r>
            <a:r>
              <a:rPr lang="en-US" altLang="zh-TW" sz="1400" dirty="0"/>
              <a:t>(19.31)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資料庫網路設定更動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dirty="0"/>
              <a:t>AP</a:t>
            </a:r>
            <a:r>
              <a:rPr lang="zh-TW" altLang="en-US" dirty="0"/>
              <a:t>應變措施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資料庫程式執行確認</a:t>
            </a:r>
            <a:endParaRPr lang="en-US" altLang="zh-TW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更改資料庫連線設定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C1EA9BAB-4F4E-34C9-557B-013DBB89917A}"/>
              </a:ext>
            </a:extLst>
          </p:cNvPr>
          <p:cNvSpPr/>
          <p:nvPr/>
        </p:nvSpPr>
        <p:spPr>
          <a:xfrm>
            <a:off x="262257" y="3897350"/>
            <a:ext cx="187692" cy="18386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/>
              <a:t>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93DDF9-5412-80BA-10B1-F0E830506829}"/>
              </a:ext>
            </a:extLst>
          </p:cNvPr>
          <p:cNvSpPr txBox="1"/>
          <p:nvPr/>
        </p:nvSpPr>
        <p:spPr>
          <a:xfrm>
            <a:off x="454128" y="3874454"/>
            <a:ext cx="2197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既有</a:t>
            </a:r>
            <a:r>
              <a:rPr lang="en-US" altLang="zh-TW" sz="1200" dirty="0"/>
              <a:t>CBK</a:t>
            </a:r>
            <a:r>
              <a:rPr lang="zh-TW" altLang="en-US" sz="1200" dirty="0"/>
              <a:t>至</a:t>
            </a:r>
            <a:r>
              <a:rPr lang="en-US" altLang="zh-TW" sz="1200" dirty="0"/>
              <a:t>EDW</a:t>
            </a:r>
            <a:r>
              <a:rPr lang="zh-TW" altLang="en-US" sz="1200" dirty="0"/>
              <a:t>的</a:t>
            </a:r>
            <a:r>
              <a:rPr lang="en-US" altLang="zh-TW" sz="1200" dirty="0"/>
              <a:t>OGG</a:t>
            </a:r>
            <a:r>
              <a:rPr lang="zh-TW" altLang="en-US" sz="1200" dirty="0"/>
              <a:t>機制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B82DC70-A783-89E7-CB2B-9F17F835E1C3}"/>
              </a:ext>
            </a:extLst>
          </p:cNvPr>
          <p:cNvSpPr/>
          <p:nvPr/>
        </p:nvSpPr>
        <p:spPr>
          <a:xfrm>
            <a:off x="2325475" y="2121335"/>
            <a:ext cx="187692" cy="18386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/>
              <a:t>０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1D90FCE-FE5C-611D-40A3-3084D9C5869D}"/>
              </a:ext>
            </a:extLst>
          </p:cNvPr>
          <p:cNvSpPr/>
          <p:nvPr/>
        </p:nvSpPr>
        <p:spPr>
          <a:xfrm>
            <a:off x="2929941" y="4395642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pic>
        <p:nvPicPr>
          <p:cNvPr id="16" name="Picture 35" descr="db_blu">
            <a:extLst>
              <a:ext uri="{FF2B5EF4-FFF2-40B4-BE49-F238E27FC236}">
                <a16:creationId xmlns:a16="http://schemas.microsoft.com/office/drawing/2014/main" id="{4639D1A4-633F-1461-C1F4-00E22D265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229" y="3284281"/>
            <a:ext cx="674688" cy="6508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B2347E9-2A1B-6DFF-DB5A-8FAEC5E44B2C}"/>
              </a:ext>
            </a:extLst>
          </p:cNvPr>
          <p:cNvSpPr txBox="1"/>
          <p:nvPr/>
        </p:nvSpPr>
        <p:spPr>
          <a:xfrm>
            <a:off x="3560357" y="3561862"/>
            <a:ext cx="763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highlight>
                  <a:srgbClr val="FFFF00"/>
                </a:highlight>
              </a:rPr>
              <a:t>ODS19c</a:t>
            </a:r>
            <a:endParaRPr lang="zh-TW" altLang="en-US" sz="1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039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63" grpId="0" animBg="1"/>
      <p:bldP spid="63" grpId="1" animBg="1"/>
      <p:bldP spid="64" grpId="0" animBg="1"/>
      <p:bldP spid="71" grpId="0"/>
      <p:bldP spid="13" grpId="0" animBg="1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2DB2-9F60-2348-88F2-7103B7D8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CA78EE60-A78D-8F87-348E-68D920170E5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263" y="340588"/>
            <a:ext cx="7919408" cy="427678"/>
          </a:xfrm>
        </p:spPr>
        <p:txBody>
          <a:bodyPr vert="horz" wrap="square" lIns="0" tIns="12062" rIns="0" bIns="0" rtlCol="0" anchor="ctr">
            <a:spAutoFit/>
          </a:bodyPr>
          <a:lstStyle/>
          <a:p>
            <a:pPr marL="12697">
              <a:spcBef>
                <a:spcPts val="95"/>
              </a:spcBef>
            </a:pPr>
            <a:r>
              <a:rPr lang="en-US" altLang="zh-TW" sz="2700" spc="-40" dirty="0">
                <a:latin typeface="微軟正黑體"/>
                <a:ea typeface="+mj-ea"/>
              </a:rPr>
              <a:t>Phase 2-1 : [PRD]ELN</a:t>
            </a:r>
            <a:r>
              <a:rPr lang="zh-TW" altLang="en-US" sz="2700" spc="-40" dirty="0">
                <a:latin typeface="微軟正黑體"/>
                <a:ea typeface="+mj-ea"/>
              </a:rPr>
              <a:t> </a:t>
            </a:r>
            <a:r>
              <a:rPr lang="en-US" altLang="zh-TW" sz="2700" spc="-40" dirty="0">
                <a:latin typeface="微軟正黑體"/>
                <a:ea typeface="+mj-ea"/>
              </a:rPr>
              <a:t>Migration </a:t>
            </a:r>
            <a:r>
              <a:rPr lang="zh-TW" altLang="en-US" sz="2700" spc="-40" dirty="0">
                <a:latin typeface="微軟正黑體"/>
                <a:ea typeface="+mj-ea"/>
              </a:rPr>
              <a:t>到 </a:t>
            </a:r>
            <a:r>
              <a:rPr lang="en-US" altLang="zh-TW" sz="2700" spc="-40" dirty="0">
                <a:latin typeface="微軟正黑體"/>
                <a:ea typeface="+mj-ea"/>
              </a:rPr>
              <a:t>Exadata</a:t>
            </a:r>
            <a:endParaRPr lang="zh-TW" altLang="en-US" sz="2700" spc="-40" dirty="0">
              <a:latin typeface="微軟正黑體"/>
              <a:ea typeface="+mj-ea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F912062-7061-BDD3-7D93-E67772358640}"/>
              </a:ext>
            </a:extLst>
          </p:cNvPr>
          <p:cNvSpPr/>
          <p:nvPr/>
        </p:nvSpPr>
        <p:spPr>
          <a:xfrm>
            <a:off x="840793" y="3281352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D955CEB-C8C3-81A5-8A0B-911FBDEF16CB}"/>
              </a:ext>
            </a:extLst>
          </p:cNvPr>
          <p:cNvSpPr txBox="1"/>
          <p:nvPr/>
        </p:nvSpPr>
        <p:spPr>
          <a:xfrm>
            <a:off x="1028484" y="3253443"/>
            <a:ext cx="3102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建置</a:t>
            </a:r>
            <a:r>
              <a:rPr lang="en-US" altLang="zh-TW" sz="1200" dirty="0"/>
              <a:t>Standby</a:t>
            </a:r>
            <a:r>
              <a:rPr lang="zh-TW" altLang="en-US" sz="1200" dirty="0"/>
              <a:t>環境，並設定效能隔離機制</a:t>
            </a: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797DFEEC-6562-D285-260A-E1BB83D0B63F}"/>
              </a:ext>
            </a:extLst>
          </p:cNvPr>
          <p:cNvSpPr/>
          <p:nvPr/>
        </p:nvSpPr>
        <p:spPr>
          <a:xfrm>
            <a:off x="838307" y="3522873"/>
            <a:ext cx="187692" cy="1838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/>
              <a:t>2</a:t>
            </a:r>
            <a:endParaRPr lang="zh-TW" altLang="en-US" sz="90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824155E-E8A5-4EC0-EB4F-4854702F56DD}"/>
              </a:ext>
            </a:extLst>
          </p:cNvPr>
          <p:cNvSpPr txBox="1"/>
          <p:nvPr/>
        </p:nvSpPr>
        <p:spPr>
          <a:xfrm>
            <a:off x="1028485" y="3505431"/>
            <a:ext cx="1438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關閉舊環境</a:t>
            </a:r>
            <a:endParaRPr lang="en-US" altLang="zh-TW" sz="1200" dirty="0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5760DE3F-E835-BD75-4FFB-91A5FE1B2B8B}"/>
              </a:ext>
            </a:extLst>
          </p:cNvPr>
          <p:cNvSpPr/>
          <p:nvPr/>
        </p:nvSpPr>
        <p:spPr>
          <a:xfrm>
            <a:off x="840793" y="3792051"/>
            <a:ext cx="187692" cy="1838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3</a:t>
            </a:r>
            <a:endParaRPr lang="zh-TW" altLang="en-US" sz="9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0B2C4988-9BDE-C943-04D3-517BAB63DCDF}"/>
              </a:ext>
            </a:extLst>
          </p:cNvPr>
          <p:cNvSpPr txBox="1"/>
          <p:nvPr/>
        </p:nvSpPr>
        <p:spPr>
          <a:xfrm>
            <a:off x="1028483" y="3764142"/>
            <a:ext cx="2914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資料庫角色切換並開放對外連線</a:t>
            </a: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103C0CB6-7325-83C6-1ED9-7522443285EC}"/>
              </a:ext>
            </a:extLst>
          </p:cNvPr>
          <p:cNvSpPr/>
          <p:nvPr/>
        </p:nvSpPr>
        <p:spPr>
          <a:xfrm>
            <a:off x="1918530" y="2104411"/>
            <a:ext cx="187692" cy="1838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1</a:t>
            </a:r>
            <a:endParaRPr lang="zh-TW" altLang="en-US" sz="900" dirty="0"/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F911D84E-E4C1-DB31-323F-CBABFC2BA9CD}"/>
              </a:ext>
            </a:extLst>
          </p:cNvPr>
          <p:cNvSpPr/>
          <p:nvPr/>
        </p:nvSpPr>
        <p:spPr>
          <a:xfrm>
            <a:off x="947951" y="1807127"/>
            <a:ext cx="187692" cy="1838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2</a:t>
            </a:r>
            <a:endParaRPr lang="zh-TW" altLang="en-US" sz="900" dirty="0"/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B9F200F1-D9A1-E526-1C30-1039AE8A7DFD}"/>
              </a:ext>
            </a:extLst>
          </p:cNvPr>
          <p:cNvSpPr/>
          <p:nvPr/>
        </p:nvSpPr>
        <p:spPr>
          <a:xfrm>
            <a:off x="3023836" y="1786553"/>
            <a:ext cx="187692" cy="1838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3</a:t>
            </a:r>
            <a:endParaRPr lang="zh-TW" altLang="en-US" sz="9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781990-1109-3C02-5A54-4F0AD4DD107E}"/>
              </a:ext>
            </a:extLst>
          </p:cNvPr>
          <p:cNvSpPr/>
          <p:nvPr/>
        </p:nvSpPr>
        <p:spPr>
          <a:xfrm>
            <a:off x="5541308" y="1289038"/>
            <a:ext cx="3516450" cy="31865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異動與應變措施</a:t>
            </a:r>
            <a:endParaRPr lang="en-US" altLang="zh-TW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397EFB1-8903-9DB9-CFF7-45718A2E6430}"/>
              </a:ext>
            </a:extLst>
          </p:cNvPr>
          <p:cNvSpPr txBox="1"/>
          <p:nvPr/>
        </p:nvSpPr>
        <p:spPr>
          <a:xfrm>
            <a:off x="5465108" y="1737684"/>
            <a:ext cx="3413114" cy="2916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作業時間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116/2/22 ~ 115/3/6</a:t>
            </a:r>
            <a:endParaRPr lang="zh-TW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異動項目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伺服器變動 </a:t>
            </a:r>
            <a:r>
              <a:rPr lang="en-US" altLang="zh-TW" sz="1400" dirty="0"/>
              <a:t>(to </a:t>
            </a:r>
            <a:r>
              <a:rPr lang="zh-TW" altLang="en-US" sz="1400" dirty="0"/>
              <a:t>新購</a:t>
            </a:r>
            <a:r>
              <a:rPr lang="en-US" altLang="zh-TW" sz="1400" dirty="0"/>
              <a:t>Exadata)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資料庫版本更新 </a:t>
            </a:r>
            <a:r>
              <a:rPr lang="en-US" altLang="zh-TW" sz="1400" dirty="0"/>
              <a:t>(19.14 to 19.31)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資料庫網路設定更動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dirty="0"/>
              <a:t>AP</a:t>
            </a:r>
            <a:r>
              <a:rPr lang="zh-TW" altLang="en-US" dirty="0"/>
              <a:t>應變措施 </a:t>
            </a:r>
            <a:r>
              <a:rPr lang="en-US" altLang="zh-TW" dirty="0"/>
              <a:t>(ELN)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資料庫程式執行確認</a:t>
            </a:r>
            <a:endParaRPr lang="en-US" altLang="zh-TW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更改資料庫連線設定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FB6E87A9-4C41-F5C2-771B-4ADB85468E62}"/>
              </a:ext>
            </a:extLst>
          </p:cNvPr>
          <p:cNvSpPr/>
          <p:nvPr/>
        </p:nvSpPr>
        <p:spPr>
          <a:xfrm>
            <a:off x="1355282" y="2277629"/>
            <a:ext cx="1422288" cy="18386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err="1">
                <a:solidFill>
                  <a:schemeClr val="tx1"/>
                </a:solidFill>
              </a:rPr>
              <a:t>DataGuard</a:t>
            </a:r>
            <a:endParaRPr lang="zh-TW" altLang="en-US" sz="1000" dirty="0">
              <a:solidFill>
                <a:schemeClr val="tx1"/>
              </a:solidFill>
            </a:endParaRPr>
          </a:p>
        </p:txBody>
      </p:sp>
      <p:pic>
        <p:nvPicPr>
          <p:cNvPr id="3" name="Picture 31" descr="db_tan">
            <a:extLst>
              <a:ext uri="{FF2B5EF4-FFF2-40B4-BE49-F238E27FC236}">
                <a16:creationId xmlns:a16="http://schemas.microsoft.com/office/drawing/2014/main" id="{4517A057-1928-FA47-5691-425AFA6BD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94" y="2008429"/>
            <a:ext cx="674688" cy="6508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E033D4A-6C45-8EE8-AAA6-A6C62134CA5F}"/>
              </a:ext>
            </a:extLst>
          </p:cNvPr>
          <p:cNvSpPr txBox="1"/>
          <p:nvPr/>
        </p:nvSpPr>
        <p:spPr>
          <a:xfrm>
            <a:off x="667047" y="2283380"/>
            <a:ext cx="696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highlight>
                  <a:srgbClr val="00FFFF"/>
                </a:highlight>
              </a:rPr>
              <a:t>ELN19c</a:t>
            </a:r>
            <a:endParaRPr lang="zh-TW" altLang="en-US" sz="1000" b="1" dirty="0">
              <a:highlight>
                <a:srgbClr val="00FFFF"/>
              </a:highlight>
            </a:endParaRPr>
          </a:p>
        </p:txBody>
      </p:sp>
      <p:pic>
        <p:nvPicPr>
          <p:cNvPr id="8" name="Picture 31" descr="db_tan">
            <a:extLst>
              <a:ext uri="{FF2B5EF4-FFF2-40B4-BE49-F238E27FC236}">
                <a16:creationId xmlns:a16="http://schemas.microsoft.com/office/drawing/2014/main" id="{E7EE8AB5-5489-B887-F0C0-40B04241E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570" y="2031126"/>
            <a:ext cx="674688" cy="6508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9D72E19-6277-E049-960B-AE6C9AC7BF1C}"/>
              </a:ext>
            </a:extLst>
          </p:cNvPr>
          <p:cNvSpPr txBox="1"/>
          <p:nvPr/>
        </p:nvSpPr>
        <p:spPr>
          <a:xfrm>
            <a:off x="2764023" y="2306077"/>
            <a:ext cx="696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highlight>
                  <a:srgbClr val="00FFFF"/>
                </a:highlight>
              </a:rPr>
              <a:t>ELN19c</a:t>
            </a:r>
            <a:endParaRPr lang="zh-TW" altLang="en-US" sz="10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2388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7A8E-C145-84AA-9051-352F15C7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F900D48-23F0-7635-4ECB-386D0A3DE3D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263" y="340588"/>
            <a:ext cx="7919408" cy="427678"/>
          </a:xfrm>
        </p:spPr>
        <p:txBody>
          <a:bodyPr vert="horz" wrap="square" lIns="0" tIns="12062" rIns="0" bIns="0" rtlCol="0" anchor="ctr">
            <a:spAutoFit/>
          </a:bodyPr>
          <a:lstStyle/>
          <a:p>
            <a:pPr marL="12697">
              <a:spcBef>
                <a:spcPts val="95"/>
              </a:spcBef>
            </a:pPr>
            <a:r>
              <a:rPr lang="en-US" altLang="zh-TW" sz="2700" spc="-40" dirty="0">
                <a:latin typeface="微軟正黑體"/>
                <a:ea typeface="+mj-ea"/>
              </a:rPr>
              <a:t>Phase 2-2 : [DR]ODA</a:t>
            </a:r>
            <a:r>
              <a:rPr lang="zh-TW" altLang="en-US" sz="2700" spc="-40" dirty="0">
                <a:latin typeface="微軟正黑體"/>
                <a:ea typeface="+mj-ea"/>
              </a:rPr>
              <a:t>移機及</a:t>
            </a:r>
            <a:r>
              <a:rPr lang="en-US" altLang="zh-TW" sz="2700" spc="-40" dirty="0">
                <a:latin typeface="微軟正黑體"/>
                <a:ea typeface="+mj-ea"/>
              </a:rPr>
              <a:t>EDW DR</a:t>
            </a:r>
            <a:r>
              <a:rPr lang="zh-TW" altLang="en-US" sz="2700" spc="-40" dirty="0">
                <a:latin typeface="微軟正黑體"/>
                <a:ea typeface="+mj-ea"/>
              </a:rPr>
              <a:t>建置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6804C8-1055-1EA8-045A-C340F8BC35ED}"/>
              </a:ext>
            </a:extLst>
          </p:cNvPr>
          <p:cNvSpPr/>
          <p:nvPr/>
        </p:nvSpPr>
        <p:spPr>
          <a:xfrm>
            <a:off x="5541307" y="1289038"/>
            <a:ext cx="3381157" cy="31865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異動與應變措施</a:t>
            </a:r>
            <a:endParaRPr lang="en-US" altLang="zh-TW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8FDD212-81FB-E3EF-709B-80E209DD0495}"/>
              </a:ext>
            </a:extLst>
          </p:cNvPr>
          <p:cNvSpPr txBox="1"/>
          <p:nvPr/>
        </p:nvSpPr>
        <p:spPr>
          <a:xfrm>
            <a:off x="5465108" y="1737684"/>
            <a:ext cx="3457357" cy="2269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作業時間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116/2/15 ~ 115/3/12</a:t>
            </a:r>
            <a:endParaRPr lang="zh-TW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/>
              <a:t>異動項目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伺服器重新建置</a:t>
            </a:r>
            <a:endParaRPr lang="en-US" altLang="zh-TW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建置資料庫備援機制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dirty="0"/>
              <a:t>AP</a:t>
            </a:r>
            <a:r>
              <a:rPr lang="zh-TW" altLang="en-US" dirty="0"/>
              <a:t>應變措施</a:t>
            </a:r>
            <a:endParaRPr lang="en-US" altLang="zh-TW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更改資料庫連線設定</a:t>
            </a:r>
            <a:endParaRPr lang="en-US" altLang="zh-TW" sz="1400" dirty="0"/>
          </a:p>
        </p:txBody>
      </p:sp>
      <p:pic>
        <p:nvPicPr>
          <p:cNvPr id="3" name="圖片 2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8C694163-7DA3-FA64-1864-486AC322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58" y="1653741"/>
            <a:ext cx="1012889" cy="74771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599B863-4D42-8C3F-8A54-068E3C5BE302}"/>
              </a:ext>
            </a:extLst>
          </p:cNvPr>
          <p:cNvSpPr txBox="1"/>
          <p:nvPr/>
        </p:nvSpPr>
        <p:spPr>
          <a:xfrm>
            <a:off x="635263" y="2380160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/>
              <a:t>ODA X8-HA</a:t>
            </a:r>
            <a:endParaRPr lang="zh-TW" altLang="en-US" sz="1050" b="1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122BD9-9D27-63C5-7D7C-1202FCACACB3}"/>
              </a:ext>
            </a:extLst>
          </p:cNvPr>
          <p:cNvSpPr txBox="1"/>
          <p:nvPr/>
        </p:nvSpPr>
        <p:spPr>
          <a:xfrm>
            <a:off x="665240" y="1898320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00FFFF"/>
                </a:highlight>
              </a:rPr>
              <a:t>ELN - UAT</a:t>
            </a:r>
            <a:endParaRPr lang="zh-TW" altLang="en-US" sz="1050" b="1" dirty="0">
              <a:highlight>
                <a:srgbClr val="00FFFF"/>
              </a:highlight>
            </a:endParaRPr>
          </a:p>
        </p:txBody>
      </p:sp>
      <p:pic>
        <p:nvPicPr>
          <p:cNvPr id="10" name="圖片 9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647057AA-068E-2E91-2F8A-6EC3BA1CC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265" y="1633167"/>
            <a:ext cx="1012889" cy="74771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26C034C-E0F3-186A-7F92-7F4CB876019D}"/>
              </a:ext>
            </a:extLst>
          </p:cNvPr>
          <p:cNvSpPr txBox="1"/>
          <p:nvPr/>
        </p:nvSpPr>
        <p:spPr>
          <a:xfrm>
            <a:off x="3480470" y="2359586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/>
              <a:t>ODA X8-HA</a:t>
            </a:r>
            <a:endParaRPr lang="zh-TW" altLang="en-US" sz="105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827B39F-0D1C-8267-BD35-64D9A0B66940}"/>
              </a:ext>
            </a:extLst>
          </p:cNvPr>
          <p:cNvSpPr txBox="1"/>
          <p:nvPr/>
        </p:nvSpPr>
        <p:spPr>
          <a:xfrm>
            <a:off x="3510447" y="1877746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EEA49C"/>
                </a:highlight>
              </a:rPr>
              <a:t>ODS - DR</a:t>
            </a:r>
            <a:endParaRPr lang="zh-TW" altLang="en-US" sz="1050" b="1" dirty="0">
              <a:highlight>
                <a:srgbClr val="EEA49C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F8D9BF2-D8B7-807C-E596-BC85877CEF9E}"/>
              </a:ext>
            </a:extLst>
          </p:cNvPr>
          <p:cNvSpPr txBox="1"/>
          <p:nvPr/>
        </p:nvSpPr>
        <p:spPr>
          <a:xfrm>
            <a:off x="826396" y="1394421"/>
            <a:ext cx="7102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solidFill>
                  <a:srgbClr val="00B050"/>
                </a:solidFill>
              </a:rPr>
              <a:t>內湖機房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B4B3852-E3AD-A01F-F22B-C14C7D1050FD}"/>
              </a:ext>
            </a:extLst>
          </p:cNvPr>
          <p:cNvSpPr txBox="1"/>
          <p:nvPr/>
        </p:nvSpPr>
        <p:spPr>
          <a:xfrm>
            <a:off x="3663922" y="1407520"/>
            <a:ext cx="7102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solidFill>
                  <a:schemeClr val="accent3">
                    <a:lumMod val="75000"/>
                  </a:schemeClr>
                </a:solidFill>
              </a:rPr>
              <a:t>龍潭機房</a:t>
            </a:r>
          </a:p>
        </p:txBody>
      </p:sp>
      <p:pic>
        <p:nvPicPr>
          <p:cNvPr id="15" name="Picture 6" descr="A white door with black text&#10;&#10;Description automatically generated">
            <a:extLst>
              <a:ext uri="{FF2B5EF4-FFF2-40B4-BE49-F238E27FC236}">
                <a16:creationId xmlns:a16="http://schemas.microsoft.com/office/drawing/2014/main" id="{D5A9EC0E-8D0C-2447-4B31-14E671D5F46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20" y="1607693"/>
            <a:ext cx="845811" cy="2756211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A4317036-6EB3-2F74-A46C-DABED53290D2}"/>
              </a:ext>
            </a:extLst>
          </p:cNvPr>
          <p:cNvSpPr txBox="1"/>
          <p:nvPr/>
        </p:nvSpPr>
        <p:spPr>
          <a:xfrm>
            <a:off x="637602" y="1943822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00FFFF"/>
                </a:highlight>
              </a:rPr>
              <a:t>ODS - PRD</a:t>
            </a:r>
            <a:endParaRPr lang="zh-TW" altLang="en-US" sz="1050" b="1" dirty="0">
              <a:highlight>
                <a:srgbClr val="00FFFF"/>
              </a:highlight>
            </a:endParaRPr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B15ACA92-19F8-0835-6056-4C42E0D7B6AB}"/>
              </a:ext>
            </a:extLst>
          </p:cNvPr>
          <p:cNvSpPr/>
          <p:nvPr/>
        </p:nvSpPr>
        <p:spPr>
          <a:xfrm>
            <a:off x="1606749" y="1958048"/>
            <a:ext cx="1913516" cy="238844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/>
              <a:t>Data Guard</a:t>
            </a:r>
            <a:endParaRPr lang="zh-TW" altLang="en-US" sz="1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251D731-0FA7-B4D2-A3A7-355581DF080E}"/>
              </a:ext>
            </a:extLst>
          </p:cNvPr>
          <p:cNvSpPr txBox="1"/>
          <p:nvPr/>
        </p:nvSpPr>
        <p:spPr>
          <a:xfrm>
            <a:off x="514410" y="4337600"/>
            <a:ext cx="1319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/>
              <a:t>Exadata X11M-Z</a:t>
            </a:r>
            <a:endParaRPr lang="zh-TW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47606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2" grpId="0"/>
      <p:bldP spid="16" grpId="0"/>
      <p:bldP spid="26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85A8-9620-A77A-BB02-316C96E8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BCC62943-9D56-AFBA-00F2-C799A7C817D0}"/>
              </a:ext>
            </a:extLst>
          </p:cNvPr>
          <p:cNvCxnSpPr>
            <a:cxnSpLocks/>
          </p:cNvCxnSpPr>
          <p:nvPr/>
        </p:nvCxnSpPr>
        <p:spPr>
          <a:xfrm>
            <a:off x="5704159" y="642417"/>
            <a:ext cx="0" cy="4106401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5" descr="$PPTXTitle">
            <a:extLst>
              <a:ext uri="{FF2B5EF4-FFF2-40B4-BE49-F238E27FC236}">
                <a16:creationId xmlns:a16="http://schemas.microsoft.com/office/drawing/2014/main" id="{70229169-B78C-C258-F83D-4DF90B14FF87}"/>
              </a:ext>
            </a:extLst>
          </p:cNvPr>
          <p:cNvSpPr txBox="1">
            <a:spLocks/>
          </p:cNvSpPr>
          <p:nvPr/>
        </p:nvSpPr>
        <p:spPr>
          <a:xfrm>
            <a:off x="330645" y="213792"/>
            <a:ext cx="5467350" cy="4276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>
            <a:lvl1pPr algn="ctr" defTabSz="1218895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697" algn="l">
              <a:spcBef>
                <a:spcPts val="95"/>
              </a:spcBef>
            </a:pPr>
            <a:r>
              <a:rPr lang="zh-TW" altLang="en-US" sz="2700" b="1" spc="-5" dirty="0">
                <a:solidFill>
                  <a:srgbClr val="026AB6"/>
                </a:solidFill>
              </a:rPr>
              <a:t>專案竣工</a:t>
            </a:r>
            <a:r>
              <a:rPr lang="zh-TW" altLang="en-US" sz="2700" b="1" spc="-40" dirty="0">
                <a:solidFill>
                  <a:srgbClr val="026AB6"/>
                </a:solidFill>
                <a:latin typeface="微軟正黑體"/>
                <a:cs typeface="微軟正黑體"/>
              </a:rPr>
              <a:t>架構圖</a:t>
            </a:r>
            <a:endParaRPr lang="zh-TW" altLang="en-US" sz="2700" b="1" dirty="0">
              <a:latin typeface="微軟正黑體"/>
              <a:cs typeface="微軟正黑體"/>
            </a:endParaRPr>
          </a:p>
        </p:txBody>
      </p:sp>
      <p:pic>
        <p:nvPicPr>
          <p:cNvPr id="2" name="圖片 1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AE11D394-286E-A9AC-8D82-7025C7E6B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880" y="3546889"/>
            <a:ext cx="1012889" cy="747713"/>
          </a:xfrm>
          <a:prstGeom prst="rect">
            <a:avLst/>
          </a:prstGeom>
        </p:spPr>
      </p:pic>
      <p:pic>
        <p:nvPicPr>
          <p:cNvPr id="3" name="Picture 6" descr="A white door with black text&#10;&#10;Description automatically generated">
            <a:extLst>
              <a:ext uri="{FF2B5EF4-FFF2-40B4-BE49-F238E27FC236}">
                <a16:creationId xmlns:a16="http://schemas.microsoft.com/office/drawing/2014/main" id="{F83DDBD5-7F89-2749-2855-D4EB6F2B709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9723" y="1504347"/>
            <a:ext cx="845811" cy="2756211"/>
          </a:xfrm>
          <a:prstGeom prst="rect">
            <a:avLst/>
          </a:prstGeom>
        </p:spPr>
      </p:pic>
      <p:pic>
        <p:nvPicPr>
          <p:cNvPr id="5" name="圖片 4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11A76122-A202-1727-E458-43C9D3A25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335" y="2289442"/>
            <a:ext cx="1012889" cy="747713"/>
          </a:xfrm>
          <a:prstGeom prst="rect">
            <a:avLst/>
          </a:prstGeom>
        </p:spPr>
      </p:pic>
      <p:grpSp>
        <p:nvGrpSpPr>
          <p:cNvPr id="6" name="Group 17">
            <a:extLst>
              <a:ext uri="{FF2B5EF4-FFF2-40B4-BE49-F238E27FC236}">
                <a16:creationId xmlns:a16="http://schemas.microsoft.com/office/drawing/2014/main" id="{191834AD-F041-B87D-16FD-D54270DF4A7B}"/>
              </a:ext>
            </a:extLst>
          </p:cNvPr>
          <p:cNvGrpSpPr>
            <a:grpSpLocks/>
          </p:cNvGrpSpPr>
          <p:nvPr/>
        </p:nvGrpSpPr>
        <p:grpSpPr bwMode="auto">
          <a:xfrm>
            <a:off x="1355948" y="2382144"/>
            <a:ext cx="759815" cy="620062"/>
            <a:chOff x="2403" y="2505"/>
            <a:chExt cx="821" cy="642"/>
          </a:xfrm>
        </p:grpSpPr>
        <p:pic>
          <p:nvPicPr>
            <p:cNvPr id="7" name="Picture 18">
              <a:extLst>
                <a:ext uri="{FF2B5EF4-FFF2-40B4-BE49-F238E27FC236}">
                  <a16:creationId xmlns:a16="http://schemas.microsoft.com/office/drawing/2014/main" id="{4B398F51-F465-167D-0235-4E633583F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6" y="2505"/>
              <a:ext cx="735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3B18A88F-3681-695F-50C0-4C87A0F8D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2740"/>
              <a:ext cx="821" cy="263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fr-FR" sz="1050" b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CBK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73F99E1D-475E-1FBF-6D54-AD2CFC31A200}"/>
              </a:ext>
            </a:extLst>
          </p:cNvPr>
          <p:cNvSpPr txBox="1"/>
          <p:nvPr/>
        </p:nvSpPr>
        <p:spPr>
          <a:xfrm>
            <a:off x="1115849" y="4278878"/>
            <a:ext cx="14429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50" b="1" dirty="0"/>
              <a:t>既有 </a:t>
            </a:r>
            <a:r>
              <a:rPr lang="en-US" altLang="zh-TW" sz="1050" b="1" dirty="0"/>
              <a:t>: ODA X8-HA</a:t>
            </a:r>
            <a:endParaRPr lang="zh-TW" altLang="en-US" sz="105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F750850-75A3-02F4-2718-9DBE8628C2DB}"/>
              </a:ext>
            </a:extLst>
          </p:cNvPr>
          <p:cNvSpPr txBox="1"/>
          <p:nvPr/>
        </p:nvSpPr>
        <p:spPr>
          <a:xfrm>
            <a:off x="3371401" y="4270251"/>
            <a:ext cx="16952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50" b="1" dirty="0">
                <a:highlight>
                  <a:srgbClr val="FFFF00"/>
                </a:highlight>
              </a:rPr>
              <a:t>新購 </a:t>
            </a:r>
            <a:r>
              <a:rPr lang="en-US" altLang="zh-TW" sz="1050" b="1" dirty="0"/>
              <a:t>: Exadata X11M-Z</a:t>
            </a:r>
            <a:endParaRPr lang="zh-TW" altLang="en-US" sz="105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D9619A-2467-87E6-9299-957BCD1A0ED8}"/>
              </a:ext>
            </a:extLst>
          </p:cNvPr>
          <p:cNvSpPr txBox="1"/>
          <p:nvPr/>
        </p:nvSpPr>
        <p:spPr>
          <a:xfrm>
            <a:off x="3588728" y="2534021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00FFFF"/>
                </a:highlight>
              </a:rPr>
              <a:t>ODS - PRD</a:t>
            </a:r>
            <a:endParaRPr lang="zh-TW" altLang="en-US" sz="1050" b="1" dirty="0">
              <a:highlight>
                <a:srgbClr val="00FFFF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2E5ADA9-A701-9951-A166-F89B92B4699E}"/>
              </a:ext>
            </a:extLst>
          </p:cNvPr>
          <p:cNvSpPr txBox="1"/>
          <p:nvPr/>
        </p:nvSpPr>
        <p:spPr>
          <a:xfrm>
            <a:off x="7228517" y="2534021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00FFFF"/>
                </a:highlight>
              </a:rPr>
              <a:t>ODS - DR</a:t>
            </a:r>
            <a:endParaRPr lang="zh-TW" altLang="en-US" sz="1050" b="1" dirty="0">
              <a:highlight>
                <a:srgbClr val="00FFFF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ECAE12D-59C5-9101-E5BE-4423E47EB3B4}"/>
              </a:ext>
            </a:extLst>
          </p:cNvPr>
          <p:cNvSpPr txBox="1"/>
          <p:nvPr/>
        </p:nvSpPr>
        <p:spPr>
          <a:xfrm>
            <a:off x="1341234" y="3907952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00FFFF"/>
                </a:highlight>
              </a:rPr>
              <a:t>ODS - UAT</a:t>
            </a:r>
            <a:endParaRPr lang="zh-TW" altLang="en-US" sz="1050" b="1" dirty="0">
              <a:highlight>
                <a:srgbClr val="00FFFF"/>
              </a:highlight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B53A45-C723-6B3C-58AA-FB5E647C7831}"/>
              </a:ext>
            </a:extLst>
          </p:cNvPr>
          <p:cNvSpPr txBox="1"/>
          <p:nvPr/>
        </p:nvSpPr>
        <p:spPr>
          <a:xfrm>
            <a:off x="3588726" y="2289442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FF00FF"/>
                </a:highlight>
              </a:rPr>
              <a:t>ELN - PRD</a:t>
            </a:r>
            <a:endParaRPr lang="zh-TW" altLang="en-US" sz="1050" b="1" dirty="0">
              <a:highlight>
                <a:srgbClr val="FF00FF"/>
              </a:highlight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DBA946AC-347A-7518-46E2-1C8C9BE5F4E3}"/>
              </a:ext>
            </a:extLst>
          </p:cNvPr>
          <p:cNvSpPr/>
          <p:nvPr/>
        </p:nvSpPr>
        <p:spPr>
          <a:xfrm>
            <a:off x="4849124" y="2425050"/>
            <a:ext cx="2176103" cy="3320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/>
              <a:t>Data Guard</a:t>
            </a:r>
            <a:endParaRPr lang="zh-TW" altLang="en-US" sz="1050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43C25D06-D2F1-376E-5FF0-F7DB3B1C2445}"/>
              </a:ext>
            </a:extLst>
          </p:cNvPr>
          <p:cNvSpPr/>
          <p:nvPr/>
        </p:nvSpPr>
        <p:spPr>
          <a:xfrm>
            <a:off x="2236759" y="2533410"/>
            <a:ext cx="1444089" cy="27967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b="1" dirty="0"/>
              <a:t>Oracle </a:t>
            </a:r>
            <a:r>
              <a:rPr lang="en-US" altLang="zh-TW" sz="900" b="1" dirty="0" err="1"/>
              <a:t>GoldenGate</a:t>
            </a:r>
            <a:endParaRPr lang="zh-TW" altLang="en-US" sz="900" b="1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F18DC70-B04B-6E68-7EA6-B73C726B95ED}"/>
              </a:ext>
            </a:extLst>
          </p:cNvPr>
          <p:cNvSpPr txBox="1"/>
          <p:nvPr/>
        </p:nvSpPr>
        <p:spPr>
          <a:xfrm>
            <a:off x="1330879" y="3663984"/>
            <a:ext cx="1087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highlight>
                  <a:srgbClr val="FF00FF"/>
                </a:highlight>
              </a:rPr>
              <a:t>ELN - UAT</a:t>
            </a:r>
            <a:endParaRPr lang="zh-TW" altLang="en-US" sz="1050" b="1" dirty="0">
              <a:highlight>
                <a:srgbClr val="FF00FF"/>
              </a:highligh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DAD6D8A-5078-9A8A-9421-F2D7233D35A9}"/>
              </a:ext>
            </a:extLst>
          </p:cNvPr>
          <p:cNvSpPr txBox="1"/>
          <p:nvPr/>
        </p:nvSpPr>
        <p:spPr>
          <a:xfrm>
            <a:off x="5797995" y="620689"/>
            <a:ext cx="9770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dirty="0">
                <a:solidFill>
                  <a:srgbClr val="33A952"/>
                </a:solidFill>
              </a:rPr>
              <a:t>龍潭機房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9D5233D-9859-5E7A-A67B-15FF1A7EB5E4}"/>
              </a:ext>
            </a:extLst>
          </p:cNvPr>
          <p:cNvSpPr txBox="1"/>
          <p:nvPr/>
        </p:nvSpPr>
        <p:spPr>
          <a:xfrm>
            <a:off x="4735362" y="620689"/>
            <a:ext cx="9770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dirty="0">
                <a:solidFill>
                  <a:schemeClr val="accent2">
                    <a:lumMod val="75000"/>
                  </a:schemeClr>
                </a:solidFill>
              </a:rPr>
              <a:t>內湖機房</a:t>
            </a: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BA8E00A1-4FDF-3E18-8756-F4F1E981CC9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77402" y="2131868"/>
            <a:ext cx="530467" cy="428625"/>
            <a:chOff x="4097067" y="1576001"/>
            <a:chExt cx="935660" cy="806603"/>
          </a:xfrm>
        </p:grpSpPr>
        <p:sp>
          <p:nvSpPr>
            <p:cNvPr id="31" name="Hexagon 13">
              <a:extLst>
                <a:ext uri="{FF2B5EF4-FFF2-40B4-BE49-F238E27FC236}">
                  <a16:creationId xmlns:a16="http://schemas.microsoft.com/office/drawing/2014/main" id="{67CC9122-83DC-A84C-9C0D-7F3603B51EF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097067" y="1576001"/>
              <a:ext cx="935660" cy="806603"/>
            </a:xfrm>
            <a:prstGeom prst="hexagon">
              <a:avLst/>
            </a:prstGeom>
            <a:solidFill>
              <a:srgbClr val="FBE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00">
                <a:defRPr/>
              </a:pPr>
              <a:endParaRPr lang="en-US" sz="900">
                <a:solidFill>
                  <a:srgbClr val="312D2A">
                    <a:lumMod val="60000"/>
                    <a:lumOff val="40000"/>
                  </a:srgbClr>
                </a:solidFill>
                <a:latin typeface="Oracle Sans Tab"/>
              </a:endParaRPr>
            </a:p>
          </p:txBody>
        </p:sp>
        <p:pic>
          <p:nvPicPr>
            <p:cNvPr id="32" name="Picture 14">
              <a:extLst>
                <a:ext uri="{FF2B5EF4-FFF2-40B4-BE49-F238E27FC236}">
                  <a16:creationId xmlns:a16="http://schemas.microsoft.com/office/drawing/2014/main" id="{C4EE5808-7567-44B2-5DD1-97B9C3AFF70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67148" y="1784499"/>
              <a:ext cx="641849" cy="3968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C92B02F-2515-2FD5-EAD1-813343441E4D}"/>
              </a:ext>
            </a:extLst>
          </p:cNvPr>
          <p:cNvSpPr txBox="1"/>
          <p:nvPr/>
        </p:nvSpPr>
        <p:spPr>
          <a:xfrm>
            <a:off x="7010158" y="3043189"/>
            <a:ext cx="14429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50" b="1" dirty="0"/>
              <a:t>既有 </a:t>
            </a:r>
            <a:r>
              <a:rPr lang="en-US" altLang="zh-TW" sz="1050" b="1" dirty="0"/>
              <a:t>: ODA X8-HA</a:t>
            </a:r>
            <a:endParaRPr lang="zh-TW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46869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A9CAB08-93B0-2BE5-BCE6-C275519731B5}"/>
              </a:ext>
            </a:extLst>
          </p:cNvPr>
          <p:cNvSpPr txBox="1"/>
          <p:nvPr/>
        </p:nvSpPr>
        <p:spPr>
          <a:xfrm>
            <a:off x="3217985" y="2066192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4800" b="1" dirty="0">
                <a:solidFill>
                  <a:schemeClr val="bg1"/>
                </a:solidFill>
              </a:rPr>
              <a:t>專案管理與風險控管</a:t>
            </a:r>
          </a:p>
        </p:txBody>
      </p:sp>
    </p:spTree>
    <p:extLst>
      <p:ext uri="{BB962C8B-B14F-4D97-AF65-F5344CB8AC3E}">
        <p14:creationId xmlns:p14="http://schemas.microsoft.com/office/powerpoint/2010/main" val="462253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CEC1-81BF-07A5-4DFE-E799E198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1D5B3B86-04A0-519F-9B8E-A0905AAC9D3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7001" y="168211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專案時程 </a:t>
            </a:r>
            <a:r>
              <a:rPr kumimoji="1" lang="en-US" altLang="zh-TW" dirty="0">
                <a:solidFill>
                  <a:srgbClr val="0070C0"/>
                </a:solidFill>
              </a:rPr>
              <a:t>–</a:t>
            </a:r>
            <a:r>
              <a:rPr kumimoji="1" lang="zh-TW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TW" dirty="0">
                <a:solidFill>
                  <a:srgbClr val="0070C0"/>
                </a:solidFill>
              </a:rPr>
              <a:t>Phase 1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4A53E30-D119-49E8-E971-4EFFCB4CC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628036"/>
              </p:ext>
            </p:extLst>
          </p:nvPr>
        </p:nvGraphicFramePr>
        <p:xfrm>
          <a:off x="601932" y="1133671"/>
          <a:ext cx="6945496" cy="3648137"/>
        </p:xfrm>
        <a:graphic>
          <a:graphicData uri="http://schemas.openxmlformats.org/drawingml/2006/table">
            <a:tbl>
              <a:tblPr/>
              <a:tblGrid>
                <a:gridCol w="1876924">
                  <a:extLst>
                    <a:ext uri="{9D8B030D-6E8A-4147-A177-3AD203B41FA5}">
                      <a16:colId xmlns:a16="http://schemas.microsoft.com/office/drawing/2014/main" val="2291567694"/>
                    </a:ext>
                  </a:extLst>
                </a:gridCol>
                <a:gridCol w="2691393">
                  <a:extLst>
                    <a:ext uri="{9D8B030D-6E8A-4147-A177-3AD203B41FA5}">
                      <a16:colId xmlns:a16="http://schemas.microsoft.com/office/drawing/2014/main" val="3747933988"/>
                    </a:ext>
                  </a:extLst>
                </a:gridCol>
                <a:gridCol w="661819">
                  <a:extLst>
                    <a:ext uri="{9D8B030D-6E8A-4147-A177-3AD203B41FA5}">
                      <a16:colId xmlns:a16="http://schemas.microsoft.com/office/drawing/2014/main" val="4179209840"/>
                    </a:ext>
                  </a:extLst>
                </a:gridCol>
                <a:gridCol w="606666">
                  <a:extLst>
                    <a:ext uri="{9D8B030D-6E8A-4147-A177-3AD203B41FA5}">
                      <a16:colId xmlns:a16="http://schemas.microsoft.com/office/drawing/2014/main" val="2276310400"/>
                    </a:ext>
                  </a:extLst>
                </a:gridCol>
                <a:gridCol w="1108694">
                  <a:extLst>
                    <a:ext uri="{9D8B030D-6E8A-4147-A177-3AD203B41FA5}">
                      <a16:colId xmlns:a16="http://schemas.microsoft.com/office/drawing/2014/main" val="443100098"/>
                    </a:ext>
                  </a:extLst>
                </a:gridCol>
              </a:tblGrid>
              <a:tr h="252443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Schedule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(2026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年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41917"/>
                  </a:ext>
                </a:extLst>
              </a:tr>
              <a:tr h="197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計劃案階段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40329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計劃案起案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Kick off Meeting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5/17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5/17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030255"/>
                  </a:ext>
                </a:extLst>
              </a:tr>
              <a:tr h="221493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1-1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[UAT] EDW(IFRS)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Oracle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Oracle ODA X8-HA 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升級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2604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Infra / IT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系統軟體、網路與外圍應用系統檢查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99593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>
                          <a:latin typeface="微軟正黑體" panose="020B0604030504040204" pitchFamily="34" charset="-120"/>
                          <a:ea typeface="+mn-ea"/>
                        </a:rPr>
                        <a:t>EDW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(IFRS)</a:t>
                      </a: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+mn-ea"/>
                        </a:rPr>
                        <a:t>資料庫：移轉驗證與升級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、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AP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測試</a:t>
                      </a:r>
                      <a:endParaRPr lang="en-US" altLang="zh-TW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403820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ELN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資料庫： 系統驗證與升級、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AP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測試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6358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RunBook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139871"/>
                  </a:ext>
                </a:extLst>
              </a:tr>
              <a:tr h="22149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1-2 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[PRD] Exadata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效能及快照測試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Exadata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安裝建置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064060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CBK AT/PT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392307"/>
                  </a:ext>
                </a:extLst>
              </a:tr>
              <a:tr h="221493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1-3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[PRD] EDW(IFRS) Oracle 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Exadata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資料庫建立與</a:t>
                      </a:r>
                      <a:r>
                        <a:rPr lang="en-US" altLang="zh-TW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GoldenGate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安裝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92301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(IFRS)</a:t>
                      </a: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資料庫正式環境演練移轉</a:t>
                      </a:r>
                      <a:endParaRPr lang="en-US" altLang="zh-TW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286100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CBK --&gt; 19cEDW </a:t>
                      </a: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GoldenGate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機制驗證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70646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RunBook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確認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61238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EDW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(IFRS)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資料庫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/</a:t>
                      </a: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GolenGate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 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正式環境正式移轉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433930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日常維運機制建置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52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909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5A18-E4F0-5CA4-5BC4-81995D0A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998422E1-13C5-531C-BBFF-ACCFCA91C39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943" y="236069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專案時程 </a:t>
            </a:r>
            <a:r>
              <a:rPr kumimoji="1" lang="en-US" altLang="zh-TW" dirty="0">
                <a:solidFill>
                  <a:srgbClr val="0070C0"/>
                </a:solidFill>
              </a:rPr>
              <a:t>–</a:t>
            </a:r>
            <a:r>
              <a:rPr kumimoji="1" lang="zh-TW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TW" dirty="0">
                <a:solidFill>
                  <a:srgbClr val="0070C0"/>
                </a:solidFill>
              </a:rPr>
              <a:t>Phase 2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D85D86-EE7B-FB0D-9176-2953F92D1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01771"/>
              </p:ext>
            </p:extLst>
          </p:nvPr>
        </p:nvGraphicFramePr>
        <p:xfrm>
          <a:off x="455800" y="1546009"/>
          <a:ext cx="7178713" cy="1962787"/>
        </p:xfrm>
        <a:graphic>
          <a:graphicData uri="http://schemas.openxmlformats.org/drawingml/2006/table">
            <a:tbl>
              <a:tblPr/>
              <a:tblGrid>
                <a:gridCol w="1964130">
                  <a:extLst>
                    <a:ext uri="{9D8B030D-6E8A-4147-A177-3AD203B41FA5}">
                      <a16:colId xmlns:a16="http://schemas.microsoft.com/office/drawing/2014/main" val="2291567694"/>
                    </a:ext>
                  </a:extLst>
                </a:gridCol>
                <a:gridCol w="2768983">
                  <a:extLst>
                    <a:ext uri="{9D8B030D-6E8A-4147-A177-3AD203B41FA5}">
                      <a16:colId xmlns:a16="http://schemas.microsoft.com/office/drawing/2014/main" val="3747933988"/>
                    </a:ext>
                  </a:extLst>
                </a:gridCol>
                <a:gridCol w="661239">
                  <a:extLst>
                    <a:ext uri="{9D8B030D-6E8A-4147-A177-3AD203B41FA5}">
                      <a16:colId xmlns:a16="http://schemas.microsoft.com/office/drawing/2014/main" val="4179209840"/>
                    </a:ext>
                  </a:extLst>
                </a:gridCol>
                <a:gridCol w="638438">
                  <a:extLst>
                    <a:ext uri="{9D8B030D-6E8A-4147-A177-3AD203B41FA5}">
                      <a16:colId xmlns:a16="http://schemas.microsoft.com/office/drawing/2014/main" val="2276310400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443100098"/>
                    </a:ext>
                  </a:extLst>
                </a:gridCol>
              </a:tblGrid>
              <a:tr h="224734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Schedule (2027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41917"/>
                  </a:ext>
                </a:extLst>
              </a:tr>
              <a:tr h="1807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計劃案階段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40329"/>
                  </a:ext>
                </a:extLst>
              </a:tr>
              <a:tr h="22149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2-1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[PRD] ELN Migration 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到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Exadata</a:t>
                      </a: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ELN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資料庫</a:t>
                      </a: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DataGuard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備援機制到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Exadata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614747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RunBook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確認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4872"/>
                  </a:ext>
                </a:extLst>
              </a:tr>
              <a:tr h="224926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ELN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資料庫正式環境移轉至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Exadata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85178"/>
                  </a:ext>
                </a:extLst>
              </a:tr>
              <a:tr h="2249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ELN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日常維運機制建置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317638"/>
                  </a:ext>
                </a:extLst>
              </a:tr>
              <a:tr h="22149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Phase 2-2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[DR] ODA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移機及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EDW(IFRS)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建置</a:t>
                      </a:r>
                      <a:endParaRPr lang="en-US" altLang="zh-TW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龍潭機房環境與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IP</a:t>
                      </a:r>
                      <a:r>
                        <a:rPr lang="zh-TW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、防火牆網路資訊準備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137081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Oracle ODA X8-HA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一座遷移至備援機房與升級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492512"/>
                  </a:ext>
                </a:extLst>
              </a:tr>
              <a:tr h="22149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EDW</a:t>
                      </a: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(IFRS)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資料庫備援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ODA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</a:rPr>
                        <a:t>環境建置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Not start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98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94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圓角矩形 8">
            <a:extLst>
              <a:ext uri="{FF2B5EF4-FFF2-40B4-BE49-F238E27FC236}">
                <a16:creationId xmlns:a16="http://schemas.microsoft.com/office/drawing/2014/main" id="{FA5B461A-C7D3-0428-7EC6-1BD5875C34FF}"/>
              </a:ext>
            </a:extLst>
          </p:cNvPr>
          <p:cNvSpPr/>
          <p:nvPr/>
        </p:nvSpPr>
        <p:spPr>
          <a:xfrm>
            <a:off x="123093" y="1107831"/>
            <a:ext cx="1063869" cy="55391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b="1" dirty="0"/>
              <a:t>專案成立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7BD1FC3-74D5-D985-788E-85CE8D4855F8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186962" y="661597"/>
            <a:ext cx="645757" cy="73806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C1630C6-7E5B-57BC-B24D-DA094B49891E}"/>
              </a:ext>
            </a:extLst>
          </p:cNvPr>
          <p:cNvCxnSpPr>
            <a:cxnSpLocks/>
          </p:cNvCxnSpPr>
          <p:nvPr/>
        </p:nvCxnSpPr>
        <p:spPr>
          <a:xfrm>
            <a:off x="1166941" y="1384788"/>
            <a:ext cx="66577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3D3E1124-B92C-0C67-1BA4-2B1ABB85DC25}"/>
              </a:ext>
            </a:extLst>
          </p:cNvPr>
          <p:cNvGrpSpPr/>
          <p:nvPr/>
        </p:nvGrpSpPr>
        <p:grpSpPr>
          <a:xfrm>
            <a:off x="1811216" y="339929"/>
            <a:ext cx="1468315" cy="643335"/>
            <a:chOff x="2639986" y="1067283"/>
            <a:chExt cx="1884647" cy="942323"/>
          </a:xfrm>
          <a:solidFill>
            <a:srgbClr val="FFC000"/>
          </a:solidFill>
        </p:grpSpPr>
        <p:sp>
          <p:nvSpPr>
            <p:cNvPr id="18" name="圓角矩形 17">
              <a:extLst>
                <a:ext uri="{FF2B5EF4-FFF2-40B4-BE49-F238E27FC236}">
                  <a16:creationId xmlns:a16="http://schemas.microsoft.com/office/drawing/2014/main" id="{38EE46BC-2D39-3EB0-7077-30799085E720}"/>
                </a:ext>
              </a:extLst>
            </p:cNvPr>
            <p:cNvSpPr/>
            <p:nvPr/>
          </p:nvSpPr>
          <p:spPr>
            <a:xfrm>
              <a:off x="2639986" y="1067283"/>
              <a:ext cx="1884647" cy="942323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 sz="1200" b="1"/>
            </a:p>
          </p:txBody>
        </p:sp>
        <p:sp>
          <p:nvSpPr>
            <p:cNvPr id="19" name="圓角矩形 4">
              <a:extLst>
                <a:ext uri="{FF2B5EF4-FFF2-40B4-BE49-F238E27FC236}">
                  <a16:creationId xmlns:a16="http://schemas.microsoft.com/office/drawing/2014/main" id="{D5B7D156-E583-D7BA-5909-F8DA83BDA3E3}"/>
                </a:ext>
              </a:extLst>
            </p:cNvPr>
            <p:cNvSpPr txBox="1"/>
            <p:nvPr/>
          </p:nvSpPr>
          <p:spPr>
            <a:xfrm>
              <a:off x="2667586" y="1094883"/>
              <a:ext cx="1829447" cy="8871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050" b="1" kern="1200" dirty="0"/>
                <a:t>專案組織成立，確立各專案執掌工作內容與相關時程</a:t>
              </a: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7DEAA53A-86EC-06C7-9F02-7D4327F6624C}"/>
              </a:ext>
            </a:extLst>
          </p:cNvPr>
          <p:cNvGrpSpPr/>
          <p:nvPr/>
        </p:nvGrpSpPr>
        <p:grpSpPr>
          <a:xfrm>
            <a:off x="1811215" y="1026705"/>
            <a:ext cx="1468315" cy="675785"/>
            <a:chOff x="2639986" y="2150956"/>
            <a:chExt cx="1884647" cy="942323"/>
          </a:xfrm>
          <a:solidFill>
            <a:srgbClr val="FFC000"/>
          </a:solidFill>
        </p:grpSpPr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69F359D1-535B-AD7A-4171-36DAC71B1C30}"/>
                </a:ext>
              </a:extLst>
            </p:cNvPr>
            <p:cNvSpPr/>
            <p:nvPr/>
          </p:nvSpPr>
          <p:spPr>
            <a:xfrm>
              <a:off x="2639986" y="2150956"/>
              <a:ext cx="1884647" cy="942323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 sz="1200" b="1"/>
            </a:p>
          </p:txBody>
        </p:sp>
        <p:sp>
          <p:nvSpPr>
            <p:cNvPr id="24" name="圓角矩形 4">
              <a:extLst>
                <a:ext uri="{FF2B5EF4-FFF2-40B4-BE49-F238E27FC236}">
                  <a16:creationId xmlns:a16="http://schemas.microsoft.com/office/drawing/2014/main" id="{A21249D2-D90F-460A-E962-F2D6E8D955D5}"/>
                </a:ext>
              </a:extLst>
            </p:cNvPr>
            <p:cNvSpPr txBox="1"/>
            <p:nvPr/>
          </p:nvSpPr>
          <p:spPr>
            <a:xfrm>
              <a:off x="2667586" y="2178556"/>
              <a:ext cx="1829447" cy="8871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050" b="1" kern="1200" dirty="0"/>
                <a:t>訂定里程碑，定期檢視專案達成進度，溝通協調問題與問題排除</a:t>
              </a:r>
            </a:p>
          </p:txBody>
        </p:sp>
      </p:grp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84A4AC1-83F6-4D08-C97D-8AFD88AC4D15}"/>
              </a:ext>
            </a:extLst>
          </p:cNvPr>
          <p:cNvCxnSpPr>
            <a:stCxn id="9" idx="3"/>
          </p:cNvCxnSpPr>
          <p:nvPr/>
        </p:nvCxnSpPr>
        <p:spPr>
          <a:xfrm>
            <a:off x="1186962" y="1384789"/>
            <a:ext cx="645756" cy="66381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1DCAF703-3C81-1E27-9737-6B230428C3FA}"/>
              </a:ext>
            </a:extLst>
          </p:cNvPr>
          <p:cNvGrpSpPr/>
          <p:nvPr/>
        </p:nvGrpSpPr>
        <p:grpSpPr>
          <a:xfrm>
            <a:off x="1811215" y="1757749"/>
            <a:ext cx="1468315" cy="581006"/>
            <a:chOff x="2639986" y="3234628"/>
            <a:chExt cx="1884647" cy="942323"/>
          </a:xfrm>
          <a:solidFill>
            <a:srgbClr val="FFC000"/>
          </a:solidFill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B040C418-A82F-EAFC-4B48-030C0E08F434}"/>
                </a:ext>
              </a:extLst>
            </p:cNvPr>
            <p:cNvSpPr/>
            <p:nvPr/>
          </p:nvSpPr>
          <p:spPr>
            <a:xfrm>
              <a:off x="2639986" y="3234628"/>
              <a:ext cx="1884647" cy="942323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 sz="1200" b="1"/>
            </a:p>
          </p:txBody>
        </p:sp>
        <p:sp>
          <p:nvSpPr>
            <p:cNvPr id="29" name="圓角矩形 4">
              <a:extLst>
                <a:ext uri="{FF2B5EF4-FFF2-40B4-BE49-F238E27FC236}">
                  <a16:creationId xmlns:a16="http://schemas.microsoft.com/office/drawing/2014/main" id="{B2746305-CCA7-461E-C0BD-2FD7984A2A68}"/>
                </a:ext>
              </a:extLst>
            </p:cNvPr>
            <p:cNvSpPr txBox="1"/>
            <p:nvPr/>
          </p:nvSpPr>
          <p:spPr>
            <a:xfrm>
              <a:off x="2667586" y="3262228"/>
              <a:ext cx="1829447" cy="8871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1050" b="1" kern="1200" dirty="0"/>
                <a:t>業務支援與資源協調</a:t>
              </a: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E8783CC9-7F8E-3A10-D46E-A862FE38D565}"/>
              </a:ext>
            </a:extLst>
          </p:cNvPr>
          <p:cNvSpPr/>
          <p:nvPr/>
        </p:nvSpPr>
        <p:spPr>
          <a:xfrm>
            <a:off x="404660" y="2762117"/>
            <a:ext cx="2533665" cy="1849842"/>
          </a:xfrm>
          <a:prstGeom prst="rect">
            <a:avLst/>
          </a:prstGeom>
          <a:ln w="31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b="1" dirty="0"/>
              <a:t>專案管理方式</a:t>
            </a:r>
            <a:r>
              <a:rPr lang="en-US" altLang="zh-TW" sz="1400" b="1" dirty="0"/>
              <a:t>(</a:t>
            </a:r>
            <a:r>
              <a:rPr lang="zh-TW" altLang="en-US" sz="1400" b="1" dirty="0"/>
              <a:t>專案進度會議</a:t>
            </a:r>
            <a:r>
              <a:rPr lang="en-US" altLang="zh-TW" sz="1400" b="1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/>
              <a:t>定期審查進度與內容</a:t>
            </a:r>
            <a:endParaRPr lang="en-US" altLang="zh-TW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/>
              <a:t>問題協調與排除</a:t>
            </a:r>
            <a:endParaRPr lang="en-US" altLang="zh-TW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/>
              <a:t>資源協調與溝通</a:t>
            </a:r>
            <a:endParaRPr lang="en-US" altLang="zh-TW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/>
              <a:t>各項進度彙整</a:t>
            </a:r>
            <a:endParaRPr lang="en-US" altLang="zh-TW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/>
              <a:t>各項應交付項目準備</a:t>
            </a:r>
            <a:endParaRPr lang="en-US" altLang="zh-TW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/>
              <a:t>上線及驗收</a:t>
            </a:r>
            <a:endParaRPr lang="en-US" altLang="zh-TW" sz="1400" b="1" dirty="0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8AC3B40-F51C-7981-A985-5F53865E4C63}"/>
              </a:ext>
            </a:extLst>
          </p:cNvPr>
          <p:cNvCxnSpPr>
            <a:cxnSpLocks/>
            <a:stCxn id="24" idx="3"/>
            <a:endCxn id="34" idx="1"/>
          </p:cNvCxnSpPr>
          <p:nvPr/>
        </p:nvCxnSpPr>
        <p:spPr>
          <a:xfrm flipV="1">
            <a:off x="3258027" y="326615"/>
            <a:ext cx="851898" cy="103798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4" name="矩形: 圓角 6">
            <a:extLst>
              <a:ext uri="{FF2B5EF4-FFF2-40B4-BE49-F238E27FC236}">
                <a16:creationId xmlns:a16="http://schemas.microsoft.com/office/drawing/2014/main" id="{8573B3F8-4AAF-F564-8E5F-574BAAF140BD}"/>
              </a:ext>
            </a:extLst>
          </p:cNvPr>
          <p:cNvSpPr/>
          <p:nvPr/>
        </p:nvSpPr>
        <p:spPr>
          <a:xfrm>
            <a:off x="4109925" y="106410"/>
            <a:ext cx="1805158" cy="440410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/>
              <a:t>Exadata</a:t>
            </a:r>
            <a:r>
              <a:rPr lang="zh-TW" altLang="en-US" sz="1200" b="1" dirty="0"/>
              <a:t>到貨與建置</a:t>
            </a: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6399877F-7026-5D79-7A5F-A25EA52C9566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 flipV="1">
            <a:off x="3258027" y="881801"/>
            <a:ext cx="851898" cy="48279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矩形: 圓角 6">
            <a:extLst>
              <a:ext uri="{FF2B5EF4-FFF2-40B4-BE49-F238E27FC236}">
                <a16:creationId xmlns:a16="http://schemas.microsoft.com/office/drawing/2014/main" id="{0848E2F5-195E-7B99-7956-493138B47F0F}"/>
              </a:ext>
            </a:extLst>
          </p:cNvPr>
          <p:cNvSpPr/>
          <p:nvPr/>
        </p:nvSpPr>
        <p:spPr>
          <a:xfrm>
            <a:off x="4109925" y="661596"/>
            <a:ext cx="1805158" cy="440410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ctr">
              <a:defRPr/>
            </a:pPr>
            <a:r>
              <a:rPr lang="en-US" altLang="zh-TW" sz="1200" b="1" dirty="0">
                <a:solidFill>
                  <a:schemeClr val="bg1"/>
                </a:solidFill>
              </a:rPr>
              <a:t>[UAT] EDW(IFRS)</a:t>
            </a:r>
            <a:r>
              <a:rPr lang="zh-TW" altLang="en-US" sz="1200" b="1" dirty="0">
                <a:solidFill>
                  <a:schemeClr val="bg1"/>
                </a:solidFill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</a:rPr>
              <a:t>Oracle</a:t>
            </a:r>
            <a:r>
              <a:rPr lang="zh-TW" altLang="en-US" sz="1200" b="1" dirty="0">
                <a:solidFill>
                  <a:schemeClr val="bg1"/>
                </a:solidFill>
              </a:rPr>
              <a:t>升級</a:t>
            </a:r>
            <a:endParaRPr lang="en-US" altLang="zh-TW" sz="1200" b="1" dirty="0">
              <a:solidFill>
                <a:schemeClr val="bg1"/>
              </a:solidFill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FE4CBB4-3493-D07B-B90B-48C093B50DA3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3279530" y="1364598"/>
            <a:ext cx="810078" cy="8361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3" name="矩形: 圓角 6">
            <a:extLst>
              <a:ext uri="{FF2B5EF4-FFF2-40B4-BE49-F238E27FC236}">
                <a16:creationId xmlns:a16="http://schemas.microsoft.com/office/drawing/2014/main" id="{01CF3F25-D1D6-8BF7-9739-49F1B4673EB5}"/>
              </a:ext>
            </a:extLst>
          </p:cNvPr>
          <p:cNvSpPr/>
          <p:nvPr/>
        </p:nvSpPr>
        <p:spPr>
          <a:xfrm>
            <a:off x="4089608" y="1223317"/>
            <a:ext cx="1805158" cy="44978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ctr">
              <a:defRPr/>
            </a:pPr>
            <a:r>
              <a:rPr lang="en-US" altLang="zh-TW" sz="1200" b="1" dirty="0">
                <a:solidFill>
                  <a:schemeClr val="bg1"/>
                </a:solidFill>
              </a:rPr>
              <a:t>[PRD] Exadata</a:t>
            </a:r>
            <a:r>
              <a:rPr lang="zh-TW" altLang="en-US" sz="1200" b="1" dirty="0">
                <a:solidFill>
                  <a:schemeClr val="bg1"/>
                </a:solidFill>
              </a:rPr>
              <a:t>效能及快照測試</a:t>
            </a:r>
            <a:endParaRPr lang="en-US" altLang="zh-TW" sz="1200" b="1" dirty="0">
              <a:solidFill>
                <a:schemeClr val="bg1"/>
              </a:solidFill>
            </a:endParaRPr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C43C982B-687D-9363-8BE2-C15EF96EADC7}"/>
              </a:ext>
            </a:extLst>
          </p:cNvPr>
          <p:cNvCxnSpPr>
            <a:cxnSpLocks/>
            <a:stCxn id="24" idx="3"/>
            <a:endCxn id="52" idx="1"/>
          </p:cNvCxnSpPr>
          <p:nvPr/>
        </p:nvCxnSpPr>
        <p:spPr>
          <a:xfrm>
            <a:off x="3258027" y="1364597"/>
            <a:ext cx="830396" cy="66693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矩形: 圓角 6">
            <a:extLst>
              <a:ext uri="{FF2B5EF4-FFF2-40B4-BE49-F238E27FC236}">
                <a16:creationId xmlns:a16="http://schemas.microsoft.com/office/drawing/2014/main" id="{9EBCC6A1-1A7D-8883-D40E-A7E9ABCF3636}"/>
              </a:ext>
            </a:extLst>
          </p:cNvPr>
          <p:cNvSpPr/>
          <p:nvPr/>
        </p:nvSpPr>
        <p:spPr>
          <a:xfrm>
            <a:off x="4088423" y="1806642"/>
            <a:ext cx="1805158" cy="44978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zh-TW" sz="1200" b="1" dirty="0">
                <a:solidFill>
                  <a:schemeClr val="bg1"/>
                </a:solidFill>
              </a:rPr>
              <a:t>[PRD] EDW(IFRS) Oracle </a:t>
            </a:r>
            <a:r>
              <a:rPr lang="zh-TW" altLang="en-US" sz="1200" b="1" dirty="0">
                <a:solidFill>
                  <a:schemeClr val="bg1"/>
                </a:solidFill>
              </a:rPr>
              <a:t>升級</a:t>
            </a:r>
            <a:endParaRPr lang="en-US" altLang="zh-TW" sz="1200" b="1" dirty="0">
              <a:solidFill>
                <a:schemeClr val="bg1"/>
              </a:solidFill>
            </a:endParaRPr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4C0353B6-3E5C-8D31-2ECF-28BFDE9164A2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3254416" y="1667600"/>
            <a:ext cx="819645" cy="123411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5" name="矩形: 圓角 6">
            <a:extLst>
              <a:ext uri="{FF2B5EF4-FFF2-40B4-BE49-F238E27FC236}">
                <a16:creationId xmlns:a16="http://schemas.microsoft.com/office/drawing/2014/main" id="{4C5E728D-34DD-DDD8-9F5E-DE3282F171AA}"/>
              </a:ext>
            </a:extLst>
          </p:cNvPr>
          <p:cNvSpPr/>
          <p:nvPr/>
        </p:nvSpPr>
        <p:spPr>
          <a:xfrm>
            <a:off x="4074061" y="2676826"/>
            <a:ext cx="1805158" cy="44978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ctr">
              <a:defRPr/>
            </a:pP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[PRD] ELN Migration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到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Exadata</a:t>
            </a: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A5707349-83D2-23D2-8EE8-59FE1B0532A7}"/>
              </a:ext>
            </a:extLst>
          </p:cNvPr>
          <p:cNvCxnSpPr>
            <a:cxnSpLocks/>
            <a:stCxn id="24" idx="3"/>
            <a:endCxn id="60" idx="1"/>
          </p:cNvCxnSpPr>
          <p:nvPr/>
        </p:nvCxnSpPr>
        <p:spPr>
          <a:xfrm>
            <a:off x="3258027" y="1364597"/>
            <a:ext cx="816034" cy="212857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0" name="矩形: 圓角 6">
            <a:extLst>
              <a:ext uri="{FF2B5EF4-FFF2-40B4-BE49-F238E27FC236}">
                <a16:creationId xmlns:a16="http://schemas.microsoft.com/office/drawing/2014/main" id="{335CA5AE-28BB-9B54-8F2D-12576A1327A3}"/>
              </a:ext>
            </a:extLst>
          </p:cNvPr>
          <p:cNvSpPr/>
          <p:nvPr/>
        </p:nvSpPr>
        <p:spPr>
          <a:xfrm>
            <a:off x="4074061" y="3268279"/>
            <a:ext cx="1805158" cy="44978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ctr">
              <a:defRPr/>
            </a:pP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[DR] ODA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移機及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EDW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(IFRS) DR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建置</a:t>
            </a:r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F05D5DCE-C741-5B44-B18E-355F1B9CA902}"/>
              </a:ext>
            </a:extLst>
          </p:cNvPr>
          <p:cNvCxnSpPr>
            <a:cxnSpLocks/>
            <a:stCxn id="24" idx="3"/>
            <a:endCxn id="70" idx="1"/>
          </p:cNvCxnSpPr>
          <p:nvPr/>
        </p:nvCxnSpPr>
        <p:spPr>
          <a:xfrm>
            <a:off x="3258027" y="1364597"/>
            <a:ext cx="814849" cy="288086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0" name="矩形: 圓角 6">
            <a:extLst>
              <a:ext uri="{FF2B5EF4-FFF2-40B4-BE49-F238E27FC236}">
                <a16:creationId xmlns:a16="http://schemas.microsoft.com/office/drawing/2014/main" id="{2AD97895-D25B-BF91-EE22-42323F5325F2}"/>
              </a:ext>
            </a:extLst>
          </p:cNvPr>
          <p:cNvSpPr/>
          <p:nvPr/>
        </p:nvSpPr>
        <p:spPr>
          <a:xfrm>
            <a:off x="4072876" y="4020570"/>
            <a:ext cx="1805158" cy="449781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/>
              <a:t>教育訓練及專案文件</a:t>
            </a:r>
            <a:endParaRPr lang="en-US" altLang="zh-TW" sz="1200" b="1" dirty="0"/>
          </a:p>
          <a:p>
            <a:pPr algn="ctr"/>
            <a:r>
              <a:rPr lang="zh-TW" altLang="en-US" sz="1200" b="1" dirty="0"/>
              <a:t>交付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69EA2B8-AEDE-E985-F3F6-3C6B01BCB629}"/>
              </a:ext>
            </a:extLst>
          </p:cNvPr>
          <p:cNvSpPr/>
          <p:nvPr/>
        </p:nvSpPr>
        <p:spPr>
          <a:xfrm>
            <a:off x="3691977" y="620177"/>
            <a:ext cx="2321962" cy="16693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69F7803-92B9-90E7-792E-12A4F273A515}"/>
              </a:ext>
            </a:extLst>
          </p:cNvPr>
          <p:cNvSpPr/>
          <p:nvPr/>
        </p:nvSpPr>
        <p:spPr>
          <a:xfrm>
            <a:off x="3691976" y="2562861"/>
            <a:ext cx="2321961" cy="129336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/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C32D3EB5-ECC7-ED2D-A2F8-E7E85DF3D71F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5900721" y="881961"/>
            <a:ext cx="1305211" cy="139090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935BFF56-B16E-CA12-4B1D-919BC916FEEC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5907861" y="321779"/>
            <a:ext cx="1298071" cy="195109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3" name="矩形: 圓角 50">
            <a:extLst>
              <a:ext uri="{FF2B5EF4-FFF2-40B4-BE49-F238E27FC236}">
                <a16:creationId xmlns:a16="http://schemas.microsoft.com/office/drawing/2014/main" id="{3E48F8A3-C3EF-FD9E-60D5-F46815A5E906}"/>
              </a:ext>
            </a:extLst>
          </p:cNvPr>
          <p:cNvSpPr/>
          <p:nvPr/>
        </p:nvSpPr>
        <p:spPr>
          <a:xfrm>
            <a:off x="7205932" y="1886745"/>
            <a:ext cx="1783558" cy="77224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/>
              <a:t>專案結案</a:t>
            </a:r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F25D65DA-4112-5383-5C52-8A4C8C50B53C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5879219" y="1449371"/>
            <a:ext cx="1326713" cy="82349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BE9E06BB-3106-9286-D338-2A9767179CBA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5878034" y="2036156"/>
            <a:ext cx="1327898" cy="23671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9" name="直線接點 108">
            <a:extLst>
              <a:ext uri="{FF2B5EF4-FFF2-40B4-BE49-F238E27FC236}">
                <a16:creationId xmlns:a16="http://schemas.microsoft.com/office/drawing/2014/main" id="{FD831B7A-215D-48ED-EE53-BAC8D563A56A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5878034" y="2272869"/>
            <a:ext cx="1327898" cy="37765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8" name="直線接點 117">
            <a:extLst>
              <a:ext uri="{FF2B5EF4-FFF2-40B4-BE49-F238E27FC236}">
                <a16:creationId xmlns:a16="http://schemas.microsoft.com/office/drawing/2014/main" id="{05498580-9400-9E2A-7B68-2EB7C610CB7B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5878034" y="2272869"/>
            <a:ext cx="1327898" cy="94156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2" name="直線接點 121">
            <a:extLst>
              <a:ext uri="{FF2B5EF4-FFF2-40B4-BE49-F238E27FC236}">
                <a16:creationId xmlns:a16="http://schemas.microsoft.com/office/drawing/2014/main" id="{514C2BA7-2512-D88A-45F1-C69C5ACA1EC4}"/>
              </a:ext>
            </a:extLst>
          </p:cNvPr>
          <p:cNvCxnSpPr>
            <a:cxnSpLocks/>
            <a:stCxn id="70" idx="3"/>
            <a:endCxn id="103" idx="1"/>
          </p:cNvCxnSpPr>
          <p:nvPr/>
        </p:nvCxnSpPr>
        <p:spPr>
          <a:xfrm flipV="1">
            <a:off x="5878034" y="2272869"/>
            <a:ext cx="1327898" cy="197259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5" name="直線箭頭接點 124">
            <a:extLst>
              <a:ext uri="{FF2B5EF4-FFF2-40B4-BE49-F238E27FC236}">
                <a16:creationId xmlns:a16="http://schemas.microsoft.com/office/drawing/2014/main" id="{7F8EC312-029C-A656-52DF-03DB2F4A77EC}"/>
              </a:ext>
            </a:extLst>
          </p:cNvPr>
          <p:cNvCxnSpPr/>
          <p:nvPr/>
        </p:nvCxnSpPr>
        <p:spPr>
          <a:xfrm>
            <a:off x="6013937" y="3445805"/>
            <a:ext cx="127488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線箭頭接點 125">
            <a:extLst>
              <a:ext uri="{FF2B5EF4-FFF2-40B4-BE49-F238E27FC236}">
                <a16:creationId xmlns:a16="http://schemas.microsoft.com/office/drawing/2014/main" id="{E4444B11-9777-B344-F28D-7AAE40D04E78}"/>
              </a:ext>
            </a:extLst>
          </p:cNvPr>
          <p:cNvCxnSpPr/>
          <p:nvPr/>
        </p:nvCxnSpPr>
        <p:spPr>
          <a:xfrm>
            <a:off x="6013937" y="845606"/>
            <a:ext cx="127488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圓角矩形 126">
            <a:extLst>
              <a:ext uri="{FF2B5EF4-FFF2-40B4-BE49-F238E27FC236}">
                <a16:creationId xmlns:a16="http://schemas.microsoft.com/office/drawing/2014/main" id="{AB62B1EA-5CD0-5A98-BC08-32D8BE522C9C}"/>
              </a:ext>
            </a:extLst>
          </p:cNvPr>
          <p:cNvSpPr/>
          <p:nvPr/>
        </p:nvSpPr>
        <p:spPr>
          <a:xfrm>
            <a:off x="7304444" y="487489"/>
            <a:ext cx="1586534" cy="614517"/>
          </a:xfrm>
          <a:prstGeom prst="roundRect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100" b="1" dirty="0"/>
              <a:t>前置作業與測試階段，產出相關文件</a:t>
            </a:r>
          </a:p>
        </p:txBody>
      </p:sp>
      <p:sp>
        <p:nvSpPr>
          <p:cNvPr id="128" name="圓角矩形 127">
            <a:extLst>
              <a:ext uri="{FF2B5EF4-FFF2-40B4-BE49-F238E27FC236}">
                <a16:creationId xmlns:a16="http://schemas.microsoft.com/office/drawing/2014/main" id="{00EFCB53-104A-4B42-9ED5-8954193DDF2B}"/>
              </a:ext>
            </a:extLst>
          </p:cNvPr>
          <p:cNvSpPr/>
          <p:nvPr/>
        </p:nvSpPr>
        <p:spPr>
          <a:xfrm>
            <a:off x="7288823" y="3149516"/>
            <a:ext cx="1586534" cy="614517"/>
          </a:xfrm>
          <a:prstGeom prst="roundRect">
            <a:avLst/>
          </a:prstGeom>
          <a:solidFill>
            <a:srgbClr val="FF2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b="1" dirty="0"/>
              <a:t>Oracle ACS &amp; </a:t>
            </a:r>
            <a:r>
              <a:rPr kumimoji="1" lang="en-US" altLang="zh-TW" sz="1100" b="1" dirty="0" err="1"/>
              <a:t>MetaAge</a:t>
            </a:r>
            <a:endParaRPr kumimoji="1" lang="zh-TW" altLang="en-US" sz="11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C1A4454-D964-D71D-D54D-FE9DDA54FA06}"/>
              </a:ext>
            </a:extLst>
          </p:cNvPr>
          <p:cNvSpPr txBox="1"/>
          <p:nvPr/>
        </p:nvSpPr>
        <p:spPr>
          <a:xfrm>
            <a:off x="3630654" y="820993"/>
            <a:ext cx="461665" cy="11275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solidFill>
                  <a:srgbClr val="7030A0"/>
                </a:solidFill>
              </a:rPr>
              <a:t>第一階段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589757C-F812-525E-9BC7-B9A6BE7C458E}"/>
              </a:ext>
            </a:extLst>
          </p:cNvPr>
          <p:cNvSpPr txBox="1"/>
          <p:nvPr/>
        </p:nvSpPr>
        <p:spPr>
          <a:xfrm>
            <a:off x="3652186" y="2892978"/>
            <a:ext cx="461665" cy="11275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>
                <a:solidFill>
                  <a:srgbClr val="7030A0"/>
                </a:solidFill>
              </a:rPr>
              <a:t>第二階段</a:t>
            </a:r>
          </a:p>
        </p:txBody>
      </p:sp>
    </p:spTree>
    <p:extLst>
      <p:ext uri="{BB962C8B-B14F-4D97-AF65-F5344CB8AC3E}">
        <p14:creationId xmlns:p14="http://schemas.microsoft.com/office/powerpoint/2010/main" val="517088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E12289B-FD63-0B6C-EE01-E5E246DDA07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5876" y="2931"/>
            <a:ext cx="8208912" cy="693092"/>
          </a:xfrm>
        </p:spPr>
        <p:txBody>
          <a:bodyPr/>
          <a:lstStyle/>
          <a:p>
            <a:r>
              <a:rPr lang="zh-TW" altLang="en-US" dirty="0">
                <a:solidFill>
                  <a:srgbClr val="0070C0"/>
                </a:solidFill>
              </a:rPr>
              <a:t>專案控管與例行工作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96BCD6D9-9A4F-078A-3541-D82A33F41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10" y="794239"/>
            <a:ext cx="8208912" cy="1324707"/>
          </a:xfrm>
        </p:spPr>
        <p:txBody>
          <a:bodyPr/>
          <a:lstStyle/>
          <a:p>
            <a:r>
              <a:rPr lang="zh-TW" altLang="en-US" sz="1800" dirty="0"/>
              <a:t>固定每週提供專案進度報告。</a:t>
            </a:r>
            <a:endParaRPr lang="en-US" altLang="zh-TW" sz="1800" dirty="0"/>
          </a:p>
          <a:p>
            <a:r>
              <a:rPr lang="zh-TW" altLang="en-US" sz="1800" dirty="0"/>
              <a:t>固定每週四開立專案進度會議，需準備專案進度報告、專案時程更新與規劃、議題追蹤報告、當期須交付項目等相關內容。</a:t>
            </a:r>
            <a:endParaRPr lang="en-US" altLang="zh-TW" sz="1800" dirty="0"/>
          </a:p>
          <a:p>
            <a:pPr lvl="1"/>
            <a:endParaRPr lang="zh-TW" altLang="en-US" sz="1600" dirty="0"/>
          </a:p>
        </p:txBody>
      </p:sp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933615BA-8F2A-56C6-DC17-1DDDFFA5F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441422"/>
              </p:ext>
            </p:extLst>
          </p:nvPr>
        </p:nvGraphicFramePr>
        <p:xfrm>
          <a:off x="449959" y="2118946"/>
          <a:ext cx="8054829" cy="217505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93979">
                  <a:extLst>
                    <a:ext uri="{9D8B030D-6E8A-4147-A177-3AD203B41FA5}">
                      <a16:colId xmlns:a16="http://schemas.microsoft.com/office/drawing/2014/main" val="2017762503"/>
                    </a:ext>
                  </a:extLst>
                </a:gridCol>
                <a:gridCol w="3354880">
                  <a:extLst>
                    <a:ext uri="{9D8B030D-6E8A-4147-A177-3AD203B41FA5}">
                      <a16:colId xmlns:a16="http://schemas.microsoft.com/office/drawing/2014/main" val="3536454315"/>
                    </a:ext>
                  </a:extLst>
                </a:gridCol>
                <a:gridCol w="1908189">
                  <a:extLst>
                    <a:ext uri="{9D8B030D-6E8A-4147-A177-3AD203B41FA5}">
                      <a16:colId xmlns:a16="http://schemas.microsoft.com/office/drawing/2014/main" val="3288399176"/>
                    </a:ext>
                  </a:extLst>
                </a:gridCol>
                <a:gridCol w="1197781">
                  <a:extLst>
                    <a:ext uri="{9D8B030D-6E8A-4147-A177-3AD203B41FA5}">
                      <a16:colId xmlns:a16="http://schemas.microsoft.com/office/drawing/2014/main" val="2239244581"/>
                    </a:ext>
                  </a:extLst>
                </a:gridCol>
              </a:tblGrid>
              <a:tr h="2852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例行工作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項目目的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參與人員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560336"/>
                  </a:ext>
                </a:extLst>
              </a:tr>
              <a:tr h="9983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專案議題追蹤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定期追蹤相關工作項目，如有議題可盡快協調及解決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專案督導</a:t>
                      </a:r>
                    </a:p>
                    <a:p>
                      <a:pPr algn="ctr"/>
                      <a:r>
                        <a:rPr lang="zh-TW" altLang="en-US" sz="1400" dirty="0"/>
                        <a:t>專案經理</a:t>
                      </a:r>
                    </a:p>
                    <a:p>
                      <a:pPr algn="ctr"/>
                      <a:r>
                        <a:rPr lang="zh-TW" altLang="en-US" sz="1400" dirty="0"/>
                        <a:t>專案業務</a:t>
                      </a:r>
                      <a:endParaRPr lang="en-US" altLang="zh-TW" sz="14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相關技術人員</a:t>
                      </a:r>
                      <a:endParaRPr lang="en-US" altLang="zh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每週一次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67146"/>
                  </a:ext>
                </a:extLst>
              </a:tr>
              <a:tr h="87192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專案進度會議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/>
                        <a:t>追蹤專案進度與專案時程</a:t>
                      </a:r>
                      <a:endParaRPr lang="en-US" altLang="zh-TW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/>
                        <a:t>檢視主要議題及專案之相關變更</a:t>
                      </a:r>
                      <a:endParaRPr lang="en-US" altLang="zh-TW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/>
                        <a:t>議題追蹤</a:t>
                      </a:r>
                      <a:endParaRPr lang="en-US" altLang="zh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/>
                        <a:t>LineBank</a:t>
                      </a:r>
                      <a:r>
                        <a:rPr lang="en-US" altLang="zh-TW" sz="1400" dirty="0"/>
                        <a:t> / Oracle / </a:t>
                      </a:r>
                      <a:r>
                        <a:rPr lang="en-US" altLang="zh-TW" sz="1400" dirty="0" err="1"/>
                        <a:t>MetaAge</a:t>
                      </a:r>
                      <a:r>
                        <a:rPr lang="en-US" altLang="zh-TW" sz="1400" dirty="0"/>
                        <a:t> </a:t>
                      </a:r>
                      <a:r>
                        <a:rPr lang="zh-TW" altLang="en-US" sz="1400" dirty="0"/>
                        <a:t>專案小組</a:t>
                      </a:r>
                      <a:endParaRPr lang="en-US" altLang="zh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每週四一次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97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163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DDE95F9-E628-0A14-AF5A-8128F1B887AD}"/>
              </a:ext>
            </a:extLst>
          </p:cNvPr>
          <p:cNvSpPr txBox="1"/>
          <p:nvPr/>
        </p:nvSpPr>
        <p:spPr>
          <a:xfrm>
            <a:off x="3710354" y="1725347"/>
            <a:ext cx="44401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800" b="1" dirty="0">
                <a:solidFill>
                  <a:schemeClr val="bg1"/>
                </a:solidFill>
              </a:rPr>
              <a:t>專案團隊分工與執掌介紹</a:t>
            </a:r>
          </a:p>
        </p:txBody>
      </p:sp>
    </p:spTree>
    <p:extLst>
      <p:ext uri="{BB962C8B-B14F-4D97-AF65-F5344CB8AC3E}">
        <p14:creationId xmlns:p14="http://schemas.microsoft.com/office/powerpoint/2010/main" val="762524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1911-4129-95FD-B782-1155D2BF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5062982-FF31-8192-8D9E-1F7048BA882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6989" y="3600"/>
            <a:ext cx="8206775" cy="692912"/>
          </a:xfrm>
        </p:spPr>
        <p:txBody>
          <a:bodyPr/>
          <a:lstStyle/>
          <a:p>
            <a:r>
              <a:rPr lang="zh-TW" altLang="en-US" dirty="0">
                <a:solidFill>
                  <a:srgbClr val="0070C0"/>
                </a:solidFill>
              </a:rPr>
              <a:t>專案導入顧問團隊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F37AACA5-2731-E987-589D-C904841C2D00}"/>
              </a:ext>
            </a:extLst>
          </p:cNvPr>
          <p:cNvSpPr/>
          <p:nvPr/>
        </p:nvSpPr>
        <p:spPr>
          <a:xfrm>
            <a:off x="157233" y="696512"/>
            <a:ext cx="8829536" cy="432173"/>
          </a:xfrm>
          <a:prstGeom prst="roundRect">
            <a:avLst/>
          </a:prstGeom>
          <a:solidFill>
            <a:srgbClr val="FF7E79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799" b="1" dirty="0">
                <a:solidFill>
                  <a:schemeClr val="tx1"/>
                </a:solidFill>
              </a:rPr>
              <a:t>連線商業銀行 </a:t>
            </a:r>
            <a:r>
              <a:rPr lang="en-US" altLang="zh-TW" sz="1799" b="1" dirty="0">
                <a:solidFill>
                  <a:schemeClr val="tx1"/>
                </a:solidFill>
                <a:latin typeface="+mn-ea"/>
              </a:rPr>
              <a:t>EDW Oracle RAC</a:t>
            </a:r>
            <a:r>
              <a:rPr lang="zh-TW" altLang="zh-TW" sz="1799" b="1" dirty="0">
                <a:solidFill>
                  <a:schemeClr val="tx1"/>
                </a:solidFill>
                <a:latin typeface="+mn-ea"/>
              </a:rPr>
              <a:t>升級</a:t>
            </a:r>
            <a:r>
              <a:rPr lang="zh-TW" altLang="zh-TW" sz="1799" b="1" dirty="0">
                <a:solidFill>
                  <a:schemeClr val="tx1"/>
                </a:solidFill>
              </a:rPr>
              <a:t>暨一體機建置專案</a:t>
            </a:r>
            <a:r>
              <a:rPr lang="zh-TW" altLang="en-US" sz="1799" b="1" dirty="0">
                <a:solidFill>
                  <a:schemeClr val="tx1"/>
                </a:solidFill>
                <a:latin typeface="+mj-ea"/>
                <a:ea typeface="+mj-ea"/>
              </a:rPr>
              <a:t>組織架構</a:t>
            </a:r>
            <a:endParaRPr kumimoji="1" lang="zh-TW" altLang="en-US" sz="1799" b="1" dirty="0">
              <a:solidFill>
                <a:schemeClr val="tx1"/>
              </a:solidFill>
            </a:endParaRPr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34513487-BAD7-2116-FA86-28ED57DF3620}"/>
              </a:ext>
            </a:extLst>
          </p:cNvPr>
          <p:cNvSpPr/>
          <p:nvPr/>
        </p:nvSpPr>
        <p:spPr>
          <a:xfrm>
            <a:off x="3394884" y="1292601"/>
            <a:ext cx="2178724" cy="334018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專案督導 蘇倍毅</a:t>
            </a:r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6C7CDED6-C0AD-193B-B91C-B24BA1109FC6}"/>
              </a:ext>
            </a:extLst>
          </p:cNvPr>
          <p:cNvCxnSpPr>
            <a:cxnSpLocks/>
            <a:stCxn id="51" idx="2"/>
            <a:endCxn id="54" idx="0"/>
          </p:cNvCxnSpPr>
          <p:nvPr/>
        </p:nvCxnSpPr>
        <p:spPr>
          <a:xfrm>
            <a:off x="4484246" y="1626619"/>
            <a:ext cx="0" cy="1569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AD461E7B-C447-82AB-E867-574123D55A09}"/>
              </a:ext>
            </a:extLst>
          </p:cNvPr>
          <p:cNvSpPr/>
          <p:nvPr/>
        </p:nvSpPr>
        <p:spPr>
          <a:xfrm>
            <a:off x="3394883" y="1783526"/>
            <a:ext cx="2178725" cy="334018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專案經理 施成暐</a:t>
            </a:r>
            <a:r>
              <a:rPr kumimoji="1" lang="en-US" altLang="zh-TW" sz="1400" dirty="0"/>
              <a:t>/</a:t>
            </a:r>
            <a:r>
              <a:rPr kumimoji="1" lang="zh-TW" altLang="en-US" sz="1400" dirty="0"/>
              <a:t>胡筱其</a:t>
            </a:r>
            <a:endParaRPr kumimoji="1" lang="en-US" altLang="zh-TW" sz="1400" dirty="0"/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6604ED58-7BB7-4B26-884C-1AAD7ADE5AA1}"/>
              </a:ext>
            </a:extLst>
          </p:cNvPr>
          <p:cNvCxnSpPr>
            <a:cxnSpLocks/>
          </p:cNvCxnSpPr>
          <p:nvPr/>
        </p:nvCxnSpPr>
        <p:spPr>
          <a:xfrm>
            <a:off x="4760017" y="2107133"/>
            <a:ext cx="0" cy="1744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0D930C93-74D3-2BBB-0FC4-0FEB85DCD931}"/>
              </a:ext>
            </a:extLst>
          </p:cNvPr>
          <p:cNvCxnSpPr>
            <a:cxnSpLocks/>
          </p:cNvCxnSpPr>
          <p:nvPr/>
        </p:nvCxnSpPr>
        <p:spPr>
          <a:xfrm>
            <a:off x="4099416" y="2303338"/>
            <a:ext cx="1432444" cy="2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32AE6C09-8E46-C8FD-C1A6-79817B10D0AE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4096162" y="2306310"/>
            <a:ext cx="1" cy="2061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6291D4A9-6F1F-201A-ACDC-3FE29E568F53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5531860" y="2291730"/>
            <a:ext cx="0" cy="220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圓角矩形 67">
            <a:extLst>
              <a:ext uri="{FF2B5EF4-FFF2-40B4-BE49-F238E27FC236}">
                <a16:creationId xmlns:a16="http://schemas.microsoft.com/office/drawing/2014/main" id="{3311D3B9-8736-118E-5EC5-7C7CAD0589B9}"/>
              </a:ext>
            </a:extLst>
          </p:cNvPr>
          <p:cNvSpPr/>
          <p:nvPr/>
        </p:nvSpPr>
        <p:spPr>
          <a:xfrm>
            <a:off x="3536020" y="2512464"/>
            <a:ext cx="1120286" cy="311132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專案業務</a:t>
            </a:r>
          </a:p>
        </p:txBody>
      </p:sp>
      <p:sp>
        <p:nvSpPr>
          <p:cNvPr id="69" name="圓角矩形 68">
            <a:extLst>
              <a:ext uri="{FF2B5EF4-FFF2-40B4-BE49-F238E27FC236}">
                <a16:creationId xmlns:a16="http://schemas.microsoft.com/office/drawing/2014/main" id="{58B15CCD-78B6-B39D-4DC6-DC12AA88CF6B}"/>
              </a:ext>
            </a:extLst>
          </p:cNvPr>
          <p:cNvSpPr/>
          <p:nvPr/>
        </p:nvSpPr>
        <p:spPr>
          <a:xfrm>
            <a:off x="4982463" y="2512464"/>
            <a:ext cx="1098794" cy="311132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技術顧問</a:t>
            </a:r>
          </a:p>
        </p:txBody>
      </p:sp>
      <p:sp>
        <p:nvSpPr>
          <p:cNvPr id="70" name="圓角矩形 69">
            <a:extLst>
              <a:ext uri="{FF2B5EF4-FFF2-40B4-BE49-F238E27FC236}">
                <a16:creationId xmlns:a16="http://schemas.microsoft.com/office/drawing/2014/main" id="{9A741D8B-CAD9-4972-C335-222BCFAC8BBB}"/>
              </a:ext>
            </a:extLst>
          </p:cNvPr>
          <p:cNvSpPr/>
          <p:nvPr/>
        </p:nvSpPr>
        <p:spPr>
          <a:xfrm>
            <a:off x="3945615" y="4549511"/>
            <a:ext cx="1922339" cy="380082"/>
          </a:xfrm>
          <a:prstGeom prst="roundRect">
            <a:avLst/>
          </a:prstGeom>
          <a:solidFill>
            <a:srgbClr val="4185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799" dirty="0"/>
              <a:t>邁達特數位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FB68A49-0913-934F-4A09-EB3F3175FED2}"/>
              </a:ext>
            </a:extLst>
          </p:cNvPr>
          <p:cNvCxnSpPr>
            <a:cxnSpLocks/>
            <a:stCxn id="68" idx="2"/>
            <a:endCxn id="9" idx="0"/>
          </p:cNvCxnSpPr>
          <p:nvPr/>
        </p:nvCxnSpPr>
        <p:spPr>
          <a:xfrm>
            <a:off x="4096163" y="2823596"/>
            <a:ext cx="3253" cy="2085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圓角矩形 8">
            <a:extLst>
              <a:ext uri="{FF2B5EF4-FFF2-40B4-BE49-F238E27FC236}">
                <a16:creationId xmlns:a16="http://schemas.microsoft.com/office/drawing/2014/main" id="{B96C063E-317D-139E-DD71-C125A31D2FC1}"/>
              </a:ext>
            </a:extLst>
          </p:cNvPr>
          <p:cNvSpPr/>
          <p:nvPr/>
        </p:nvSpPr>
        <p:spPr>
          <a:xfrm>
            <a:off x="3536020" y="3032124"/>
            <a:ext cx="1126792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董家毓</a:t>
            </a: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35C84999-D405-9A5A-C69C-96D83805361C}"/>
              </a:ext>
            </a:extLst>
          </p:cNvPr>
          <p:cNvSpPr/>
          <p:nvPr/>
        </p:nvSpPr>
        <p:spPr>
          <a:xfrm>
            <a:off x="7899185" y="3032535"/>
            <a:ext cx="1103992" cy="345112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Oracle ACS</a:t>
            </a:r>
            <a:endParaRPr kumimoji="1" lang="zh-TW" altLang="en-US" sz="14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09E72C10-F8B3-8D3F-3E3C-84A1A666142F}"/>
              </a:ext>
            </a:extLst>
          </p:cNvPr>
          <p:cNvSpPr/>
          <p:nvPr/>
        </p:nvSpPr>
        <p:spPr>
          <a:xfrm>
            <a:off x="4822538" y="3015032"/>
            <a:ext cx="1420511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邁達特 顏志益</a:t>
            </a: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F9F334F-764D-3D53-9875-ACD3CA9E8DF5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5531860" y="3310599"/>
            <a:ext cx="934" cy="1783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DDBE2DC0-FFF7-254F-733D-32567F2E4113}"/>
              </a:ext>
            </a:extLst>
          </p:cNvPr>
          <p:cNvCxnSpPr>
            <a:cxnSpLocks/>
          </p:cNvCxnSpPr>
          <p:nvPr/>
        </p:nvCxnSpPr>
        <p:spPr>
          <a:xfrm>
            <a:off x="4650812" y="3488935"/>
            <a:ext cx="17869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CA1ED08F-3E21-313A-D3CC-B3AC8AC6E00E}"/>
              </a:ext>
            </a:extLst>
          </p:cNvPr>
          <p:cNvCxnSpPr>
            <a:cxnSpLocks/>
          </p:cNvCxnSpPr>
          <p:nvPr/>
        </p:nvCxnSpPr>
        <p:spPr>
          <a:xfrm>
            <a:off x="4642097" y="3480146"/>
            <a:ext cx="0" cy="1845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91633F2-2373-332D-C27B-5E2449FEC085}"/>
              </a:ext>
            </a:extLst>
          </p:cNvPr>
          <p:cNvCxnSpPr>
            <a:cxnSpLocks/>
          </p:cNvCxnSpPr>
          <p:nvPr/>
        </p:nvCxnSpPr>
        <p:spPr>
          <a:xfrm>
            <a:off x="6440361" y="3488936"/>
            <a:ext cx="0" cy="1845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2FA1318C-AE39-6FA4-36EC-0C4DB3DC139F}"/>
              </a:ext>
            </a:extLst>
          </p:cNvPr>
          <p:cNvSpPr/>
          <p:nvPr/>
        </p:nvSpPr>
        <p:spPr>
          <a:xfrm>
            <a:off x="3895353" y="3656402"/>
            <a:ext cx="1375703" cy="308236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邁達特 吳於修</a:t>
            </a: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0F46F360-67BD-FAFB-53AE-94FAB30D3450}"/>
              </a:ext>
            </a:extLst>
          </p:cNvPr>
          <p:cNvSpPr/>
          <p:nvPr/>
        </p:nvSpPr>
        <p:spPr>
          <a:xfrm>
            <a:off x="3899135" y="4056932"/>
            <a:ext cx="1371921" cy="308236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邁達特 林家禾</a:t>
            </a: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A94275F4-E788-5124-308A-BBC7CDADCC5F}"/>
              </a:ext>
            </a:extLst>
          </p:cNvPr>
          <p:cNvSpPr/>
          <p:nvPr/>
        </p:nvSpPr>
        <p:spPr>
          <a:xfrm>
            <a:off x="5686059" y="3659236"/>
            <a:ext cx="1375703" cy="308236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邁達特 郭嘉龍</a:t>
            </a: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53EB4D9B-EAB7-C5D3-B7A7-3EBEFCCF3D0F}"/>
              </a:ext>
            </a:extLst>
          </p:cNvPr>
          <p:cNvSpPr/>
          <p:nvPr/>
        </p:nvSpPr>
        <p:spPr>
          <a:xfrm>
            <a:off x="5686059" y="4056932"/>
            <a:ext cx="1375703" cy="308236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邁達特 丁瑋</a:t>
            </a: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0F8FA863-9D78-F7D5-B41D-2EE5A8CCE9EE}"/>
              </a:ext>
            </a:extLst>
          </p:cNvPr>
          <p:cNvCxnSpPr>
            <a:cxnSpLocks/>
            <a:stCxn id="69" idx="2"/>
            <a:endCxn id="35" idx="0"/>
          </p:cNvCxnSpPr>
          <p:nvPr/>
        </p:nvCxnSpPr>
        <p:spPr>
          <a:xfrm>
            <a:off x="5531860" y="2823596"/>
            <a:ext cx="934" cy="1914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圓角矩形 53">
            <a:extLst>
              <a:ext uri="{FF2B5EF4-FFF2-40B4-BE49-F238E27FC236}">
                <a16:creationId xmlns:a16="http://schemas.microsoft.com/office/drawing/2014/main" id="{400F434E-D7DC-60ED-4A1F-1C709D900A2D}"/>
              </a:ext>
            </a:extLst>
          </p:cNvPr>
          <p:cNvSpPr/>
          <p:nvPr/>
        </p:nvSpPr>
        <p:spPr>
          <a:xfrm>
            <a:off x="6554960" y="1773115"/>
            <a:ext cx="2318456" cy="334018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專案經理 </a:t>
            </a:r>
            <a:r>
              <a:rPr kumimoji="1" lang="en-US" altLang="zh-TW" sz="1400" dirty="0"/>
              <a:t>Calvin</a:t>
            </a: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DFEE60C1-8962-EAB6-1494-AA6E23A25F6B}"/>
              </a:ext>
            </a:extLst>
          </p:cNvPr>
          <p:cNvCxnSpPr>
            <a:cxnSpLocks/>
          </p:cNvCxnSpPr>
          <p:nvPr/>
        </p:nvCxnSpPr>
        <p:spPr>
          <a:xfrm>
            <a:off x="7738361" y="2107133"/>
            <a:ext cx="0" cy="1845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8E1A733F-E2C0-80F5-7642-76862663D950}"/>
              </a:ext>
            </a:extLst>
          </p:cNvPr>
          <p:cNvCxnSpPr>
            <a:cxnSpLocks/>
          </p:cNvCxnSpPr>
          <p:nvPr/>
        </p:nvCxnSpPr>
        <p:spPr>
          <a:xfrm>
            <a:off x="7081961" y="2306715"/>
            <a:ext cx="1389367" cy="66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B7FFFDA4-0183-6D25-DC5A-7C85A10F1438}"/>
              </a:ext>
            </a:extLst>
          </p:cNvPr>
          <p:cNvCxnSpPr>
            <a:cxnSpLocks/>
          </p:cNvCxnSpPr>
          <p:nvPr/>
        </p:nvCxnSpPr>
        <p:spPr>
          <a:xfrm>
            <a:off x="7197010" y="2313218"/>
            <a:ext cx="0" cy="1845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A27B46D2-8BF8-C510-9996-D1AA4869692C}"/>
              </a:ext>
            </a:extLst>
          </p:cNvPr>
          <p:cNvCxnSpPr>
            <a:cxnSpLocks/>
          </p:cNvCxnSpPr>
          <p:nvPr/>
        </p:nvCxnSpPr>
        <p:spPr>
          <a:xfrm>
            <a:off x="8471328" y="2300909"/>
            <a:ext cx="0" cy="1845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圓角矩形 67">
            <a:extLst>
              <a:ext uri="{FF2B5EF4-FFF2-40B4-BE49-F238E27FC236}">
                <a16:creationId xmlns:a16="http://schemas.microsoft.com/office/drawing/2014/main" id="{AAB06CE7-A4DF-A624-2CAD-A32859A41907}"/>
              </a:ext>
            </a:extLst>
          </p:cNvPr>
          <p:cNvSpPr/>
          <p:nvPr/>
        </p:nvSpPr>
        <p:spPr>
          <a:xfrm>
            <a:off x="6561027" y="2497808"/>
            <a:ext cx="1066350" cy="340548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專案業務</a:t>
            </a:r>
          </a:p>
        </p:txBody>
      </p:sp>
      <p:sp>
        <p:nvSpPr>
          <p:cNvPr id="40" name="圓角矩形 68">
            <a:extLst>
              <a:ext uri="{FF2B5EF4-FFF2-40B4-BE49-F238E27FC236}">
                <a16:creationId xmlns:a16="http://schemas.microsoft.com/office/drawing/2014/main" id="{49732667-7AA3-6484-093D-BEB3A2BB3FF2}"/>
              </a:ext>
            </a:extLst>
          </p:cNvPr>
          <p:cNvSpPr/>
          <p:nvPr/>
        </p:nvSpPr>
        <p:spPr>
          <a:xfrm>
            <a:off x="7899185" y="2497808"/>
            <a:ext cx="1093259" cy="340548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技術顧問</a:t>
            </a:r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51976FD1-E256-2D9C-4AB9-8E37B291458E}"/>
              </a:ext>
            </a:extLst>
          </p:cNvPr>
          <p:cNvCxnSpPr>
            <a:cxnSpLocks/>
          </p:cNvCxnSpPr>
          <p:nvPr/>
        </p:nvCxnSpPr>
        <p:spPr>
          <a:xfrm>
            <a:off x="7187026" y="2838356"/>
            <a:ext cx="0" cy="2435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9E5B731C-BD04-9202-19A9-9B0053CE7420}"/>
              </a:ext>
            </a:extLst>
          </p:cNvPr>
          <p:cNvCxnSpPr>
            <a:cxnSpLocks/>
          </p:cNvCxnSpPr>
          <p:nvPr/>
        </p:nvCxnSpPr>
        <p:spPr>
          <a:xfrm>
            <a:off x="8471328" y="2862346"/>
            <a:ext cx="0" cy="1845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箭號: 左-右雙向 60">
            <a:extLst>
              <a:ext uri="{FF2B5EF4-FFF2-40B4-BE49-F238E27FC236}">
                <a16:creationId xmlns:a16="http://schemas.microsoft.com/office/drawing/2014/main" id="{56343D3A-2D39-A747-B994-52851D9B023C}"/>
              </a:ext>
            </a:extLst>
          </p:cNvPr>
          <p:cNvSpPr/>
          <p:nvPr/>
        </p:nvSpPr>
        <p:spPr>
          <a:xfrm>
            <a:off x="5564237" y="1840422"/>
            <a:ext cx="972282" cy="236652"/>
          </a:xfrm>
          <a:prstGeom prst="leftRightArrow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3" name="圓角矩形 8">
            <a:extLst>
              <a:ext uri="{FF2B5EF4-FFF2-40B4-BE49-F238E27FC236}">
                <a16:creationId xmlns:a16="http://schemas.microsoft.com/office/drawing/2014/main" id="{37BEE7DE-AC9F-FA94-6B08-9B2E804402D8}"/>
              </a:ext>
            </a:extLst>
          </p:cNvPr>
          <p:cNvSpPr/>
          <p:nvPr/>
        </p:nvSpPr>
        <p:spPr>
          <a:xfrm>
            <a:off x="6561027" y="3042370"/>
            <a:ext cx="1094620" cy="340550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Han</a:t>
            </a:r>
            <a:endParaRPr kumimoji="1" lang="zh-TW" altLang="en-US" sz="1400" dirty="0"/>
          </a:p>
        </p:txBody>
      </p:sp>
      <p:sp>
        <p:nvSpPr>
          <p:cNvPr id="67" name="圓角矩形 69">
            <a:extLst>
              <a:ext uri="{FF2B5EF4-FFF2-40B4-BE49-F238E27FC236}">
                <a16:creationId xmlns:a16="http://schemas.microsoft.com/office/drawing/2014/main" id="{6ABA4872-79E8-01E1-0163-AA9E25769447}"/>
              </a:ext>
            </a:extLst>
          </p:cNvPr>
          <p:cNvSpPr/>
          <p:nvPr/>
        </p:nvSpPr>
        <p:spPr>
          <a:xfrm>
            <a:off x="7232880" y="3660537"/>
            <a:ext cx="1503451" cy="380082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799" dirty="0"/>
              <a:t>Oracle</a:t>
            </a:r>
            <a:endParaRPr kumimoji="1" lang="zh-TW" altLang="en-US" sz="1799" dirty="0"/>
          </a:p>
        </p:txBody>
      </p:sp>
      <p:sp>
        <p:nvSpPr>
          <p:cNvPr id="76" name="圓角矩形 50">
            <a:extLst>
              <a:ext uri="{FF2B5EF4-FFF2-40B4-BE49-F238E27FC236}">
                <a16:creationId xmlns:a16="http://schemas.microsoft.com/office/drawing/2014/main" id="{4F8E1921-BF5C-DD70-9CEA-8D4D7424E073}"/>
              </a:ext>
            </a:extLst>
          </p:cNvPr>
          <p:cNvSpPr/>
          <p:nvPr/>
        </p:nvSpPr>
        <p:spPr>
          <a:xfrm>
            <a:off x="167963" y="1303981"/>
            <a:ext cx="2245567" cy="334018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專案督導 陳首良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C7011840-F448-BD6F-0B14-9D377F69C961}"/>
              </a:ext>
            </a:extLst>
          </p:cNvPr>
          <p:cNvCxnSpPr>
            <a:cxnSpLocks/>
            <a:stCxn id="76" idx="2"/>
            <a:endCxn id="78" idx="0"/>
          </p:cNvCxnSpPr>
          <p:nvPr/>
        </p:nvCxnSpPr>
        <p:spPr>
          <a:xfrm>
            <a:off x="1290747" y="1637999"/>
            <a:ext cx="7338" cy="1569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圓角矩形 53">
            <a:extLst>
              <a:ext uri="{FF2B5EF4-FFF2-40B4-BE49-F238E27FC236}">
                <a16:creationId xmlns:a16="http://schemas.microsoft.com/office/drawing/2014/main" id="{8FD3B12F-7255-4FE7-24C1-D360660E3EC3}"/>
              </a:ext>
            </a:extLst>
          </p:cNvPr>
          <p:cNvSpPr/>
          <p:nvPr/>
        </p:nvSpPr>
        <p:spPr>
          <a:xfrm>
            <a:off x="167963" y="1794906"/>
            <a:ext cx="2260243" cy="334018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/>
              <a:t>專案經理 </a:t>
            </a:r>
            <a:r>
              <a:rPr kumimoji="1" lang="en-US" altLang="zh-TW" sz="1400" dirty="0"/>
              <a:t>Jun/ Vincent</a:t>
            </a:r>
          </a:p>
        </p:txBody>
      </p: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2B7A62A-AA8F-FEB8-7594-CFE1D7DBD9E5}"/>
              </a:ext>
            </a:extLst>
          </p:cNvPr>
          <p:cNvCxnSpPr>
            <a:cxnSpLocks/>
          </p:cNvCxnSpPr>
          <p:nvPr/>
        </p:nvCxnSpPr>
        <p:spPr>
          <a:xfrm>
            <a:off x="1417607" y="2128924"/>
            <a:ext cx="0" cy="2055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5A384F1-069A-6A40-2933-985408F8A653}"/>
              </a:ext>
            </a:extLst>
          </p:cNvPr>
          <p:cNvCxnSpPr>
            <a:cxnSpLocks/>
          </p:cNvCxnSpPr>
          <p:nvPr/>
        </p:nvCxnSpPr>
        <p:spPr>
          <a:xfrm>
            <a:off x="1542816" y="3306443"/>
            <a:ext cx="1898516" cy="144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6B0A2C5A-E481-B3F2-D7C9-E854AFB2D530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1542816" y="3320885"/>
            <a:ext cx="4060" cy="2084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A82087EC-4278-6692-B1E9-9BA6BC3BB391}"/>
              </a:ext>
            </a:extLst>
          </p:cNvPr>
          <p:cNvCxnSpPr>
            <a:cxnSpLocks/>
          </p:cNvCxnSpPr>
          <p:nvPr/>
        </p:nvCxnSpPr>
        <p:spPr>
          <a:xfrm>
            <a:off x="3441332" y="3312656"/>
            <a:ext cx="711" cy="2439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圓角矩形 67">
            <a:extLst>
              <a:ext uri="{FF2B5EF4-FFF2-40B4-BE49-F238E27FC236}">
                <a16:creationId xmlns:a16="http://schemas.microsoft.com/office/drawing/2014/main" id="{4FDEA3C3-89AB-EF82-F012-BB7CC3E1C884}"/>
              </a:ext>
            </a:extLst>
          </p:cNvPr>
          <p:cNvSpPr/>
          <p:nvPr/>
        </p:nvSpPr>
        <p:spPr>
          <a:xfrm>
            <a:off x="1126457" y="3529286"/>
            <a:ext cx="840837" cy="350516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EDW</a:t>
            </a:r>
            <a:endParaRPr kumimoji="1" lang="zh-TW" altLang="en-US" sz="1400" dirty="0"/>
          </a:p>
        </p:txBody>
      </p:sp>
      <p:sp>
        <p:nvSpPr>
          <p:cNvPr id="84" name="圓角矩形 68">
            <a:extLst>
              <a:ext uri="{FF2B5EF4-FFF2-40B4-BE49-F238E27FC236}">
                <a16:creationId xmlns:a16="http://schemas.microsoft.com/office/drawing/2014/main" id="{D46194D9-17BA-0608-1533-1208737719CF}"/>
              </a:ext>
            </a:extLst>
          </p:cNvPr>
          <p:cNvSpPr/>
          <p:nvPr/>
        </p:nvSpPr>
        <p:spPr>
          <a:xfrm>
            <a:off x="2962256" y="3548425"/>
            <a:ext cx="885062" cy="324390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ELN</a:t>
            </a:r>
            <a:endParaRPr kumimoji="1" lang="zh-TW" altLang="en-US" sz="1400" dirty="0"/>
          </a:p>
        </p:txBody>
      </p:sp>
      <p:cxnSp>
        <p:nvCxnSpPr>
          <p:cNvPr id="85" name="直線接點 84">
            <a:extLst>
              <a:ext uri="{FF2B5EF4-FFF2-40B4-BE49-F238E27FC236}">
                <a16:creationId xmlns:a16="http://schemas.microsoft.com/office/drawing/2014/main" id="{95CCABFD-24A2-54D8-9C82-F136D1265C72}"/>
              </a:ext>
            </a:extLst>
          </p:cNvPr>
          <p:cNvCxnSpPr>
            <a:cxnSpLocks/>
            <a:stCxn id="83" idx="2"/>
            <a:endCxn id="86" idx="0"/>
          </p:cNvCxnSpPr>
          <p:nvPr/>
        </p:nvCxnSpPr>
        <p:spPr>
          <a:xfrm>
            <a:off x="1546876" y="3879802"/>
            <a:ext cx="0" cy="1782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圓角矩形 8">
            <a:extLst>
              <a:ext uri="{FF2B5EF4-FFF2-40B4-BE49-F238E27FC236}">
                <a16:creationId xmlns:a16="http://schemas.microsoft.com/office/drawing/2014/main" id="{F71E0A52-E4F6-0AE2-DB61-76F840F3B41D}"/>
              </a:ext>
            </a:extLst>
          </p:cNvPr>
          <p:cNvSpPr/>
          <p:nvPr/>
        </p:nvSpPr>
        <p:spPr>
          <a:xfrm>
            <a:off x="1119144" y="4058079"/>
            <a:ext cx="855464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Howard</a:t>
            </a:r>
            <a:endParaRPr kumimoji="1" lang="zh-TW" altLang="en-US" sz="1400" dirty="0"/>
          </a:p>
        </p:txBody>
      </p:sp>
      <p:sp>
        <p:nvSpPr>
          <p:cNvPr id="87" name="圓角矩形 34">
            <a:extLst>
              <a:ext uri="{FF2B5EF4-FFF2-40B4-BE49-F238E27FC236}">
                <a16:creationId xmlns:a16="http://schemas.microsoft.com/office/drawing/2014/main" id="{F09BA84D-E756-7184-0A48-6FCA840A4BBA}"/>
              </a:ext>
            </a:extLst>
          </p:cNvPr>
          <p:cNvSpPr/>
          <p:nvPr/>
        </p:nvSpPr>
        <p:spPr>
          <a:xfrm>
            <a:off x="2962256" y="4045621"/>
            <a:ext cx="885062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James</a:t>
            </a:r>
            <a:endParaRPr kumimoji="1" lang="zh-TW" altLang="en-US" sz="1400" dirty="0"/>
          </a:p>
        </p:txBody>
      </p: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1DACB4EF-55BB-B964-AC46-98069820AA2E}"/>
              </a:ext>
            </a:extLst>
          </p:cNvPr>
          <p:cNvCxnSpPr>
            <a:cxnSpLocks/>
          </p:cNvCxnSpPr>
          <p:nvPr/>
        </p:nvCxnSpPr>
        <p:spPr>
          <a:xfrm>
            <a:off x="3519836" y="3872815"/>
            <a:ext cx="0" cy="1728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圓角矩形 67">
            <a:extLst>
              <a:ext uri="{FF2B5EF4-FFF2-40B4-BE49-F238E27FC236}">
                <a16:creationId xmlns:a16="http://schemas.microsoft.com/office/drawing/2014/main" id="{E64A74ED-0FA6-261D-0D17-C63CF22B67B3}"/>
              </a:ext>
            </a:extLst>
          </p:cNvPr>
          <p:cNvSpPr/>
          <p:nvPr/>
        </p:nvSpPr>
        <p:spPr>
          <a:xfrm>
            <a:off x="2008078" y="3535474"/>
            <a:ext cx="848957" cy="340548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IFRS</a:t>
            </a:r>
            <a:endParaRPr kumimoji="1" lang="zh-TW" altLang="en-US" sz="1400" dirty="0"/>
          </a:p>
        </p:txBody>
      </p:sp>
      <p:sp>
        <p:nvSpPr>
          <p:cNvPr id="123" name="圓角矩形 34">
            <a:extLst>
              <a:ext uri="{FF2B5EF4-FFF2-40B4-BE49-F238E27FC236}">
                <a16:creationId xmlns:a16="http://schemas.microsoft.com/office/drawing/2014/main" id="{CAB3570C-60AE-BC8E-A766-8908DE61A61C}"/>
              </a:ext>
            </a:extLst>
          </p:cNvPr>
          <p:cNvSpPr/>
          <p:nvPr/>
        </p:nvSpPr>
        <p:spPr>
          <a:xfrm>
            <a:off x="2034182" y="4052608"/>
            <a:ext cx="848958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Jason</a:t>
            </a:r>
            <a:endParaRPr kumimoji="1" lang="zh-TW" altLang="en-US" sz="1400" dirty="0"/>
          </a:p>
        </p:txBody>
      </p: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1FCCA26E-E038-477B-A9BE-C8567C03D3DB}"/>
              </a:ext>
            </a:extLst>
          </p:cNvPr>
          <p:cNvCxnSpPr>
            <a:cxnSpLocks/>
            <a:endCxn id="123" idx="0"/>
          </p:cNvCxnSpPr>
          <p:nvPr/>
        </p:nvCxnSpPr>
        <p:spPr>
          <a:xfrm>
            <a:off x="2454417" y="3879802"/>
            <a:ext cx="4244" cy="1728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圓角矩形 69">
            <a:extLst>
              <a:ext uri="{FF2B5EF4-FFF2-40B4-BE49-F238E27FC236}">
                <a16:creationId xmlns:a16="http://schemas.microsoft.com/office/drawing/2014/main" id="{F1B380EE-DF36-17C8-7A64-7FDC700D786D}"/>
              </a:ext>
            </a:extLst>
          </p:cNvPr>
          <p:cNvSpPr/>
          <p:nvPr/>
        </p:nvSpPr>
        <p:spPr>
          <a:xfrm>
            <a:off x="919985" y="4520479"/>
            <a:ext cx="2616035" cy="386862"/>
          </a:xfrm>
          <a:prstGeom prst="roundRect">
            <a:avLst/>
          </a:prstGeom>
          <a:solidFill>
            <a:srgbClr val="FF2F9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連線商業銀行</a:t>
            </a:r>
          </a:p>
        </p:txBody>
      </p:sp>
      <p:sp>
        <p:nvSpPr>
          <p:cNvPr id="137" name="箭號: 左-右雙向 136">
            <a:extLst>
              <a:ext uri="{FF2B5EF4-FFF2-40B4-BE49-F238E27FC236}">
                <a16:creationId xmlns:a16="http://schemas.microsoft.com/office/drawing/2014/main" id="{29058B7A-6A5E-5EED-9CB7-811C0EC38688}"/>
              </a:ext>
            </a:extLst>
          </p:cNvPr>
          <p:cNvSpPr/>
          <p:nvPr/>
        </p:nvSpPr>
        <p:spPr>
          <a:xfrm>
            <a:off x="2428206" y="1842627"/>
            <a:ext cx="952003" cy="236652"/>
          </a:xfrm>
          <a:prstGeom prst="leftRightArrow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2" name="圓角矩形 68">
            <a:extLst>
              <a:ext uri="{FF2B5EF4-FFF2-40B4-BE49-F238E27FC236}">
                <a16:creationId xmlns:a16="http://schemas.microsoft.com/office/drawing/2014/main" id="{39BB093C-C9D8-F44B-B1FA-21C15029BD09}"/>
              </a:ext>
            </a:extLst>
          </p:cNvPr>
          <p:cNvSpPr/>
          <p:nvPr/>
        </p:nvSpPr>
        <p:spPr>
          <a:xfrm>
            <a:off x="1985175" y="2545480"/>
            <a:ext cx="894764" cy="311132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IT</a:t>
            </a:r>
            <a:endParaRPr kumimoji="1" lang="zh-TW" altLang="en-US" sz="1400" dirty="0"/>
          </a:p>
        </p:txBody>
      </p:sp>
      <p:sp>
        <p:nvSpPr>
          <p:cNvPr id="155" name="圓角矩形 68">
            <a:extLst>
              <a:ext uri="{FF2B5EF4-FFF2-40B4-BE49-F238E27FC236}">
                <a16:creationId xmlns:a16="http://schemas.microsoft.com/office/drawing/2014/main" id="{E7E30E9C-7673-10E8-5FEA-5470B630977F}"/>
              </a:ext>
            </a:extLst>
          </p:cNvPr>
          <p:cNvSpPr/>
          <p:nvPr/>
        </p:nvSpPr>
        <p:spPr>
          <a:xfrm>
            <a:off x="167963" y="2504757"/>
            <a:ext cx="894764" cy="311132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Infra</a:t>
            </a:r>
            <a:endParaRPr kumimoji="1" lang="zh-TW" altLang="en-US" sz="1400" dirty="0"/>
          </a:p>
        </p:txBody>
      </p:sp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F6C9878C-4654-23A4-49C7-52D195406742}"/>
              </a:ext>
            </a:extLst>
          </p:cNvPr>
          <p:cNvCxnSpPr>
            <a:cxnSpLocks/>
          </p:cNvCxnSpPr>
          <p:nvPr/>
        </p:nvCxnSpPr>
        <p:spPr>
          <a:xfrm flipV="1">
            <a:off x="716337" y="2303338"/>
            <a:ext cx="1697193" cy="52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45FAEFF5-C54E-AC5A-63FB-21CB3D078E6E}"/>
              </a:ext>
            </a:extLst>
          </p:cNvPr>
          <p:cNvCxnSpPr>
            <a:cxnSpLocks/>
          </p:cNvCxnSpPr>
          <p:nvPr/>
        </p:nvCxnSpPr>
        <p:spPr>
          <a:xfrm flipH="1">
            <a:off x="2419935" y="2291730"/>
            <a:ext cx="2802" cy="2533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DE0D81D2-A502-E279-0123-ED41271EE80C}"/>
              </a:ext>
            </a:extLst>
          </p:cNvPr>
          <p:cNvCxnSpPr>
            <a:cxnSpLocks/>
          </p:cNvCxnSpPr>
          <p:nvPr/>
        </p:nvCxnSpPr>
        <p:spPr>
          <a:xfrm>
            <a:off x="716337" y="2291730"/>
            <a:ext cx="0" cy="220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圓角矩形 8">
            <a:extLst>
              <a:ext uri="{FF2B5EF4-FFF2-40B4-BE49-F238E27FC236}">
                <a16:creationId xmlns:a16="http://schemas.microsoft.com/office/drawing/2014/main" id="{BE47A41F-96A8-692F-F8CE-8DF199A4232E}"/>
              </a:ext>
            </a:extLst>
          </p:cNvPr>
          <p:cNvSpPr/>
          <p:nvPr/>
        </p:nvSpPr>
        <p:spPr>
          <a:xfrm>
            <a:off x="157233" y="3444975"/>
            <a:ext cx="894763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Ji-Xian</a:t>
            </a:r>
            <a:endParaRPr kumimoji="1" lang="zh-TW" altLang="en-US" sz="1400" dirty="0"/>
          </a:p>
        </p:txBody>
      </p:sp>
      <p:sp>
        <p:nvSpPr>
          <p:cNvPr id="163" name="圓角矩形 8">
            <a:extLst>
              <a:ext uri="{FF2B5EF4-FFF2-40B4-BE49-F238E27FC236}">
                <a16:creationId xmlns:a16="http://schemas.microsoft.com/office/drawing/2014/main" id="{3095B65B-AA21-F78C-BE3A-CBA2644EFDAB}"/>
              </a:ext>
            </a:extLst>
          </p:cNvPr>
          <p:cNvSpPr/>
          <p:nvPr/>
        </p:nvSpPr>
        <p:spPr>
          <a:xfrm>
            <a:off x="163890" y="3032535"/>
            <a:ext cx="894397" cy="295567"/>
          </a:xfrm>
          <a:prstGeom prst="roundRect">
            <a:avLst/>
          </a:prstGeom>
          <a:solidFill>
            <a:srgbClr val="FE8E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Ryan</a:t>
            </a:r>
            <a:endParaRPr kumimoji="1" lang="zh-TW" altLang="en-US" sz="1400" dirty="0"/>
          </a:p>
        </p:txBody>
      </p: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F06EE9D9-9075-1BC5-F885-B1A0DFCB2B3D}"/>
              </a:ext>
            </a:extLst>
          </p:cNvPr>
          <p:cNvCxnSpPr>
            <a:cxnSpLocks/>
            <a:stCxn id="142" idx="2"/>
            <a:endCxn id="117" idx="0"/>
          </p:cNvCxnSpPr>
          <p:nvPr/>
        </p:nvCxnSpPr>
        <p:spPr>
          <a:xfrm>
            <a:off x="2432557" y="2856612"/>
            <a:ext cx="0" cy="6788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5CE625B-2FF4-D37E-B277-B1058072C728}"/>
              </a:ext>
            </a:extLst>
          </p:cNvPr>
          <p:cNvCxnSpPr>
            <a:cxnSpLocks/>
            <a:stCxn id="155" idx="2"/>
            <a:endCxn id="163" idx="0"/>
          </p:cNvCxnSpPr>
          <p:nvPr/>
        </p:nvCxnSpPr>
        <p:spPr>
          <a:xfrm flipH="1">
            <a:off x="611089" y="2815889"/>
            <a:ext cx="4256" cy="216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522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7F3D15D7-F64C-73E8-2108-6EF2C37FCC4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5876" y="-67407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分工與職掌</a:t>
            </a: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434A5496-A6C9-B944-73E0-FBA8211B6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724421"/>
              </p:ext>
            </p:extLst>
          </p:nvPr>
        </p:nvGraphicFramePr>
        <p:xfrm>
          <a:off x="295876" y="704221"/>
          <a:ext cx="8383997" cy="39024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2423">
                  <a:extLst>
                    <a:ext uri="{9D8B030D-6E8A-4147-A177-3AD203B41FA5}">
                      <a16:colId xmlns:a16="http://schemas.microsoft.com/office/drawing/2014/main" val="4185209923"/>
                    </a:ext>
                  </a:extLst>
                </a:gridCol>
                <a:gridCol w="1362580">
                  <a:extLst>
                    <a:ext uri="{9D8B030D-6E8A-4147-A177-3AD203B41FA5}">
                      <a16:colId xmlns:a16="http://schemas.microsoft.com/office/drawing/2014/main" val="2162706137"/>
                    </a:ext>
                  </a:extLst>
                </a:gridCol>
                <a:gridCol w="727704">
                  <a:extLst>
                    <a:ext uri="{9D8B030D-6E8A-4147-A177-3AD203B41FA5}">
                      <a16:colId xmlns:a16="http://schemas.microsoft.com/office/drawing/2014/main" val="2878871925"/>
                    </a:ext>
                  </a:extLst>
                </a:gridCol>
                <a:gridCol w="2067932">
                  <a:extLst>
                    <a:ext uri="{9D8B030D-6E8A-4147-A177-3AD203B41FA5}">
                      <a16:colId xmlns:a16="http://schemas.microsoft.com/office/drawing/2014/main" val="1335447216"/>
                    </a:ext>
                  </a:extLst>
                </a:gridCol>
                <a:gridCol w="3353358">
                  <a:extLst>
                    <a:ext uri="{9D8B030D-6E8A-4147-A177-3AD203B41FA5}">
                      <a16:colId xmlns:a16="http://schemas.microsoft.com/office/drawing/2014/main" val="1891446371"/>
                    </a:ext>
                  </a:extLst>
                </a:gridCol>
              </a:tblGrid>
              <a:tr h="2184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角色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職稱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姓名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聯繫方式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執掌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1564948468"/>
                  </a:ext>
                </a:extLst>
              </a:tr>
              <a:tr h="70973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專案督導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產品處長</a:t>
                      </a:r>
                      <a:endParaRPr lang="en-US" altLang="zh-TW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蘇倍毅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doohansu@metaage.com.tw</a:t>
                      </a:r>
                      <a:endParaRPr lang="en-US" altLang="zh-TW" sz="9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負責專案成敗責任及相關進度審視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檢討並督促專案之行動項目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協助協調內部資源與監控專案執行進度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招集專案檢討會議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2169080976"/>
                  </a:ext>
                </a:extLst>
              </a:tr>
              <a:tr h="41668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專案規劃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資深架構師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施成暐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zh-TW" sz="12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cwshih@metaage.com.tw</a:t>
                      </a:r>
                      <a:endParaRPr lang="en-US" altLang="zh-TW" sz="1200" b="0" i="0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專案需求釐清、規劃與可行性分析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規劃、統整專案架構需求</a:t>
                      </a:r>
                      <a:endParaRPr lang="en-US" altLang="zh-TW" sz="1100" dirty="0"/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1848425346"/>
                  </a:ext>
                </a:extLst>
              </a:tr>
              <a:tr h="70973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專案經理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專案經理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胡筱其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12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 tooltip="mailto:headdyjhen@metaage.com.tw"/>
                        </a:rPr>
                        <a:t>hsiaochihu@metaage.com.tw</a:t>
                      </a:r>
                      <a:r>
                        <a:rPr lang="zh-TW" altLang="zh-TW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zh-TW" sz="9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專案資源配置與專案進度管控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控制追蹤專案進度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定期召開專案進度會議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提供專案所需之相關設備與文件資料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3950747546"/>
                  </a:ext>
                </a:extLst>
              </a:tr>
              <a:tr h="6125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專案業務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業務專員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董家毓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hlinkClick r:id="rId6"/>
                        </a:rPr>
                        <a:t>jennytung@metaage.com.tw</a:t>
                      </a:r>
                      <a:endParaRPr lang="en-US" altLang="zh-TW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統一業務溝通窗口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協助溝通專案各項資源調派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協助解決專案進行中所發生之問題、瓶頸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2333100214"/>
                  </a:ext>
                </a:extLst>
              </a:tr>
              <a:tr h="382231"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專案執行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Oracle ACS</a:t>
                      </a:r>
                      <a:endParaRPr lang="zh-TW" altLang="en-US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/>
                        <a:t>Calvin</a:t>
                      </a:r>
                      <a:endParaRPr lang="zh-TW" altLang="en-US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zh-TW" sz="1100" dirty="0">
                          <a:hlinkClick r:id="rId7"/>
                        </a:rPr>
                        <a:t>calvin.yuan@oracle.com</a:t>
                      </a:r>
                      <a:endParaRPr lang="en-US" altLang="zh-TW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專案執行督導</a:t>
                      </a:r>
                      <a:r>
                        <a:rPr lang="en-US" altLang="zh-TW" sz="1100" dirty="0"/>
                        <a:t>(Oracle)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專案之建置、測試及交付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896710888"/>
                  </a:ext>
                </a:extLst>
              </a:tr>
              <a:tr h="3822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技術主管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顏志益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zh-TW" sz="1100" dirty="0">
                          <a:hlinkClick r:id="rId8"/>
                        </a:rPr>
                        <a:t>samuelyen@metaage.com.tw</a:t>
                      </a:r>
                      <a:endParaRPr lang="en-US" altLang="zh-TW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專案執行督導</a:t>
                      </a:r>
                      <a:endParaRPr lang="en-US" altLang="zh-TW" sz="11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專案之建置、測試及交付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352140605"/>
                  </a:ext>
                </a:extLst>
              </a:tr>
              <a:tr h="28635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顧問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吳俞修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zh-TW" sz="1100" dirty="0">
                          <a:hlinkClick r:id="rId9"/>
                        </a:rPr>
                        <a:t>hughwu@metaage.com.tw</a:t>
                      </a:r>
                      <a:endParaRPr lang="en-US" altLang="zh-TW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TW" altLang="en-US" sz="1100" dirty="0"/>
                        <a:t>專案之建置、測試及交付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1521842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548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82E0-2159-6935-8309-F4470FC4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00718EC-3E0B-5FEF-A373-7D93FAA5FE6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5876" y="-67407"/>
            <a:ext cx="8208912" cy="693092"/>
          </a:xfrm>
        </p:spPr>
        <p:txBody>
          <a:bodyPr/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分工與職掌</a:t>
            </a:r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B6B9E539-E8C4-E40F-EA9D-1F9ABD4D7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922379"/>
              </p:ext>
            </p:extLst>
          </p:nvPr>
        </p:nvGraphicFramePr>
        <p:xfrm>
          <a:off x="369278" y="625685"/>
          <a:ext cx="8345232" cy="14565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8832">
                  <a:extLst>
                    <a:ext uri="{9D8B030D-6E8A-4147-A177-3AD203B41FA5}">
                      <a16:colId xmlns:a16="http://schemas.microsoft.com/office/drawing/2014/main" val="4185209923"/>
                    </a:ext>
                  </a:extLst>
                </a:gridCol>
                <a:gridCol w="1343265">
                  <a:extLst>
                    <a:ext uri="{9D8B030D-6E8A-4147-A177-3AD203B41FA5}">
                      <a16:colId xmlns:a16="http://schemas.microsoft.com/office/drawing/2014/main" val="2162706137"/>
                    </a:ext>
                  </a:extLst>
                </a:gridCol>
                <a:gridCol w="856911">
                  <a:extLst>
                    <a:ext uri="{9D8B030D-6E8A-4147-A177-3AD203B41FA5}">
                      <a16:colId xmlns:a16="http://schemas.microsoft.com/office/drawing/2014/main" val="2878871925"/>
                    </a:ext>
                  </a:extLst>
                </a:gridCol>
                <a:gridCol w="2058371">
                  <a:extLst>
                    <a:ext uri="{9D8B030D-6E8A-4147-A177-3AD203B41FA5}">
                      <a16:colId xmlns:a16="http://schemas.microsoft.com/office/drawing/2014/main" val="1335447216"/>
                    </a:ext>
                  </a:extLst>
                </a:gridCol>
                <a:gridCol w="3337853">
                  <a:extLst>
                    <a:ext uri="{9D8B030D-6E8A-4147-A177-3AD203B41FA5}">
                      <a16:colId xmlns:a16="http://schemas.microsoft.com/office/drawing/2014/main" val="1891446371"/>
                    </a:ext>
                  </a:extLst>
                </a:gridCol>
              </a:tblGrid>
              <a:tr h="24185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角色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職稱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姓名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聯繫方式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執掌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1564948468"/>
                  </a:ext>
                </a:extLst>
              </a:tr>
              <a:tr h="40248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專案執行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顧問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郭嘉龍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11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charleskuo@metaage.com.tw</a:t>
                      </a:r>
                      <a:endParaRPr lang="en-US" altLang="zh-TW" sz="2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專案之建置、測試及交付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2169080976"/>
                  </a:ext>
                </a:extLst>
              </a:tr>
              <a:tr h="40248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工程師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林家禾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12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jesselin@metaage.com.tw</a:t>
                      </a:r>
                      <a:endParaRPr lang="en-US" altLang="zh-TW" sz="6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專案之建置、測試及交付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3950747546"/>
                  </a:ext>
                </a:extLst>
              </a:tr>
              <a:tr h="402482">
                <a:tc vMerge="1">
                  <a:txBody>
                    <a:bodyPr/>
                    <a:lstStyle/>
                    <a:p>
                      <a:pPr algn="ctr"/>
                      <a:endParaRPr lang="zh-TW" altLang="en-US" sz="11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邁達特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工程師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/>
                        <a:t>丁瑋</a:t>
                      </a:r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zh-TW" altLang="zh-TW" sz="12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charlieting@metaage.com.tw</a:t>
                      </a:r>
                      <a:endParaRPr lang="en-US" altLang="zh-TW" sz="900" dirty="0"/>
                    </a:p>
                  </a:txBody>
                  <a:tcPr marL="81487" marR="81487" marT="40743" marB="40743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1100" dirty="0"/>
                        <a:t>專案之建置、測試及交付</a:t>
                      </a:r>
                    </a:p>
                  </a:txBody>
                  <a:tcPr marL="81487" marR="81487" marT="40743" marB="40743" anchor="ctr"/>
                </a:tc>
                <a:extLst>
                  <a:ext uri="{0D108BD9-81ED-4DB2-BD59-A6C34878D82A}">
                    <a16:rowId xmlns:a16="http://schemas.microsoft.com/office/drawing/2014/main" val="2333100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843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58E6496-065E-3627-339F-9DE52A5AEA8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5876" y="33701"/>
            <a:ext cx="8208912" cy="693092"/>
          </a:xfrm>
        </p:spPr>
        <p:txBody>
          <a:bodyPr/>
          <a:lstStyle/>
          <a:p>
            <a:r>
              <a:rPr lang="zh-TW" altLang="en-US" dirty="0">
                <a:solidFill>
                  <a:srgbClr val="0070C0"/>
                </a:solidFill>
              </a:rPr>
              <a:t>專案團隊服務與訊息傳遞方式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B0B5B1C-A688-C055-F824-BE71D09BD570}"/>
              </a:ext>
            </a:extLst>
          </p:cNvPr>
          <p:cNvSpPr/>
          <p:nvPr/>
        </p:nvSpPr>
        <p:spPr>
          <a:xfrm>
            <a:off x="658070" y="869159"/>
            <a:ext cx="551117" cy="3791640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51A089-FCB0-335D-8291-F21E03D4E2A3}"/>
              </a:ext>
            </a:extLst>
          </p:cNvPr>
          <p:cNvSpPr txBox="1"/>
          <p:nvPr/>
        </p:nvSpPr>
        <p:spPr>
          <a:xfrm>
            <a:off x="724781" y="1072813"/>
            <a:ext cx="400110" cy="348749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sz="1400" b="1" dirty="0">
                <a:latin typeface="+mn-ea"/>
              </a:rPr>
              <a:t>EDW Oracle RAC</a:t>
            </a:r>
            <a:r>
              <a:rPr lang="zh-TW" altLang="zh-TW" sz="1400" b="1" dirty="0">
                <a:latin typeface="+mn-ea"/>
              </a:rPr>
              <a:t>升級</a:t>
            </a:r>
            <a:r>
              <a:rPr lang="zh-TW" altLang="zh-TW" sz="1400" b="1" dirty="0"/>
              <a:t>暨一體機建置專案</a:t>
            </a:r>
            <a:endParaRPr kumimoji="1" lang="zh-TW" altLang="en-US" sz="1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F9C2298-3991-9C11-A8A0-4552C1506A08}"/>
              </a:ext>
            </a:extLst>
          </p:cNvPr>
          <p:cNvSpPr txBox="1"/>
          <p:nvPr/>
        </p:nvSpPr>
        <p:spPr>
          <a:xfrm>
            <a:off x="1555155" y="956643"/>
            <a:ext cx="2169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b="1" dirty="0">
                <a:solidFill>
                  <a:srgbClr val="FF0000"/>
                </a:solidFill>
              </a:rPr>
              <a:t>諮詢方式</a:t>
            </a:r>
            <a:endParaRPr kumimoji="1" lang="en-US" altLang="zh-TW" sz="1600" b="1" dirty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600" dirty="0">
                <a:solidFill>
                  <a:srgbClr val="005493"/>
                </a:solidFill>
              </a:rPr>
              <a:t>電話諮詢</a:t>
            </a:r>
            <a:endParaRPr kumimoji="1" lang="en-US" altLang="zh-TW" sz="1600" dirty="0">
              <a:solidFill>
                <a:srgbClr val="005493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600" dirty="0">
                <a:solidFill>
                  <a:srgbClr val="005493"/>
                </a:solidFill>
              </a:rPr>
              <a:t>郵件諮詢</a:t>
            </a:r>
            <a:endParaRPr kumimoji="1" lang="en-US" altLang="zh-TW" sz="1600" dirty="0">
              <a:solidFill>
                <a:srgbClr val="005493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600" dirty="0">
                <a:solidFill>
                  <a:srgbClr val="005493"/>
                </a:solidFill>
              </a:rPr>
              <a:t>會議溝通</a:t>
            </a:r>
            <a:endParaRPr kumimoji="1" lang="en-US" altLang="zh-TW" sz="1600" dirty="0">
              <a:solidFill>
                <a:srgbClr val="005493"/>
              </a:solidFill>
            </a:endParaRPr>
          </a:p>
        </p:txBody>
      </p:sp>
      <p:sp>
        <p:nvSpPr>
          <p:cNvPr id="8" name="向右箭號 7">
            <a:extLst>
              <a:ext uri="{FF2B5EF4-FFF2-40B4-BE49-F238E27FC236}">
                <a16:creationId xmlns:a16="http://schemas.microsoft.com/office/drawing/2014/main" id="{9DCCFBC2-66B9-D2F9-B7E6-17614E36120D}"/>
              </a:ext>
            </a:extLst>
          </p:cNvPr>
          <p:cNvSpPr/>
          <p:nvPr/>
        </p:nvSpPr>
        <p:spPr>
          <a:xfrm>
            <a:off x="1488691" y="2064971"/>
            <a:ext cx="2169042" cy="909650"/>
          </a:xfrm>
          <a:prstGeom prst="rightArrow">
            <a:avLst/>
          </a:prstGeom>
          <a:solidFill>
            <a:srgbClr val="FF7E7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dirty="0"/>
              <a:t>諮詢對象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F7F0816-CE75-8C66-2896-D506B6E3A46F}"/>
              </a:ext>
            </a:extLst>
          </p:cNvPr>
          <p:cNvSpPr txBox="1"/>
          <p:nvPr/>
        </p:nvSpPr>
        <p:spPr>
          <a:xfrm>
            <a:off x="1555155" y="3186654"/>
            <a:ext cx="2659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400" dirty="0">
                <a:solidFill>
                  <a:srgbClr val="005493"/>
                </a:solidFill>
              </a:rPr>
              <a:t>技術應用討論</a:t>
            </a:r>
            <a:endParaRPr kumimoji="1" lang="en-US" altLang="zh-TW" sz="1400" dirty="0">
              <a:solidFill>
                <a:srgbClr val="005493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400" dirty="0">
                <a:solidFill>
                  <a:srgbClr val="005493"/>
                </a:solidFill>
              </a:rPr>
              <a:t>系統功能操作諮詢</a:t>
            </a:r>
            <a:endParaRPr kumimoji="1" lang="en-US" altLang="zh-TW" sz="1400" dirty="0">
              <a:solidFill>
                <a:srgbClr val="005493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400" dirty="0">
                <a:solidFill>
                  <a:srgbClr val="005493"/>
                </a:solidFill>
              </a:rPr>
              <a:t>系統錯誤反應</a:t>
            </a:r>
            <a:endParaRPr kumimoji="1" lang="en-US" altLang="zh-TW" sz="1400" dirty="0">
              <a:solidFill>
                <a:srgbClr val="005493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TW" altLang="en-US" sz="1400" dirty="0">
                <a:solidFill>
                  <a:srgbClr val="005493"/>
                </a:solidFill>
              </a:rPr>
              <a:t>任何與本案相關問題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EF4860D-1CFC-AA02-AEA8-C8330E754933}"/>
              </a:ext>
            </a:extLst>
          </p:cNvPr>
          <p:cNvSpPr/>
          <p:nvPr/>
        </p:nvSpPr>
        <p:spPr>
          <a:xfrm>
            <a:off x="3967610" y="869159"/>
            <a:ext cx="4537178" cy="3924956"/>
          </a:xfrm>
          <a:prstGeom prst="round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5B38CB0-6B72-1FC4-AD7F-422887AE6C6A}"/>
              </a:ext>
            </a:extLst>
          </p:cNvPr>
          <p:cNvSpPr txBox="1"/>
          <p:nvPr/>
        </p:nvSpPr>
        <p:spPr>
          <a:xfrm>
            <a:off x="5143752" y="956643"/>
            <a:ext cx="2461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chemeClr val="bg1"/>
                </a:solidFill>
              </a:rPr>
              <a:t>專案建置維運小組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86DA30F7-C72C-C96D-83C2-4654A330DF0D}"/>
              </a:ext>
            </a:extLst>
          </p:cNvPr>
          <p:cNvSpPr/>
          <p:nvPr/>
        </p:nvSpPr>
        <p:spPr>
          <a:xfrm>
            <a:off x="4756686" y="1356434"/>
            <a:ext cx="3235569" cy="400110"/>
          </a:xfrm>
          <a:prstGeom prst="round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專案經理 </a:t>
            </a:r>
            <a:r>
              <a:rPr kumimoji="1" lang="en-US" altLang="zh-TW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(Oracle / </a:t>
            </a:r>
            <a:r>
              <a:rPr kumimoji="1" lang="en-US" altLang="zh-TW" sz="16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Metaage</a:t>
            </a:r>
            <a:r>
              <a:rPr kumimoji="1" lang="en-US" altLang="zh-TW" sz="1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1996E43C-DF4C-930B-6B60-1EC2BEC2FAD4}"/>
              </a:ext>
            </a:extLst>
          </p:cNvPr>
          <p:cNvSpPr/>
          <p:nvPr/>
        </p:nvSpPr>
        <p:spPr>
          <a:xfrm>
            <a:off x="4397874" y="1918112"/>
            <a:ext cx="2294620" cy="183927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EBB2E7D-2807-5EFE-F60D-8D5D8757AFA4}"/>
              </a:ext>
            </a:extLst>
          </p:cNvPr>
          <p:cNvSpPr txBox="1"/>
          <p:nvPr/>
        </p:nvSpPr>
        <p:spPr>
          <a:xfrm>
            <a:off x="4832050" y="2008237"/>
            <a:ext cx="1740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>
                <a:solidFill>
                  <a:schemeClr val="bg1"/>
                </a:solidFill>
              </a:rPr>
              <a:t>專案技術人員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0A941014-1BEC-222A-E346-C1D947C822F3}"/>
              </a:ext>
            </a:extLst>
          </p:cNvPr>
          <p:cNvSpPr/>
          <p:nvPr/>
        </p:nvSpPr>
        <p:spPr>
          <a:xfrm>
            <a:off x="4545875" y="2381180"/>
            <a:ext cx="962441" cy="1081980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原廠顧問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CE2C84C5-78B0-CF51-36D8-69A74212ECFA}"/>
              </a:ext>
            </a:extLst>
          </p:cNvPr>
          <p:cNvSpPr/>
          <p:nvPr/>
        </p:nvSpPr>
        <p:spPr>
          <a:xfrm>
            <a:off x="5603236" y="2381180"/>
            <a:ext cx="891586" cy="1081980"/>
          </a:xfrm>
          <a:prstGeom prst="round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邁達特顧問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2337BB3-7DFF-EFD3-4436-DA8D7D3311EB}"/>
              </a:ext>
            </a:extLst>
          </p:cNvPr>
          <p:cNvSpPr/>
          <p:nvPr/>
        </p:nvSpPr>
        <p:spPr>
          <a:xfrm>
            <a:off x="4545875" y="3878509"/>
            <a:ext cx="962442" cy="756165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Matthew</a:t>
            </a:r>
          </a:p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Oracle ACS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C02CA2F-E452-52E5-B015-0A4D829299FD}"/>
              </a:ext>
            </a:extLst>
          </p:cNvPr>
          <p:cNvSpPr/>
          <p:nvPr/>
        </p:nvSpPr>
        <p:spPr>
          <a:xfrm>
            <a:off x="5603236" y="3877265"/>
            <a:ext cx="908939" cy="757409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顏志益</a:t>
            </a:r>
            <a:endParaRPr kumimoji="1"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475A6B9F-90BA-0BB4-5646-BEA702CF541D}"/>
              </a:ext>
            </a:extLst>
          </p:cNvPr>
          <p:cNvSpPr/>
          <p:nvPr/>
        </p:nvSpPr>
        <p:spPr>
          <a:xfrm>
            <a:off x="6960812" y="1906003"/>
            <a:ext cx="1262725" cy="1839275"/>
          </a:xfrm>
          <a:prstGeom prst="roundRect">
            <a:avLst/>
          </a:prstGeom>
          <a:solidFill>
            <a:srgbClr val="FF2F9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800" dirty="0">
                <a:solidFill>
                  <a:schemeClr val="bg1"/>
                </a:solidFill>
              </a:rPr>
              <a:t>專案業務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4E1823E-20C1-330A-0F1E-C019BEEF6BC3}"/>
              </a:ext>
            </a:extLst>
          </p:cNvPr>
          <p:cNvSpPr/>
          <p:nvPr/>
        </p:nvSpPr>
        <p:spPr>
          <a:xfrm>
            <a:off x="7137704" y="3877265"/>
            <a:ext cx="908939" cy="757409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張淑鈞</a:t>
            </a:r>
            <a:endParaRPr kumimoji="1" lang="en-US" altLang="zh-TW" sz="1400" dirty="0">
              <a:solidFill>
                <a:schemeClr val="tx1"/>
              </a:solidFill>
            </a:endParaRPr>
          </a:p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董家毓</a:t>
            </a:r>
            <a:endParaRPr kumimoji="1" lang="en-US" altLang="zh-TW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651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F2BA650-F31C-B169-516D-E8D9FFA74360}"/>
              </a:ext>
            </a:extLst>
          </p:cNvPr>
          <p:cNvSpPr txBox="1"/>
          <p:nvPr/>
        </p:nvSpPr>
        <p:spPr>
          <a:xfrm>
            <a:off x="3727938" y="2187029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4400" b="1" dirty="0">
                <a:solidFill>
                  <a:schemeClr val="bg1"/>
                </a:solidFill>
              </a:rPr>
              <a:t>專案交付項目</a:t>
            </a:r>
          </a:p>
        </p:txBody>
      </p:sp>
    </p:spTree>
    <p:extLst>
      <p:ext uri="{BB962C8B-B14F-4D97-AF65-F5344CB8AC3E}">
        <p14:creationId xmlns:p14="http://schemas.microsoft.com/office/powerpoint/2010/main" val="2761408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81AB1FD-3EC1-E0EC-6FEB-00D2A1C00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39355"/>
              </p:ext>
            </p:extLst>
          </p:nvPr>
        </p:nvGraphicFramePr>
        <p:xfrm>
          <a:off x="1141869" y="1082195"/>
          <a:ext cx="6296920" cy="29791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748">
                  <a:extLst>
                    <a:ext uri="{9D8B030D-6E8A-4147-A177-3AD203B41FA5}">
                      <a16:colId xmlns:a16="http://schemas.microsoft.com/office/drawing/2014/main" val="1402451151"/>
                    </a:ext>
                  </a:extLst>
                </a:gridCol>
                <a:gridCol w="3423151">
                  <a:extLst>
                    <a:ext uri="{9D8B030D-6E8A-4147-A177-3AD203B41FA5}">
                      <a16:colId xmlns:a16="http://schemas.microsoft.com/office/drawing/2014/main" val="225756805"/>
                    </a:ext>
                  </a:extLst>
                </a:gridCol>
                <a:gridCol w="2193021">
                  <a:extLst>
                    <a:ext uri="{9D8B030D-6E8A-4147-A177-3AD203B41FA5}">
                      <a16:colId xmlns:a16="http://schemas.microsoft.com/office/drawing/2014/main" val="3627751491"/>
                    </a:ext>
                  </a:extLst>
                </a:gridCol>
              </a:tblGrid>
              <a:tr h="31320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zh-TW" sz="1800" b="1">
                          <a:effectLst/>
                        </a:rPr>
                        <a:t>項次</a:t>
                      </a:r>
                      <a:endParaRPr lang="zh-TW" sz="1800" b="1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zh-TW" sz="1800" b="1" dirty="0">
                          <a:effectLst/>
                        </a:rPr>
                        <a:t>內容</a:t>
                      </a:r>
                      <a:endParaRPr lang="zh-TW" sz="1800" b="1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zh-TW" altLang="en-US" sz="1800" b="1" dirty="0">
                          <a:effectLst/>
                        </a:rPr>
                        <a:t>交付</a:t>
                      </a:r>
                      <a:r>
                        <a:rPr lang="zh-TW" sz="1800" b="1" dirty="0">
                          <a:effectLst/>
                        </a:rPr>
                        <a:t>方式</a:t>
                      </a:r>
                      <a:endParaRPr lang="zh-TW" sz="1800" b="1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4082608584"/>
                  </a:ext>
                </a:extLst>
              </a:tr>
              <a:tr h="44431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1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Oracle Exadata </a:t>
                      </a:r>
                      <a:r>
                        <a:rPr lang="zh-TW" sz="1400" dirty="0">
                          <a:effectLst/>
                          <a:latin typeface="+mn-lt"/>
                        </a:rPr>
                        <a:t>一體機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zh-TW" sz="1400" dirty="0">
                          <a:effectLst/>
                          <a:latin typeface="+mn-lt"/>
                        </a:rPr>
                        <a:t>實體設備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243181240"/>
                  </a:ext>
                </a:extLst>
              </a:tr>
              <a:tr h="44431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2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Oracle Exadata </a:t>
                      </a:r>
                      <a:r>
                        <a:rPr lang="zh-TW" sz="1400" dirty="0">
                          <a:effectLst/>
                          <a:latin typeface="+mn-lt"/>
                        </a:rPr>
                        <a:t>一體機軟體授權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zh-TW" sz="1400" dirty="0">
                          <a:effectLst/>
                          <a:latin typeface="+mj-ea"/>
                          <a:ea typeface="+mj-ea"/>
                        </a:rPr>
                        <a:t>電子授權文件</a:t>
                      </a:r>
                      <a:endParaRPr lang="zh-TW" sz="1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839413488"/>
                  </a:ext>
                </a:extLst>
              </a:tr>
              <a:tr h="44431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en-US" alt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Oracle Exadata </a:t>
                      </a:r>
                      <a:r>
                        <a:rPr 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安裝摘要報告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電子授權文件</a:t>
                      </a:r>
                      <a:endParaRPr kumimoji="0" lang="zh-TW" altLang="zh-TW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001762639"/>
                  </a:ext>
                </a:extLst>
              </a:tr>
              <a:tr h="44431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en-US" alt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Oracle ODA </a:t>
                      </a:r>
                      <a:r>
                        <a:rPr lang="zh-TW" sz="140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移機檢核表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電子授權文件</a:t>
                      </a:r>
                      <a:endParaRPr kumimoji="0" lang="zh-TW" altLang="zh-TW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273672434"/>
                  </a:ext>
                </a:extLst>
              </a:tr>
              <a:tr h="44431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en-US" alt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Oracle Data Guard</a:t>
                      </a:r>
                      <a:r>
                        <a:rPr 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教育訓練簽到表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zh-TW" altLang="en-US" sz="14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紙本</a:t>
                      </a:r>
                      <a:r>
                        <a:rPr kumimoji="0" lang="zh-TW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文件</a:t>
                      </a:r>
                      <a:endParaRPr lang="zh-TW" sz="1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967486108"/>
                  </a:ext>
                </a:extLst>
              </a:tr>
              <a:tr h="444317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600"/>
                        </a:spcAft>
                        <a:buNone/>
                      </a:pPr>
                      <a:r>
                        <a:rPr lang="en-US" alt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600"/>
                        </a:spcAft>
                        <a:buNone/>
                      </a:pPr>
                      <a:r>
                        <a:rPr lang="en-US" altLang="zh-TW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Oracle</a:t>
                      </a:r>
                      <a:r>
                        <a:rPr lang="zh-TW" altLang="en-US" sz="1400" dirty="0">
                          <a:effectLst/>
                          <a:latin typeface="+mn-lt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專案服務完工報告</a:t>
                      </a:r>
                      <a:endParaRPr lang="zh-TW" sz="1400" dirty="0">
                        <a:effectLst/>
                        <a:latin typeface="+mn-lt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紙本</a:t>
                      </a:r>
                      <a:r>
                        <a:rPr kumimoji="0" lang="zh-TW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文件</a:t>
                      </a:r>
                      <a:endParaRPr lang="zh-TW" altLang="zh-TW" sz="14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798662518"/>
                  </a:ext>
                </a:extLst>
              </a:tr>
            </a:tbl>
          </a:graphicData>
        </a:graphic>
      </p:graphicFrame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84BF2F-9233-EB01-FCD5-D1C3805FAF4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5876" y="33701"/>
            <a:ext cx="8208912" cy="693092"/>
          </a:xfrm>
        </p:spPr>
        <p:txBody>
          <a:bodyPr/>
          <a:lstStyle/>
          <a:p>
            <a:r>
              <a:rPr lang="zh-TW" altLang="en-US" dirty="0">
                <a:solidFill>
                  <a:srgbClr val="0070C0"/>
                </a:solidFill>
              </a:rPr>
              <a:t>專案交付清單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151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9D6603AA-4635-4BFF-BBDF-D9EB4CA65120}"/>
              </a:ext>
            </a:extLst>
          </p:cNvPr>
          <p:cNvGrpSpPr/>
          <p:nvPr/>
        </p:nvGrpSpPr>
        <p:grpSpPr>
          <a:xfrm>
            <a:off x="3842917" y="1001697"/>
            <a:ext cx="4410492" cy="3140107"/>
            <a:chOff x="3842917" y="1059582"/>
            <a:chExt cx="4410492" cy="3140107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17D69E0-1C39-47ED-8105-5458B34E0D5D}"/>
                </a:ext>
              </a:extLst>
            </p:cNvPr>
            <p:cNvSpPr txBox="1"/>
            <p:nvPr/>
          </p:nvSpPr>
          <p:spPr>
            <a:xfrm>
              <a:off x="3842917" y="1059582"/>
              <a:ext cx="441049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b="1" dirty="0">
                  <a:solidFill>
                    <a:srgbClr val="FFFFFF"/>
                  </a:solidFill>
                </a:rPr>
                <a:t>歡迎追蹤邁達特</a:t>
              </a:r>
              <a:endParaRPr kumimoji="1" lang="en-US" altLang="zh-TW" sz="2800" b="1" dirty="0">
                <a:solidFill>
                  <a:srgbClr val="FFFFFF"/>
                </a:solidFill>
              </a:endParaRPr>
            </a:p>
            <a:p>
              <a:pPr algn="ctr"/>
              <a:r>
                <a:rPr kumimoji="1" lang="zh-TW" altLang="en-US" sz="2800" b="1" dirty="0">
                  <a:solidFill>
                    <a:srgbClr val="FFFFFF"/>
                  </a:solidFill>
                </a:rPr>
                <a:t>獲得最新資訊</a:t>
              </a:r>
              <a:endParaRPr kumimoji="1" lang="en-US" altLang="zh-TW" sz="2800" b="1" dirty="0">
                <a:solidFill>
                  <a:srgbClr val="FFFFFF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FA162EC-6482-4CA8-8E1E-8BF5B50A16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6182" y="2355726"/>
              <a:ext cx="1843963" cy="1843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2639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2915816" y="1491630"/>
            <a:ext cx="3312368" cy="21602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kumimoji="1" lang="zh-TW" altLang="en-US" sz="3000" b="1" dirty="0">
                <a:solidFill>
                  <a:srgbClr val="F5292B"/>
                </a:solidFill>
              </a:rPr>
              <a:t>邁</a:t>
            </a:r>
            <a:r>
              <a:rPr kumimoji="1" lang="zh-TW" altLang="en-US" sz="3000" b="1" dirty="0"/>
              <a:t>向新里程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kumimoji="1" lang="zh-TW" altLang="en-US" sz="3000" b="1" dirty="0">
                <a:solidFill>
                  <a:srgbClr val="F5292B"/>
                </a:solidFill>
              </a:rPr>
              <a:t>達</a:t>
            </a:r>
            <a:r>
              <a:rPr kumimoji="1" lang="zh-TW" altLang="en-US" sz="3000" b="1" dirty="0"/>
              <a:t>到新領域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kumimoji="1" lang="zh-TW" altLang="en-US" sz="3000" b="1" dirty="0">
                <a:solidFill>
                  <a:srgbClr val="F5292B"/>
                </a:solidFill>
              </a:rPr>
              <a:t>特</a:t>
            </a:r>
            <a:r>
              <a:rPr kumimoji="1" lang="zh-TW" altLang="en-US" sz="3000" b="1" dirty="0"/>
              <a:t>寫新視野</a:t>
            </a:r>
          </a:p>
        </p:txBody>
      </p:sp>
    </p:spTree>
    <p:extLst>
      <p:ext uri="{BB962C8B-B14F-4D97-AF65-F5344CB8AC3E}">
        <p14:creationId xmlns:p14="http://schemas.microsoft.com/office/powerpoint/2010/main" val="817921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0" y="221171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5400" b="1" dirty="0">
                <a:solidFill>
                  <a:schemeClr val="bg1"/>
                </a:solidFill>
                <a:cs typeface="Gill Sans"/>
              </a:rPr>
              <a:t>Thank You</a:t>
            </a:r>
            <a:endParaRPr kumimoji="1" lang="zh-TW" altLang="en-US" sz="5400" b="1" dirty="0">
              <a:solidFill>
                <a:schemeClr val="bg1"/>
              </a:solidFill>
              <a:cs typeface="Gill Sans"/>
            </a:endParaRPr>
          </a:p>
        </p:txBody>
      </p:sp>
      <p:pic>
        <p:nvPicPr>
          <p:cNvPr id="3" name="圖片 2" descr="logo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411510"/>
            <a:ext cx="3694560" cy="409806"/>
          </a:xfrm>
          <a:prstGeom prst="rect">
            <a:avLst/>
          </a:prstGeom>
        </p:spPr>
      </p:pic>
      <p:pic>
        <p:nvPicPr>
          <p:cNvPr id="4" name="圖片 3" descr="metaage ppt-0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4248" y="4659982"/>
            <a:ext cx="2088232" cy="3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58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heme/theme1.xml><?xml version="1.0" encoding="utf-8"?>
<a:theme xmlns:a="http://schemas.openxmlformats.org/drawingml/2006/main" name="Meta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典雅色系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cf3b633-4928-448b-af52-5fc35c8390e3" xsi:nil="true"/>
    <lcf76f155ced4ddcb4097134ff3c332f xmlns="0cc1bb2b-26cc-4c8c-916e-747011d47a2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AA5474E1D5EDD4DA8D11AA2B45C2EE1" ma:contentTypeVersion="15" ma:contentTypeDescription="建立新的文件。" ma:contentTypeScope="" ma:versionID="8f8fc5967d3f593604672502be53d2b3">
  <xsd:schema xmlns:xsd="http://www.w3.org/2001/XMLSchema" xmlns:xs="http://www.w3.org/2001/XMLSchema" xmlns:p="http://schemas.microsoft.com/office/2006/metadata/properties" xmlns:ns2="0cc1bb2b-26cc-4c8c-916e-747011d47a25" xmlns:ns3="7cf3b633-4928-448b-af52-5fc35c8390e3" targetNamespace="http://schemas.microsoft.com/office/2006/metadata/properties" ma:root="true" ma:fieldsID="994c73c9e8ba72bd1d417ccbc7c1234e" ns2:_="" ns3:_="">
    <xsd:import namespace="0cc1bb2b-26cc-4c8c-916e-747011d47a25"/>
    <xsd:import namespace="7cf3b633-4928-448b-af52-5fc35c8390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c1bb2b-26cc-4c8c-916e-747011d47a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影像標籤" ma:readOnly="false" ma:fieldId="{5cf76f15-5ced-4ddc-b409-7134ff3c332f}" ma:taxonomyMulti="true" ma:sspId="c42e99ca-2149-40e4-9f10-9570e546c0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f3b633-4928-448b-af52-5fc35c8390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8aae518-ed04-409f-885d-bce19fe646e4}" ma:internalName="TaxCatchAll" ma:showField="CatchAllData" ma:web="7cf3b633-4928-448b-af52-5fc35c8390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cbbc283-a298-4849-8856-6e0b55632c9d"/>
    <ds:schemaRef ds:uri="20a3c8be-564a-4ba8-b654-d32b365e9f9a"/>
    <ds:schemaRef ds:uri="7cf3b633-4928-448b-af52-5fc35c8390e3"/>
    <ds:schemaRef ds:uri="0cc1bb2b-26cc-4c8c-916e-747011d47a25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70B82-BC44-40B1-A579-7D3C54BD39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c1bb2b-26cc-4c8c-916e-747011d47a25"/>
    <ds:schemaRef ds:uri="7cf3b633-4928-448b-af52-5fc35c8390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20461</TotalTime>
  <Words>2204</Words>
  <Application>Microsoft Macintosh PowerPoint</Application>
  <PresentationFormat>如螢幕大小 (16:9)</PresentationFormat>
  <Paragraphs>566</Paragraphs>
  <Slides>32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0" baseType="lpstr">
      <vt:lpstr>微軟正黑體</vt:lpstr>
      <vt:lpstr>Oracle Sans Tab</vt:lpstr>
      <vt:lpstr>Arial</vt:lpstr>
      <vt:lpstr>Calibri</vt:lpstr>
      <vt:lpstr>Gill Sans</vt:lpstr>
      <vt:lpstr>Times New Roman</vt:lpstr>
      <vt:lpstr>Wingdings</vt:lpstr>
      <vt:lpstr>MetaAge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建置計畫案 </vt:lpstr>
      <vt:lpstr>建置計畫案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Jenny Tung 董家毓</cp:lastModifiedBy>
  <cp:revision>112</cp:revision>
  <cp:lastPrinted>2025-06-09T09:36:22Z</cp:lastPrinted>
  <dcterms:created xsi:type="dcterms:W3CDTF">2010-04-12T23:12:02Z</dcterms:created>
  <dcterms:modified xsi:type="dcterms:W3CDTF">2026-06-11T03:32:41Z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0x0101008AA5474E1D5EDD4DA8D11AA2B45C2EE1</vt:lpwstr>
  </property>
  <property fmtid="{D5CDD505-2E9C-101B-9397-08002B2CF9AE}" pid="3" name="_dlc_DocIdItemGuid">
    <vt:lpwstr>e1dd3eb9-ed69-44be-a950-bc0f1c33f246</vt:lpwstr>
  </property>
  <property fmtid="{D5CDD505-2E9C-101B-9397-08002B2CF9AE}" pid="4" name="MediaServiceImageTags">
    <vt:lpwstr/>
  </property>
</Properties>
</file>