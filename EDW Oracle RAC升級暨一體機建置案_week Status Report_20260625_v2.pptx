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8"/>
  </p:notesMasterIdLst>
  <p:sldIdLst>
    <p:sldId id="11328" r:id="rId2"/>
    <p:sldId id="274" r:id="rId3"/>
    <p:sldId id="11337" r:id="rId4"/>
    <p:sldId id="11340" r:id="rId5"/>
    <p:sldId id="11339" r:id="rId6"/>
    <p:sldId id="11327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亭宇 陸" initials="亭宇" lastIdx="10" clrIdx="0">
    <p:extLst>
      <p:ext uri="{19B8F6BF-5375-455C-9EA6-DF929625EA0E}">
        <p15:presenceInfo xmlns:p15="http://schemas.microsoft.com/office/powerpoint/2012/main" userId="S::claire.lu@LBTWIF015.onmicrosoft.com::86caf62b-4868-47d2-8bf9-21e4fd8d4aab" providerId="AD"/>
      </p:ext>
    </p:extLst>
  </p:cmAuthor>
  <p:cmAuthor id="2" name="Harvey Tseng 曾皇瑜" initials="HT曾" lastIdx="2" clrIdx="1">
    <p:extLst>
      <p:ext uri="{19B8F6BF-5375-455C-9EA6-DF929625EA0E}">
        <p15:presenceInfo xmlns:p15="http://schemas.microsoft.com/office/powerpoint/2012/main" userId="S-1-5-21-1802929290-1933951649-3061855229-37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C2E6"/>
    <a:srgbClr val="FFCCFF"/>
    <a:srgbClr val="E2F0D9"/>
    <a:srgbClr val="BDD7EE"/>
    <a:srgbClr val="E6D7F7"/>
    <a:srgbClr val="FCE4D6"/>
    <a:srgbClr val="99FFCC"/>
    <a:srgbClr val="D9D9D9"/>
    <a:srgbClr val="0000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12" autoAdjust="0"/>
    <p:restoredTop sz="93784" autoAdjust="0"/>
  </p:normalViewPr>
  <p:slideViewPr>
    <p:cSldViewPr snapToGrid="0">
      <p:cViewPr varScale="1">
        <p:scale>
          <a:sx n="154" d="100"/>
          <a:sy n="154" d="100"/>
        </p:scale>
        <p:origin x="1278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74756-6ED6-47AC-A52B-64707E905C94}" type="datetimeFigureOut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0E9F1-0C41-4AD2-823E-493C58030C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84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D0E9F1-0C41-4AD2-823E-493C58030C0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091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0E9F1-0C41-4AD2-823E-493C58030C0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879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0FED3A-5F0C-77C3-FA19-2E31CFB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9C4A54-085C-647E-2E4F-CCD7F0B1A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6BC6D-4846-FC6A-A4D3-1EEAD6A3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338C8B-80F2-7A1C-AA1D-ED668327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24348B-82F6-CEE0-E9AF-77EB41B0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61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CFFDB-776E-E991-6CAA-82DD0F2C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07" y="18255"/>
            <a:ext cx="10515600" cy="855049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4BF7A0-411F-576C-46C5-2C9098354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85523-762A-8B84-3062-CAF645A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567F8D-2E18-F176-4A7A-DD57DC9C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262C35-64B8-0AE3-1B25-84481D56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72FA54-1B24-C9E2-689C-AE2CD71B8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713AAA7-FB99-C482-300B-6C7A7B761609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995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3E691DB-2D44-4F91-61ED-5BAA0CB68EFB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42CFFDB-776E-E991-6CAA-82DD0F2C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86" y="236973"/>
            <a:ext cx="7576334" cy="772855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4BF7A0-411F-576C-46C5-2C9098354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85523-762A-8B84-3062-CAF645A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567F8D-2E18-F176-4A7A-DD57DC9C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262C35-64B8-0AE3-1B25-84481D56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72FA54-1B24-C9E2-689C-AE2CD71B8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54109-0407-C4EA-482D-4EADB130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004C48-0DBA-AF06-F1C0-501F68EA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9A9A8-0A04-3BD2-A7DC-A4424FA7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2F6771-94DB-12DA-D10B-E5933B34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0C91B6-55B3-C91A-329C-67C0D234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B0239D-6BEE-4305-5D2F-96250EE30A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9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AA7899-99FA-FDE0-9DE4-237CD969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2" y="-10274"/>
            <a:ext cx="10515600" cy="91440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FB5EE1-1444-89D8-CE6D-C7069DD1E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8173D-5515-C54B-F7BF-6BCD0A94B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5B416C-9E41-C7C3-39A2-9CD058FA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B34C6E-BCFD-82FA-C3FB-DB8B593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CE9E04-5FD8-37DC-619B-12752F1B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45DC17-B41A-FC11-EB50-A0EDD0B144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7562FF-5112-BCC5-AC53-B4ED5D027217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917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FB5EE1-1444-89D8-CE6D-C7069DD1E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8173D-5515-C54B-F7BF-6BCD0A94B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5B416C-9E41-C7C3-39A2-9CD058FA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B34C6E-BCFD-82FA-C3FB-DB8B593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CE9E04-5FD8-37DC-619B-12752F1B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45DC17-B41A-FC11-EB50-A0EDD0B144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17C9C50-8287-F6B2-93BF-6D9F0DD0A7D6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BA7F2815-30FF-A22B-1989-BB0F66113153}"/>
              </a:ext>
            </a:extLst>
          </p:cNvPr>
          <p:cNvSpPr txBox="1">
            <a:spLocks/>
          </p:cNvSpPr>
          <p:nvPr userDrawn="1"/>
        </p:nvSpPr>
        <p:spPr>
          <a:xfrm>
            <a:off x="406686" y="236973"/>
            <a:ext cx="7576334" cy="772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715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26DA0-A58C-62B7-8C2E-06493B4D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15" y="5555"/>
            <a:ext cx="10515600" cy="91440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A84BE4-0C2C-0E7C-445F-92B17C7E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D1FAE-2B27-E09C-8963-3E6EAD4F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C5EDC6-37AE-FC97-6B4E-38AB82E3B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000F9FC-25E3-96FE-C926-BA6555DE5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1C14ED-FBC2-CB1D-03AC-89F6777D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98A3C-1F1B-D581-CBB3-4BCFA92E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BFA9C7-23AF-F79C-BBD4-00BF69C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F80266D-F2BB-ABE2-0C04-795016ED9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1DA3804-FC2E-5EC5-4BCD-8B24FC91CEFC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024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48A0A07-6C3A-003B-14D2-13E1535F0D97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E26DA0-A58C-62B7-8C2E-06493B4D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8" y="286673"/>
            <a:ext cx="7910244" cy="696297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A84BE4-0C2C-0E7C-445F-92B17C7E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D1FAE-2B27-E09C-8963-3E6EAD4F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C5EDC6-37AE-FC97-6B4E-38AB82E3B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000F9FC-25E3-96FE-C926-BA6555DE5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1C14ED-FBC2-CB1D-03AC-89F6777D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98A3C-1F1B-D581-CBB3-4BCFA92E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BFA9C7-23AF-F79C-BBD4-00BF69C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F80266D-F2BB-ABE2-0C04-795016ED9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0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3F0DF-48CB-7EEE-6970-7E7AE336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27" y="0"/>
            <a:ext cx="7196191" cy="91440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A450379-D32A-3CB4-F72D-571700B0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0BE624E-8B3B-E9F4-EC80-55AF641E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2C28F9-BE20-C7A8-38C9-69748556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F7DDD6-62E4-171E-33AE-42A20B396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05A448D-F462-D7A1-F84A-AC76EFB6A6B4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160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A450379-D32A-3CB4-F72D-571700B0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0BE624E-8B3B-E9F4-EC80-55AF641E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2C28F9-BE20-C7A8-38C9-69748556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F7DDD6-62E4-171E-33AE-42A20B396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9E0BB0B-8108-4733-7EEC-2780E8175F93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A13F0DF-48CB-7EEE-6970-7E7AE336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122" y="177621"/>
            <a:ext cx="7196191" cy="914401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3763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1B21109-76B3-5E60-6700-659D7306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0C26E10-9A9A-3245-8B1F-C0288248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36BFCA-7786-FED1-6228-17C50B4A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80E088-9728-3A11-F349-EF11770A82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84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C309D-CD5F-D612-C78C-F9F710545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9E444-49EE-F9BB-3998-707114F98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9D744A-6D5B-49D3-97CC-0D3099792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BCDF37-0ED4-89C5-A761-02B5542E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63DD3C-E54F-99FD-B332-275BB9C4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AA210F-60A4-73E1-67C1-2857DFAC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65CB05-D2BE-933E-457E-84AEB37108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C65609-1E93-0AA5-B9BD-437274FC3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35A7AF-200E-4B24-D9A4-E5D0213BC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404753-46A4-88B7-2891-79EA64E1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49B8CA-A938-5D12-642B-CD9C75CC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6F57B4-C19E-7D88-9E07-DF8DF3CE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171190-16A9-976D-53C6-6D2DA33D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72526A-B6A6-EBFC-C098-CE732BCAC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2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7C97D-20F7-B6A5-68F7-F6616743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287CA0-29F1-A594-EDAD-82CEC4D79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17402-F9BA-C6ED-66E8-FFA46F24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FB1E21-9B45-5268-EB3A-135D9EB0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DF5EDB-0E7D-8C1B-E49B-B577AA76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CD1123-EFC0-D3D8-EB72-DD49875D0B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9D5D5D2-8A60-CB7E-6B22-BF1221FD5258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718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287CA0-29F1-A594-EDAD-82CEC4D79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17402-F9BA-C6ED-66E8-FFA46F24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FB1E21-9B45-5268-EB3A-135D9EB0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DF5EDB-0E7D-8C1B-E49B-B577AA76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CD1123-EFC0-D3D8-EB72-DD49875D0B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D4208AA-7466-886D-7BD6-DA86D8D6B7F2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8D7C97D-20F7-B6A5-68F7-F6616743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96" y="166205"/>
            <a:ext cx="7781816" cy="914400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7645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AA927F5-C949-0595-0D4D-7C99A7CF2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4FD6D4-B9FC-C252-149D-DC475140A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484639-AA8D-4383-8CAC-12306CD7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33E8E5-F4B3-AE5B-139D-2F962063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000240-3C85-21D9-F350-54862806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1F52DC6-722A-076E-8D78-8DA62B9AE1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00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15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57DA6-5971-F0AD-C0B9-77F9CB1D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248598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1C593D7-4C78-46CD-756A-37053025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65" y="365125"/>
            <a:ext cx="10515600" cy="907863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352EA7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A084BB8-5823-270D-AFEC-FD624BF2A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165" y="1479176"/>
            <a:ext cx="10515600" cy="4697787"/>
          </a:xfrm>
        </p:spPr>
        <p:txBody>
          <a:bodyPr/>
          <a:lstStyle>
            <a:lvl1pPr>
              <a:buClr>
                <a:srgbClr val="352EA7"/>
              </a:buClr>
              <a:defRPr/>
            </a:lvl1pPr>
            <a:lvl2pPr>
              <a:buClr>
                <a:srgbClr val="352EA7"/>
              </a:buClr>
              <a:defRPr/>
            </a:lvl2pPr>
            <a:lvl3pPr>
              <a:buClr>
                <a:srgbClr val="352EA7"/>
              </a:buClr>
              <a:defRPr/>
            </a:lvl3pPr>
            <a:lvl4pPr>
              <a:buClr>
                <a:srgbClr val="352EA7"/>
              </a:buClr>
              <a:defRPr/>
            </a:lvl4pPr>
            <a:lvl5pPr>
              <a:buClr>
                <a:srgbClr val="352EA7"/>
              </a:buCl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48AC70-7270-6F8D-2175-6D85EF998EEA}"/>
              </a:ext>
            </a:extLst>
          </p:cNvPr>
          <p:cNvSpPr txBox="1"/>
          <p:nvPr userDrawn="1"/>
        </p:nvSpPr>
        <p:spPr>
          <a:xfrm>
            <a:off x="207310" y="6620743"/>
            <a:ext cx="40699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000" dirty="0">
                <a:solidFill>
                  <a:schemeClr val="bg1"/>
                </a:solidFill>
              </a:rPr>
              <a:t>@ 2026 SYSTEX Software &amp; Service Corporation. All rights reserved.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9B531EF-C2C8-75A3-5F71-718BFAE0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6840" y="6623811"/>
            <a:ext cx="1885950" cy="246221"/>
          </a:xfrm>
          <a:prstGeom prst="rect">
            <a:avLst/>
          </a:prstGeom>
        </p:spPr>
        <p:txBody>
          <a:bodyPr/>
          <a:lstStyle>
            <a:lvl1pPr>
              <a:defRPr lang="zh-TW" altLang="en-US" sz="105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2CD22FF-6FBB-4E82-AC47-3B95BD0A4771}" type="slidenum">
              <a:rPr lang="en-US" altLang="zh-TW" smtClean="0"/>
              <a:pPr/>
              <a:t>‹#›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83355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1272FA54-1B24-C9E2-689C-AE2CD71B8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1" y="136526"/>
            <a:ext cx="1543051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713AAA7-FB99-C482-300B-6C7A7B761609}"/>
              </a:ext>
            </a:extLst>
          </p:cNvPr>
          <p:cNvSpPr/>
          <p:nvPr userDrawn="1"/>
        </p:nvSpPr>
        <p:spPr>
          <a:xfrm>
            <a:off x="165243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38403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DE1308-32FC-E991-C996-CC8C1C50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EF532F-13D1-941A-7AEA-807E0BF52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1EDE6F-1CEB-0ED7-319B-33E0B8CBA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45A72B-7C75-2AD8-0D90-EB2A0E159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D660C4-E57D-4F7D-6F57-FB85C89D2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75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FEE742-084E-623E-6D5A-C067EE98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91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EDW Oracle RAC</a:t>
            </a:r>
            <a:r>
              <a:rPr lang="zh-TW" altLang="en-US" sz="3200" b="1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升級暨一體機建置專案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D8F7B9-B8F3-4AB8-AC0F-914D1AEC9D4A}"/>
              </a:ext>
            </a:extLst>
          </p:cNvPr>
          <p:cNvSpPr/>
          <p:nvPr/>
        </p:nvSpPr>
        <p:spPr>
          <a:xfrm>
            <a:off x="931245" y="4008287"/>
            <a:ext cx="11161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2026.06.26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2DB55F-351B-4119-B9D6-5A883712AB7D}"/>
              </a:ext>
            </a:extLst>
          </p:cNvPr>
          <p:cNvSpPr/>
          <p:nvPr/>
        </p:nvSpPr>
        <p:spPr>
          <a:xfrm>
            <a:off x="10069351" y="248375"/>
            <a:ext cx="1837580" cy="30777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CONFIDENTIAL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CF8CC3-3E9C-4015-8CCA-84B6742FA29A}"/>
              </a:ext>
            </a:extLst>
          </p:cNvPr>
          <p:cNvSpPr txBox="1"/>
          <p:nvPr/>
        </p:nvSpPr>
        <p:spPr>
          <a:xfrm>
            <a:off x="873493" y="2763384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Status Report</a:t>
            </a:r>
          </a:p>
        </p:txBody>
      </p:sp>
    </p:spTree>
    <p:extLst>
      <p:ext uri="{BB962C8B-B14F-4D97-AF65-F5344CB8AC3E}">
        <p14:creationId xmlns:p14="http://schemas.microsoft.com/office/powerpoint/2010/main" val="16589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9FC5D7F-8776-46A5-8B3E-C058DC70B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431288"/>
              </p:ext>
            </p:extLst>
          </p:nvPr>
        </p:nvGraphicFramePr>
        <p:xfrm>
          <a:off x="5864283" y="933182"/>
          <a:ext cx="6110003" cy="4417329"/>
        </p:xfrm>
        <a:graphic>
          <a:graphicData uri="http://schemas.openxmlformats.org/drawingml/2006/table">
            <a:tbl>
              <a:tblPr firstRow="1" bandRow="1"/>
              <a:tblGrid>
                <a:gridCol w="6110003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11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Status Summary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4158249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11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本週已完成項目</a:t>
                      </a:r>
                      <a:endParaRPr kumimoji="1" lang="en-US" altLang="zh-TW" sz="11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交機日期確認：於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6/22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確認完成，預計</a:t>
                      </a:r>
                      <a:r>
                        <a:rPr lang="en-US" altLang="zh-TW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7/13</a:t>
                      </a:r>
                      <a:r>
                        <a:rPr lang="zh-TW" altLang="en-US" sz="11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到台灣海關。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1450" marR="0" indent="-17145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機房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Site Check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：於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6/23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IDC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機房場勘完成。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1450" marR="0" lvl="0" indent="-17145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專案啟動會議：於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6/24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Kick-off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完成。</a:t>
                      </a:r>
                      <a:endParaRPr kumimoji="1" lang="en-US" altLang="zh-TW" sz="1100" b="0" u="none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11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11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11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11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進行中項目</a:t>
                      </a:r>
                      <a:endParaRPr kumimoji="1" lang="en-US" altLang="zh-TW" sz="11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UAT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移轉到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CLN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DB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的腳本。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28600" marR="0" lvl="0" indent="-22860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外圍系統盤點討論。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28600" marR="0" lvl="0" indent="-22860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網路環境需求確認。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28600" marR="0" lvl="0" indent="-22860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1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Exadata </a:t>
                      </a:r>
                      <a:r>
                        <a:rPr lang="zh-TW" altLang="en-US" sz="11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網卡增補合約：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DB Server 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網卡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每台 *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 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共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張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進行增補採購合約，</a:t>
                      </a:r>
                      <a:r>
                        <a:rPr lang="zh-TW" altLang="en-US" sz="11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未到貨前由台灣</a:t>
                      </a:r>
                      <a:r>
                        <a:rPr lang="en-US" altLang="zh-TW" sz="11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Oracle</a:t>
                      </a:r>
                      <a:r>
                        <a:rPr lang="zh-TW" altLang="en-US" sz="11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協助支援網卡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64D421C-A5C1-45E8-AE0C-BDDF0F4C7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347862"/>
              </p:ext>
            </p:extLst>
          </p:nvPr>
        </p:nvGraphicFramePr>
        <p:xfrm>
          <a:off x="346946" y="933180"/>
          <a:ext cx="5483566" cy="1258319"/>
        </p:xfrm>
        <a:graphic>
          <a:graphicData uri="http://schemas.openxmlformats.org/drawingml/2006/table">
            <a:tbl>
              <a:tblPr firstRow="1" bandRow="1"/>
              <a:tblGrid>
                <a:gridCol w="1007223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  <a:gridCol w="1672359">
                  <a:extLst>
                    <a:ext uri="{9D8B030D-6E8A-4147-A177-3AD203B41FA5}">
                      <a16:colId xmlns:a16="http://schemas.microsoft.com/office/drawing/2014/main" val="3067411575"/>
                    </a:ext>
                  </a:extLst>
                </a:gridCol>
                <a:gridCol w="1007223">
                  <a:extLst>
                    <a:ext uri="{9D8B030D-6E8A-4147-A177-3AD203B41FA5}">
                      <a16:colId xmlns:a16="http://schemas.microsoft.com/office/drawing/2014/main" val="54969769"/>
                    </a:ext>
                  </a:extLst>
                </a:gridCol>
                <a:gridCol w="1796761">
                  <a:extLst>
                    <a:ext uri="{9D8B030D-6E8A-4147-A177-3AD203B41FA5}">
                      <a16:colId xmlns:a16="http://schemas.microsoft.com/office/drawing/2014/main" val="1748337497"/>
                    </a:ext>
                  </a:extLst>
                </a:gridCol>
              </a:tblGrid>
              <a:tr h="223610">
                <a:tc gridSpan="4"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Information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22361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Howard</a:t>
                      </a:r>
                      <a:r>
                        <a:rPr lang="zh-TW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Chang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Dept.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數據治理部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  <a:tr h="22361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Jun Chen</a:t>
                      </a:r>
                      <a:endParaRPr lang="zh-TW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Dept.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資料庫管理部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324238"/>
                  </a:ext>
                </a:extLst>
              </a:tr>
              <a:tr h="22361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Vendor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Oracle</a:t>
                      </a:r>
                      <a:r>
                        <a:rPr lang="zh-TW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MetaAge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01178"/>
                  </a:ext>
                </a:extLst>
              </a:tr>
              <a:tr h="299759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資料庫已結束產品生命週期，將使用一體機重建基礎架構並進行異機升級。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51546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CAAEE278-8AEA-4344-99C4-2BC80724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71" y="1"/>
            <a:ext cx="10515600" cy="886691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TW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EDW</a:t>
            </a:r>
            <a:r>
              <a:rPr lang="zh-TW" altLang="en-US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RAC</a:t>
            </a:r>
            <a:r>
              <a:rPr lang="zh-TW" altLang="en-US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升級暨一體機建置專案</a:t>
            </a:r>
            <a:endParaRPr lang="en-US" altLang="zh-TW" sz="2800" b="1" dirty="0">
              <a:solidFill>
                <a:srgbClr val="2C973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871CAF3-D045-400E-A346-7C5C3A7A5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44745"/>
              </p:ext>
            </p:extLst>
          </p:nvPr>
        </p:nvGraphicFramePr>
        <p:xfrm>
          <a:off x="5864281" y="4440882"/>
          <a:ext cx="6110003" cy="189968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110003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263541"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Risks and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636145">
                <a:tc>
                  <a:txBody>
                    <a:bodyPr/>
                    <a:lstStyle/>
                    <a:p>
                      <a:pPr marL="18000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3D26F13-B6FF-4C5D-AE3D-E27CA7E3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1"/>
            <a:ext cx="12192000" cy="365125"/>
          </a:xfrm>
        </p:spPr>
        <p:txBody>
          <a:bodyPr/>
          <a:lstStyle/>
          <a:p>
            <a:pPr algn="ctr" defTabSz="914377">
              <a:defRPr/>
            </a:pPr>
            <a:fld id="{FC58003F-9CEB-BD47-9564-9D5EEFE2C17F}" type="slidenum">
              <a:rPr kumimoji="1" lang="zh-TW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algn="ctr" defTabSz="914377">
                <a:defRPr/>
              </a:pPr>
              <a:t>2</a:t>
            </a:fld>
            <a:endParaRPr kumimoji="1"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5AB0D34-8716-FD1C-5421-912E14419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79464"/>
              </p:ext>
            </p:extLst>
          </p:nvPr>
        </p:nvGraphicFramePr>
        <p:xfrm>
          <a:off x="346946" y="2237987"/>
          <a:ext cx="5400000" cy="4118367"/>
        </p:xfrm>
        <a:graphic>
          <a:graphicData uri="http://schemas.openxmlformats.org/drawingml/2006/table">
            <a:tbl>
              <a:tblPr/>
              <a:tblGrid>
                <a:gridCol w="763046">
                  <a:extLst>
                    <a:ext uri="{9D8B030D-6E8A-4147-A177-3AD203B41FA5}">
                      <a16:colId xmlns:a16="http://schemas.microsoft.com/office/drawing/2014/main" val="912921440"/>
                    </a:ext>
                  </a:extLst>
                </a:gridCol>
                <a:gridCol w="2565192">
                  <a:extLst>
                    <a:ext uri="{9D8B030D-6E8A-4147-A177-3AD203B41FA5}">
                      <a16:colId xmlns:a16="http://schemas.microsoft.com/office/drawing/2014/main" val="3747933988"/>
                    </a:ext>
                  </a:extLst>
                </a:gridCol>
                <a:gridCol w="711823">
                  <a:extLst>
                    <a:ext uri="{9D8B030D-6E8A-4147-A177-3AD203B41FA5}">
                      <a16:colId xmlns:a16="http://schemas.microsoft.com/office/drawing/2014/main" val="4179209840"/>
                    </a:ext>
                  </a:extLst>
                </a:gridCol>
                <a:gridCol w="711823">
                  <a:extLst>
                    <a:ext uri="{9D8B030D-6E8A-4147-A177-3AD203B41FA5}">
                      <a16:colId xmlns:a16="http://schemas.microsoft.com/office/drawing/2014/main" val="2276310400"/>
                    </a:ext>
                  </a:extLst>
                </a:gridCol>
                <a:gridCol w="648116">
                  <a:extLst>
                    <a:ext uri="{9D8B030D-6E8A-4147-A177-3AD203B41FA5}">
                      <a16:colId xmlns:a16="http://schemas.microsoft.com/office/drawing/2014/main" val="443100098"/>
                    </a:ext>
                  </a:extLst>
                </a:gridCol>
              </a:tblGrid>
              <a:tr h="139072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Schedule</a:t>
                      </a:r>
                      <a:endParaRPr lang="zh-TW" altLang="en-US" sz="85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41917"/>
                  </a:ext>
                </a:extLst>
              </a:tr>
              <a:tr h="139072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專案階段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5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40329"/>
                  </a:ext>
                </a:extLst>
              </a:tr>
              <a:tr h="128551">
                <a:tc rowSpan="6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前置準備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合約簽署與下單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2026/5/1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2026/5/31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26064"/>
                  </a:ext>
                </a:extLst>
              </a:tr>
              <a:tr h="1285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TW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Exadata</a:t>
                      </a:r>
                      <a:r>
                        <a:rPr lang="zh-TW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交機日期確認</a:t>
                      </a:r>
                      <a:endParaRPr lang="en-US" altLang="zh-TW" sz="80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2026/6/22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2026/6/26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2604"/>
                  </a:ext>
                </a:extLst>
              </a:tr>
              <a:tr h="1285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TW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Exadata</a:t>
                      </a:r>
                      <a:r>
                        <a:rPr lang="zh-TW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網卡增補合約</a:t>
                      </a:r>
                    </a:p>
                  </a:txBody>
                  <a:tcPr marL="1454" marR="1454" marT="145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2026/6/15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2026/8/31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236888"/>
                  </a:ext>
                </a:extLst>
              </a:tr>
              <a:tr h="1285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Oracle  ACS</a:t>
                      </a:r>
                      <a:r>
                        <a:rPr lang="zh-TW" alt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人力服務之客戶訂購文件合約</a:t>
                      </a:r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(COD)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2026/6/15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6358"/>
                  </a:ext>
                </a:extLst>
              </a:tr>
              <a:tr h="1285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機房</a:t>
                      </a:r>
                      <a:r>
                        <a:rPr 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Site Check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2026/6/23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2026/6/23</a:t>
                      </a:r>
                      <a:endParaRPr lang="en-US" altLang="zh-TW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51877"/>
                  </a:ext>
                </a:extLst>
              </a:tr>
              <a:tr h="1285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專案啟動會議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2026/6/24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2026/6/24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09070"/>
                  </a:ext>
                </a:extLst>
              </a:tr>
              <a:tr h="128551">
                <a:tc rowSpan="10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1-1 [UAT] EDW(IFRS) Oracle</a:t>
                      </a:r>
                      <a:r>
                        <a:rPr lang="zh-TW" altLang="en-US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 UAT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Site Check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2026/6/15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2026/6/17</a:t>
                      </a: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03825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 UAT 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移轉到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VM(CLN)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30975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 UAT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刷機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365237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 PIC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盤點及相關異動申請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30849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 VM(CLN)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移回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的時間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7312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 VM(CLN)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移回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暫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329680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資料庫：資料同步分群相關設定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(OGG)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454" marR="1454" marT="145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960613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移轉時間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272211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移轉到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暫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362568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EDW(IFRS)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607703"/>
                  </a:ext>
                </a:extLst>
              </a:tr>
              <a:tr h="13365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1-2 [PRD] Exadata</a:t>
                      </a:r>
                      <a:r>
                        <a:rPr lang="zh-TW" altLang="en-US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效能及快照測試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硬體建置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及相關設定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464"/>
                  </a:ext>
                </a:extLst>
              </a:tr>
              <a:tr h="133653">
                <a:tc vMerge="1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endParaRPr dirty="0"/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效能測試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SPA(Top100 SQL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效能比對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260384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功能測試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ACFS、Snapshot standBy)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76063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測試報告產出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880901"/>
                  </a:ext>
                </a:extLst>
              </a:tr>
              <a:tr h="133653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1-3 [PRD] EDW(IFRS) Oracle </a:t>
                      </a:r>
                      <a:r>
                        <a:rPr lang="zh-TW" altLang="en-US" sz="9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</a:t>
                      </a:r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 PIC</a:t>
                      </a: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盤點及相關異動申請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2026/9/29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510091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資料庫建立與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GoldenGate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安裝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441950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上線準備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及對外開放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(1st Round)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2026/9/16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2026/10/8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804579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CBK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(1st Round)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2026/9/16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2026/10/8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  <a:endParaRPr kumimoji="0" lang="en-US" altLang="zh-TW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318385"/>
                  </a:ext>
                </a:extLst>
              </a:tr>
              <a:tr h="133653">
                <a:tc vMerge="1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上線準備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及對外開放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升級移轉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RunBook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最終確認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2026/10/27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2026/10/30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012461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(2st Round)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2026/11/20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431992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CBK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(2st Round)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2026/11/16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2026/11/20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629956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EDW(IFRS)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正式切換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暫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2026/11/29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2026/11/29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264595"/>
                  </a:ext>
                </a:extLst>
              </a:tr>
              <a:tr h="133653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運行監控與調校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2026/12/1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2026/12/31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To Do</a:t>
                      </a:r>
                    </a:p>
                  </a:txBody>
                  <a:tcPr marL="3931" marR="3931" marT="3931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33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77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B5C3E58-70FB-01FB-1950-9578179A4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72498"/>
              </p:ext>
            </p:extLst>
          </p:nvPr>
        </p:nvGraphicFramePr>
        <p:xfrm>
          <a:off x="526647" y="1016358"/>
          <a:ext cx="10796841" cy="5254902"/>
        </p:xfrm>
        <a:graphic>
          <a:graphicData uri="http://schemas.openxmlformats.org/drawingml/2006/table">
            <a:tbl>
              <a:tblPr/>
              <a:tblGrid>
                <a:gridCol w="699692">
                  <a:extLst>
                    <a:ext uri="{9D8B030D-6E8A-4147-A177-3AD203B41FA5}">
                      <a16:colId xmlns:a16="http://schemas.microsoft.com/office/drawing/2014/main" val="3151161629"/>
                    </a:ext>
                  </a:extLst>
                </a:gridCol>
                <a:gridCol w="2477850">
                  <a:extLst>
                    <a:ext uri="{9D8B030D-6E8A-4147-A177-3AD203B41FA5}">
                      <a16:colId xmlns:a16="http://schemas.microsoft.com/office/drawing/2014/main" val="1929895557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766263488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2824700996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val="1274910486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1871981396"/>
                    </a:ext>
                  </a:extLst>
                </a:gridCol>
                <a:gridCol w="634639">
                  <a:extLst>
                    <a:ext uri="{9D8B030D-6E8A-4147-A177-3AD203B41FA5}">
                      <a16:colId xmlns:a16="http://schemas.microsoft.com/office/drawing/2014/main" val="1735873497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558552716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518427681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527623005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97533292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0466096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605862516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64658613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48774905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973567038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92622452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888943979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140538487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723966721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4120176395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814839126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57801167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98935996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35200791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838768578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27346777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613101817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085123558"/>
                    </a:ext>
                  </a:extLst>
                </a:gridCol>
              </a:tblGrid>
              <a:tr h="11401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專案階段</a:t>
                      </a:r>
                    </a:p>
                  </a:txBody>
                  <a:tcPr marL="2471" marR="2471" marT="24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PIC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工作日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May</a:t>
                      </a:r>
                    </a:p>
                  </a:txBody>
                  <a:tcPr marL="2471" marR="2471" marT="24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June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July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August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September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8752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2471" marR="2471" marT="24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5428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前置準備</a:t>
                      </a:r>
                    </a:p>
                  </a:txBody>
                  <a:tcPr marL="2471" marR="2471" marT="24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合約簽署與下單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2026/5/1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2026/5/31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Done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4391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OEDA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(DB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相關資訊收集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29</a:t>
                      </a:r>
                    </a:p>
                  </a:txBody>
                  <a:tcPr marL="2471" marR="2471" marT="247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2026/6/1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In Progress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733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網卡增補合約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2026/6/15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In Progress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5500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Oracle  ACS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人力服務之客戶訂購文件合約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(COD)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477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機房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Site Check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5580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專案啟動會議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596147"/>
                  </a:ext>
                </a:extLst>
              </a:tr>
              <a:tr h="0">
                <a:tc rowSpan="34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1-1 [UAT] EDW(IFRS) Oracle</a:t>
                      </a:r>
                      <a:r>
                        <a:rPr lang="zh-TW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</a:t>
                      </a:r>
                    </a:p>
                  </a:txBody>
                  <a:tcPr marL="2471" marR="2471" marT="24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環境升級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27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ODA UAT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Site Check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3989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ODA UAT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刷機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RunBook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2026/6/18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2026/6/26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0531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ELN UAT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移轉到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VM(CLN)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2026/7/6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2026/7/6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311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ODA UAT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刷機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201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Imperva、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防毒與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NBU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等版本相容性確認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7276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重建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EMCC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及加入相關監控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0636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 PIC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盤點及相關異動申請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282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外圍應用系統盤點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9216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完成防火牆申請異動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EDW/IFRS、ELN、BKS)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1378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連線申請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EDW/IFRS、ELN、BKS)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346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完成資料表盤點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48839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測試計劃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EDW/IFRS、ELN、BKS)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2026/7/13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2383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 UAT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驗證與升級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2964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確認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 VM(CLN)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移回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的時間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8522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連線異動申請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9909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ELN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完成移轉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 Book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228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ELN VM(CLN)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移回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15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2026/8/31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0058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資料庫：資料同步分群相關設定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(OGG)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7283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與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確認按照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屬性進行資料同步分群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(OGG)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41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完成資料同步分群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OGG)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8767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資料庫新增與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安裝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7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3817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資料庫升級資料面檢查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3352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CBK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190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CBK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資料同步資料面檢查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2026/7/27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124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資料庫：移轉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0036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確認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移轉時間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852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連線異動申請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7905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升級移轉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RunBook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產出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2026/8/10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2026/8/14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0656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移轉到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2026/8/17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5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6160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EDW(IFRS)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資料庫：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2026/8/18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708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UAT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升級移轉過程檢討與經驗整理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2026/9/9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2026/9/11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2471" marR="2471" marT="24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2471" marR="2471" marT="247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910238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FF75730-EA36-4A05-E0D9-59EDFFFEB56D}"/>
              </a:ext>
            </a:extLst>
          </p:cNvPr>
          <p:cNvCxnSpPr>
            <a:cxnSpLocks/>
          </p:cNvCxnSpPr>
          <p:nvPr/>
        </p:nvCxnSpPr>
        <p:spPr>
          <a:xfrm>
            <a:off x="8305569" y="1285773"/>
            <a:ext cx="0" cy="49854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1">
            <a:extLst>
              <a:ext uri="{FF2B5EF4-FFF2-40B4-BE49-F238E27FC236}">
                <a16:creationId xmlns:a16="http://schemas.microsoft.com/office/drawing/2014/main" id="{91883916-0EA0-B8CB-F9C5-5D593335A245}"/>
              </a:ext>
            </a:extLst>
          </p:cNvPr>
          <p:cNvSpPr txBox="1">
            <a:spLocks/>
          </p:cNvSpPr>
          <p:nvPr/>
        </p:nvSpPr>
        <p:spPr>
          <a:xfrm>
            <a:off x="0" y="6356351"/>
            <a:ext cx="121920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fld id="{FC58003F-9CEB-BD47-9564-9D5EEFE2C17F}" type="slidenum">
              <a:rPr kumimoji="1" lang="zh-TW" alt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algn="ctr" defTabSz="914377">
                <a:defRPr/>
              </a:pPr>
              <a:t>3</a:t>
            </a:fld>
            <a:endParaRPr kumimoji="1" lang="zh-TW" alt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A828D58-7586-EC7B-9E5E-505FAA6CC62D}"/>
              </a:ext>
            </a:extLst>
          </p:cNvPr>
          <p:cNvSpPr txBox="1">
            <a:spLocks/>
          </p:cNvSpPr>
          <p:nvPr/>
        </p:nvSpPr>
        <p:spPr>
          <a:xfrm>
            <a:off x="428271" y="1"/>
            <a:ext cx="10515600" cy="8866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專案時程 </a:t>
            </a:r>
            <a:r>
              <a:rPr lang="en-US" altLang="zh-TW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  <a:endParaRPr lang="en-US" altLang="zh-TW" sz="2800" b="1" dirty="0">
              <a:solidFill>
                <a:srgbClr val="2C973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51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E67C420-128D-44A0-C0BC-3FF6C3DFD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089676"/>
              </p:ext>
            </p:extLst>
          </p:nvPr>
        </p:nvGraphicFramePr>
        <p:xfrm>
          <a:off x="526647" y="825414"/>
          <a:ext cx="10926453" cy="5932572"/>
        </p:xfrm>
        <a:graphic>
          <a:graphicData uri="http://schemas.openxmlformats.org/drawingml/2006/table">
            <a:tbl>
              <a:tblPr/>
              <a:tblGrid>
                <a:gridCol w="857193">
                  <a:extLst>
                    <a:ext uri="{9D8B030D-6E8A-4147-A177-3AD203B41FA5}">
                      <a16:colId xmlns:a16="http://schemas.microsoft.com/office/drawing/2014/main" val="4003257465"/>
                    </a:ext>
                  </a:extLst>
                </a:gridCol>
                <a:gridCol w="1958095">
                  <a:extLst>
                    <a:ext uri="{9D8B030D-6E8A-4147-A177-3AD203B41FA5}">
                      <a16:colId xmlns:a16="http://schemas.microsoft.com/office/drawing/2014/main" val="1378066848"/>
                    </a:ext>
                  </a:extLst>
                </a:gridCol>
                <a:gridCol w="495827">
                  <a:extLst>
                    <a:ext uri="{9D8B030D-6E8A-4147-A177-3AD203B41FA5}">
                      <a16:colId xmlns:a16="http://schemas.microsoft.com/office/drawing/2014/main" val="3298154611"/>
                    </a:ext>
                  </a:extLst>
                </a:gridCol>
                <a:gridCol w="495827">
                  <a:extLst>
                    <a:ext uri="{9D8B030D-6E8A-4147-A177-3AD203B41FA5}">
                      <a16:colId xmlns:a16="http://schemas.microsoft.com/office/drawing/2014/main" val="2128696747"/>
                    </a:ext>
                  </a:extLst>
                </a:gridCol>
                <a:gridCol w="647096">
                  <a:extLst>
                    <a:ext uri="{9D8B030D-6E8A-4147-A177-3AD203B41FA5}">
                      <a16:colId xmlns:a16="http://schemas.microsoft.com/office/drawing/2014/main" val="3656963903"/>
                    </a:ext>
                  </a:extLst>
                </a:gridCol>
                <a:gridCol w="722730">
                  <a:extLst>
                    <a:ext uri="{9D8B030D-6E8A-4147-A177-3AD203B41FA5}">
                      <a16:colId xmlns:a16="http://schemas.microsoft.com/office/drawing/2014/main" val="2846902835"/>
                    </a:ext>
                  </a:extLst>
                </a:gridCol>
                <a:gridCol w="588269">
                  <a:extLst>
                    <a:ext uri="{9D8B030D-6E8A-4147-A177-3AD203B41FA5}">
                      <a16:colId xmlns:a16="http://schemas.microsoft.com/office/drawing/2014/main" val="3110655140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841432467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2029192596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216548888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832249857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4121578726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482492831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437120024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243400373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218274075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2643883627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1463706822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4256849638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1939665468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2109492200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924912945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1985678216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67345046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2294707549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86138880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960710981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351137171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4026275671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125403515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810479177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2399793567"/>
                    </a:ext>
                  </a:extLst>
                </a:gridCol>
                <a:gridCol w="198516">
                  <a:extLst>
                    <a:ext uri="{9D8B030D-6E8A-4147-A177-3AD203B41FA5}">
                      <a16:colId xmlns:a16="http://schemas.microsoft.com/office/drawing/2014/main" val="362284948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專案階段</a:t>
                      </a:r>
                    </a:p>
                  </a:txBody>
                  <a:tcPr marL="1314" marR="1314" marT="1314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PIC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工作日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July</a:t>
                      </a:r>
                    </a:p>
                  </a:txBody>
                  <a:tcPr marL="1314" marR="1314" marT="1314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August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September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October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November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December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7071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1314" marR="1314" marT="131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769736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1-2 [PRD] Exadata</a:t>
                      </a:r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效能及快照測試</a:t>
                      </a:r>
                    </a:p>
                  </a:txBody>
                  <a:tcPr marL="1314" marR="1314" marT="1314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硬體建置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2026/8/4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7447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Exadata 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運送到位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1839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Exadata 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定位與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cooling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2026/7/17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6078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Exadata 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安裝建置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2026/7/20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2026/7/27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807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Exadata 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高可用性驗證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2026/7/28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2026/7/28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3835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安裝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Imperva、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防毒與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NBU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2026/8/4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9455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效能測試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SPA(Top100 SQL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效能比對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2026/7/29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2026/8/4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1063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功能測試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ACFS、Snapshot standBy)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2026/8/5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559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POC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測試報告產出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2026/8/5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34073"/>
                  </a:ext>
                </a:extLst>
              </a:tr>
              <a:tr h="0">
                <a:tc rowSpan="27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1-3 [PRD] EDW(IFRS) Oracle </a:t>
                      </a:r>
                      <a:r>
                        <a:rPr lang="zh-TW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</a:t>
                      </a:r>
                    </a:p>
                  </a:txBody>
                  <a:tcPr marL="1314" marR="1314" marT="1314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盤點及相關異動申請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IT/Biz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4433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外圍應用系統盤點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IT/Biz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1685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完成防火牆申請異動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EDW/IFRS、ELN、BKS)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9241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連線申請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EDW/IFRS、ELN、BKS)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2880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完成資料表盤點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1960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測試計劃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EDW/IFRS、ELN、BKS)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4925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資料庫正式環境演練移轉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IT/Biz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1795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Exadata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資料庫建立與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GoldenGate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安裝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2833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2488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資料庫升級資料面檢查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410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CBK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3528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CBK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資料同步資料面檢查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2026/9/16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2026/10/8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754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系統效能調校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2026/10/12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2026/10/14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2258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確認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移轉時間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3904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連線異動申請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2427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Exadata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加入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EMCC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監控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862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資料庫日常監控機制設定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8422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資料庫備份機制設定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2923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升級移轉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RunBook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最終確認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IT/Biz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2026/10/27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2026/10/30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650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資料庫正式環境演練移轉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IT/Biz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416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清空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演練資料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5671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資料庫升級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2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CBK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資料同步作業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2026/11/16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4834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上線前最終確認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IT/Biz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2026/11/23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2026/11/27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190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EDW(IFRS)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正式切換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2026/11/29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59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清理移轉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OGG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2026/11/30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0084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運行監控與調校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IT PM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2026/12/1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2026/12/31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To Do</a:t>
                      </a:r>
                    </a:p>
                  </a:txBody>
                  <a:tcPr marL="1314" marR="1314" marT="13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　</a:t>
                      </a:r>
                    </a:p>
                  </a:txBody>
                  <a:tcPr marL="1314" marR="1314" marT="131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72634"/>
                  </a:ext>
                </a:extLst>
              </a:tr>
            </a:tbl>
          </a:graphicData>
        </a:graphic>
      </p:graphicFrame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9DE060F4-119F-42D6-CD21-20192E5CDA54}"/>
              </a:ext>
            </a:extLst>
          </p:cNvPr>
          <p:cNvSpPr txBox="1">
            <a:spLocks/>
          </p:cNvSpPr>
          <p:nvPr/>
        </p:nvSpPr>
        <p:spPr>
          <a:xfrm>
            <a:off x="0" y="6356351"/>
            <a:ext cx="121920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fld id="{FC58003F-9CEB-BD47-9564-9D5EEFE2C17F}" type="slidenum">
              <a:rPr kumimoji="1" lang="zh-TW" alt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algn="ctr" defTabSz="914377">
                <a:defRPr/>
              </a:pPr>
              <a:t>4</a:t>
            </a:fld>
            <a:endParaRPr kumimoji="1" lang="zh-TW" alt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2696933E-1A9D-BB13-699B-2ADE781AB7EE}"/>
              </a:ext>
            </a:extLst>
          </p:cNvPr>
          <p:cNvSpPr txBox="1">
            <a:spLocks/>
          </p:cNvSpPr>
          <p:nvPr/>
        </p:nvSpPr>
        <p:spPr>
          <a:xfrm>
            <a:off x="428271" y="1"/>
            <a:ext cx="10515600" cy="8866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專案時程 </a:t>
            </a:r>
            <a:r>
              <a:rPr lang="en-US" altLang="zh-TW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Phase1</a:t>
            </a:r>
          </a:p>
        </p:txBody>
      </p:sp>
    </p:spTree>
    <p:extLst>
      <p:ext uri="{BB962C8B-B14F-4D97-AF65-F5344CB8AC3E}">
        <p14:creationId xmlns:p14="http://schemas.microsoft.com/office/powerpoint/2010/main" val="90357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F577-F987-C655-C7F5-102FCA7D6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8BCC64D-CAD6-4351-A1EA-184B1E256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275345"/>
              </p:ext>
            </p:extLst>
          </p:nvPr>
        </p:nvGraphicFramePr>
        <p:xfrm>
          <a:off x="526647" y="1056326"/>
          <a:ext cx="10637966" cy="5335489"/>
        </p:xfrm>
        <a:graphic>
          <a:graphicData uri="http://schemas.openxmlformats.org/drawingml/2006/table">
            <a:tbl>
              <a:tblPr/>
              <a:tblGrid>
                <a:gridCol w="863550">
                  <a:extLst>
                    <a:ext uri="{9D8B030D-6E8A-4147-A177-3AD203B41FA5}">
                      <a16:colId xmlns:a16="http://schemas.microsoft.com/office/drawing/2014/main" val="3699479372"/>
                    </a:ext>
                  </a:extLst>
                </a:gridCol>
                <a:gridCol w="2222962">
                  <a:extLst>
                    <a:ext uri="{9D8B030D-6E8A-4147-A177-3AD203B41FA5}">
                      <a16:colId xmlns:a16="http://schemas.microsoft.com/office/drawing/2014/main" val="3310887633"/>
                    </a:ext>
                  </a:extLst>
                </a:gridCol>
                <a:gridCol w="636377">
                  <a:extLst>
                    <a:ext uri="{9D8B030D-6E8A-4147-A177-3AD203B41FA5}">
                      <a16:colId xmlns:a16="http://schemas.microsoft.com/office/drawing/2014/main" val="517471221"/>
                    </a:ext>
                  </a:extLst>
                </a:gridCol>
                <a:gridCol w="462027">
                  <a:extLst>
                    <a:ext uri="{9D8B030D-6E8A-4147-A177-3AD203B41FA5}">
                      <a16:colId xmlns:a16="http://schemas.microsoft.com/office/drawing/2014/main" val="1290197833"/>
                    </a:ext>
                  </a:extLst>
                </a:gridCol>
                <a:gridCol w="793292">
                  <a:extLst>
                    <a:ext uri="{9D8B030D-6E8A-4147-A177-3AD203B41FA5}">
                      <a16:colId xmlns:a16="http://schemas.microsoft.com/office/drawing/2014/main" val="3869928390"/>
                    </a:ext>
                  </a:extLst>
                </a:gridCol>
                <a:gridCol w="767140">
                  <a:extLst>
                    <a:ext uri="{9D8B030D-6E8A-4147-A177-3AD203B41FA5}">
                      <a16:colId xmlns:a16="http://schemas.microsoft.com/office/drawing/2014/main" val="3289151531"/>
                    </a:ext>
                  </a:extLst>
                </a:gridCol>
                <a:gridCol w="568193">
                  <a:extLst>
                    <a:ext uri="{9D8B030D-6E8A-4147-A177-3AD203B41FA5}">
                      <a16:colId xmlns:a16="http://schemas.microsoft.com/office/drawing/2014/main" val="3729977749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59212964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280689527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1515866916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239314541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1704310087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558099795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431776783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048020524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1328991326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41090077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096989612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983241454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818938038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51857971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779400288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4147388653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894633500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035626543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3035285700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2606500753"/>
                    </a:ext>
                  </a:extLst>
                </a:gridCol>
                <a:gridCol w="205925">
                  <a:extLst>
                    <a:ext uri="{9D8B030D-6E8A-4147-A177-3AD203B41FA5}">
                      <a16:colId xmlns:a16="http://schemas.microsoft.com/office/drawing/2014/main" val="522616318"/>
                    </a:ext>
                  </a:extLst>
                </a:gridCol>
              </a:tblGrid>
              <a:tr h="1530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專案階段</a:t>
                      </a:r>
                    </a:p>
                  </a:txBody>
                  <a:tcPr marL="983" marR="983" marT="983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PIC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工作日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January</a:t>
                      </a:r>
                    </a:p>
                  </a:txBody>
                  <a:tcPr marL="983" marR="983" marT="983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February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March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April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May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203502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86788"/>
                  </a:ext>
                </a:extLst>
              </a:tr>
              <a:tr h="227418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sv-S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2-1 [PRD] ELN Migration 到Exadata</a:t>
                      </a:r>
                    </a:p>
                  </a:txBody>
                  <a:tcPr marL="983" marR="983" marT="983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資料庫移轉演練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 Round)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2027/2/26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927148"/>
                  </a:ext>
                </a:extLst>
              </a:tr>
              <a:tr h="22741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Infra/IT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外圍應用系統盤點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260144"/>
                  </a:ext>
                </a:extLst>
              </a:tr>
              <a:tr h="19330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完成防火牆申請異動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416759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IT PIC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連線申請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48834"/>
                  </a:ext>
                </a:extLst>
              </a:tr>
              <a:tr h="2099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透過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DataGuard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建立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Standby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並切換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datapatch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03343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Standby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切換成獨立角色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513170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1st round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驗證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2027/2/15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2027/2/26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13516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驗證後之系統效能調校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2027/1/27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2027/2/3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275311"/>
                  </a:ext>
                </a:extLst>
              </a:tr>
              <a:tr h="22741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移轉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RunBook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最終確認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2027/2/24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2027/2/26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`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51817"/>
                  </a:ext>
                </a:extLst>
              </a:tr>
              <a:tr h="22741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資料庫正式環境移轉至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677657"/>
                  </a:ext>
                </a:extLst>
              </a:tr>
              <a:tr h="22741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上線前最終確認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IT/Biz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622145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清空演練環境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716974"/>
                  </a:ext>
                </a:extLst>
              </a:tr>
              <a:tr h="2099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透過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DataGuard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建立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Standby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017703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資料庫備份機制設定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156323"/>
                  </a:ext>
                </a:extLst>
              </a:tr>
              <a:tr h="2099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ELN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資料庫日常監控機制設定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53469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系統切換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232978"/>
                  </a:ext>
                </a:extLst>
              </a:tr>
              <a:tr h="140052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2-2 [DR] ODA</a:t>
                      </a:r>
                      <a:r>
                        <a:rPr lang="zh-TW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移機及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EDW(IFRS)DR</a:t>
                      </a:r>
                      <a:r>
                        <a:rPr lang="zh-TW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建置</a:t>
                      </a:r>
                    </a:p>
                  </a:txBody>
                  <a:tcPr marL="983" marR="983" marT="983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ODA</a:t>
                      </a:r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設備搬遷升級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2027/3/30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214909"/>
                  </a:ext>
                </a:extLst>
              </a:tr>
              <a:tr h="2099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龍潭機房環境與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、防火牆網路資訊準備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2027/1/15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552684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ODA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設備搬遷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2027/3/17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15838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ODA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設備檢測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2027/3/18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2027/3/19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99131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Oracle ODA X8-HA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安裝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2027/3/22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2027/3/26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12878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ODA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加入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EMCC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監控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2027/3/30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553482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資料庫備援建置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397068"/>
                  </a:ext>
                </a:extLst>
              </a:tr>
              <a:tr h="19330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資料庫備援設定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2027/3/29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431070"/>
                  </a:ext>
                </a:extLst>
              </a:tr>
              <a:tr h="2099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EDW/IFRS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資料庫備援加入 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EMCC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監控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93051"/>
                  </a:ext>
                </a:extLst>
              </a:tr>
              <a:tr h="19330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交付與驗收</a:t>
                      </a:r>
                    </a:p>
                  </a:txBody>
                  <a:tcPr marL="983" marR="983" marT="983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Oracle Data Guard 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教育訓練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2027/4/14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2027/4/16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120294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專案文件製作與交付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2027/4/19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2027/4/30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793923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專案初驗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2027/5/3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2027/5/7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52117"/>
                  </a:ext>
                </a:extLst>
              </a:tr>
              <a:tr h="1400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專案複驗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2027/5/10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2027/5/14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983" marR="983" marT="9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983" marR="983" marT="98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538226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51BAC2-C986-C7AA-3A9C-A87714B23C5D}"/>
              </a:ext>
            </a:extLst>
          </p:cNvPr>
          <p:cNvSpPr txBox="1">
            <a:spLocks/>
          </p:cNvSpPr>
          <p:nvPr/>
        </p:nvSpPr>
        <p:spPr>
          <a:xfrm>
            <a:off x="0" y="6356351"/>
            <a:ext cx="121920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fld id="{FC58003F-9CEB-BD47-9564-9D5EEFE2C17F}" type="slidenum">
              <a:rPr kumimoji="1" lang="zh-TW" alt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algn="ctr" defTabSz="914377">
                <a:defRPr/>
              </a:pPr>
              <a:t>5</a:t>
            </a:fld>
            <a:endParaRPr kumimoji="1" lang="zh-TW" alt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F189ADBB-CB92-09A2-6CCB-01E5EAE834FE}"/>
              </a:ext>
            </a:extLst>
          </p:cNvPr>
          <p:cNvSpPr txBox="1">
            <a:spLocks/>
          </p:cNvSpPr>
          <p:nvPr/>
        </p:nvSpPr>
        <p:spPr>
          <a:xfrm>
            <a:off x="428271" y="1"/>
            <a:ext cx="10515600" cy="8866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專案時程 </a:t>
            </a:r>
            <a:r>
              <a:rPr lang="en-US" altLang="zh-TW" sz="32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Phase2</a:t>
            </a:r>
          </a:p>
        </p:txBody>
      </p:sp>
    </p:spTree>
    <p:extLst>
      <p:ext uri="{BB962C8B-B14F-4D97-AF65-F5344CB8AC3E}">
        <p14:creationId xmlns:p14="http://schemas.microsoft.com/office/powerpoint/2010/main" val="29036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30C355A8-9A3C-4456-BCC0-1C7A71BE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Thank you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26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47343</TotalTime>
  <Words>4784</Words>
  <Application>Microsoft Office PowerPoint</Application>
  <PresentationFormat>寬螢幕</PresentationFormat>
  <Paragraphs>3282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Microsoft JhengHei UI</vt:lpstr>
      <vt:lpstr>微軟正黑體</vt:lpstr>
      <vt:lpstr>Arial</vt:lpstr>
      <vt:lpstr>Calibri</vt:lpstr>
      <vt:lpstr>Calibri Light</vt:lpstr>
      <vt:lpstr>Office 佈景主題</vt:lpstr>
      <vt:lpstr>EDW Oracle RAC升級暨一體機建置專案</vt:lpstr>
      <vt:lpstr>EDW Oracle RAC升級暨一體機建置專案</vt:lpstr>
      <vt:lpstr>PowerPoint 簡報</vt:lpstr>
      <vt:lpstr>PowerPoint 簡報</vt:lpstr>
      <vt:lpstr>PowerPoint 簡報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亭宇 陸</dc:creator>
  <cp:lastModifiedBy>Jun Chen 陳峻祥</cp:lastModifiedBy>
  <cp:revision>1498</cp:revision>
  <dcterms:created xsi:type="dcterms:W3CDTF">2024-07-04T06:52:48Z</dcterms:created>
  <dcterms:modified xsi:type="dcterms:W3CDTF">2026-06-29T02:05:48Z</dcterms:modified>
</cp:coreProperties>
</file>